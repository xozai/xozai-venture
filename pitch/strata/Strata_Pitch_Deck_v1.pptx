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2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1737360"/>
            <a:ext cx="1463040" cy="44450"/>
          </a:xfrm>
          <a:prstGeom prst="rect">
            <a:avLst/>
          </a:prstGeom>
          <a:solidFill>
            <a:srgbClr val="1F7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22960" y="1883664"/>
            <a:ext cx="1005840" cy="44450"/>
          </a:xfrm>
          <a:prstGeom prst="rect">
            <a:avLst/>
          </a:prstGeom>
          <a:solidFill>
            <a:srgbClr val="1F7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2029968"/>
            <a:ext cx="640080" cy="44450"/>
          </a:xfrm>
          <a:prstGeom prst="rect">
            <a:avLst/>
          </a:prstGeom>
          <a:solidFill>
            <a:srgbClr val="1F7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487168"/>
            <a:ext cx="10058400" cy="1097280"/>
          </a:xfrm>
          <a:prstGeom prst="rect">
            <a:avLst/>
          </a:prstGeom>
          <a:noFill/>
        </p:spPr>
        <p:txBody>
          <a:bodyPr wrap="square" lIns="0" rIns="0" tIns="0" bIns="0">
            <a:spAutoFit/>
          </a:bodyPr>
          <a:lstStyle/>
          <a:p>
            <a:pPr algn="l">
              <a:lnSpc>
                <a:spcPct val="100000"/>
              </a:lnSpc>
              <a:spcBef>
                <a:spcPts val="0"/>
              </a:spcBef>
              <a:spcAft>
                <a:spcPts val="0"/>
              </a:spcAft>
            </a:pPr>
            <a:r>
              <a:rPr sz="5000" b="1" i="0">
                <a:solidFill>
                  <a:srgbClr val="FFFFFF"/>
                </a:solidFill>
                <a:latin typeface="Helvetica Neue"/>
              </a:rPr>
              <a:t>Strata Civic Solutions</a:t>
            </a:r>
          </a:p>
        </p:txBody>
      </p:sp>
      <p:sp>
        <p:nvSpPr>
          <p:cNvPr id="7" name="TextBox 6"/>
          <p:cNvSpPr txBox="1"/>
          <p:nvPr/>
        </p:nvSpPr>
        <p:spPr>
          <a:xfrm>
            <a:off x="822960" y="3429000"/>
            <a:ext cx="9144000" cy="640080"/>
          </a:xfrm>
          <a:prstGeom prst="rect">
            <a:avLst/>
          </a:prstGeom>
          <a:noFill/>
        </p:spPr>
        <p:txBody>
          <a:bodyPr wrap="square" lIns="0" rIns="0" tIns="0" bIns="0">
            <a:spAutoFit/>
          </a:bodyPr>
          <a:lstStyle/>
          <a:p>
            <a:pPr algn="l">
              <a:spcBef>
                <a:spcPts val="0"/>
              </a:spcBef>
              <a:spcAft>
                <a:spcPts val="0"/>
              </a:spcAft>
            </a:pPr>
            <a:r>
              <a:rPr sz="2500" b="0" i="0">
                <a:solidFill>
                  <a:srgbClr val="1F7A6C"/>
                </a:solidFill>
                <a:latin typeface="Helvetica Neue"/>
              </a:rPr>
              <a:t>Know the record before you vote.</a:t>
            </a:r>
          </a:p>
        </p:txBody>
      </p:sp>
      <p:sp>
        <p:nvSpPr>
          <p:cNvPr id="8" name="TextBox 7"/>
          <p:cNvSpPr txBox="1"/>
          <p:nvPr/>
        </p:nvSpPr>
        <p:spPr>
          <a:xfrm>
            <a:off x="822960" y="4224528"/>
            <a:ext cx="8778240" cy="914400"/>
          </a:xfrm>
          <a:prstGeom prst="rect">
            <a:avLst/>
          </a:prstGeom>
          <a:noFill/>
        </p:spPr>
        <p:txBody>
          <a:bodyPr wrap="square" lIns="0" rIns="0" tIns="0" bIns="0">
            <a:spAutoFit/>
          </a:bodyPr>
          <a:lstStyle/>
          <a:p>
            <a:pPr algn="l">
              <a:lnSpc>
                <a:spcPct val="140000"/>
              </a:lnSpc>
              <a:spcBef>
                <a:spcPts val="0"/>
              </a:spcBef>
              <a:spcAft>
                <a:spcPts val="0"/>
              </a:spcAft>
            </a:pPr>
            <a:r>
              <a:rPr sz="1450" b="0" i="0">
                <a:solidFill>
                  <a:srgbClr val="B6C1C8"/>
                </a:solidFill>
                <a:latin typeface="Helvetica Neue"/>
              </a:rPr>
              <a:t>Municipal decision intelligence: plain-language answers over a city's own published record — budgets, ordinances, minutes, contracts — cited to the page.</a:t>
            </a:r>
          </a:p>
        </p:txBody>
      </p:sp>
      <p:sp>
        <p:nvSpPr>
          <p:cNvPr id="9" name="TextBox 8"/>
          <p:cNvSpPr txBox="1"/>
          <p:nvPr/>
        </p:nvSpPr>
        <p:spPr>
          <a:xfrm>
            <a:off x="822960" y="5989320"/>
            <a:ext cx="10058400" cy="548640"/>
          </a:xfrm>
          <a:prstGeom prst="rect">
            <a:avLst/>
          </a:prstGeom>
          <a:noFill/>
        </p:spPr>
        <p:txBody>
          <a:bodyPr wrap="square" lIns="0" rIns="0" tIns="0" bIns="0">
            <a:spAutoFit/>
          </a:bodyPr>
          <a:lstStyle/>
          <a:p>
            <a:pPr algn="l">
              <a:spcBef>
                <a:spcPts val="0"/>
              </a:spcBef>
              <a:spcAft>
                <a:spcPts val="0"/>
              </a:spcAft>
            </a:pPr>
            <a:r>
              <a:rPr sz="1100" b="0" i="0">
                <a:solidFill>
                  <a:srgbClr val="6B7786"/>
                </a:solidFill>
                <a:latin typeface="Helvetica Neue"/>
              </a:rPr>
              <a:t>Delaware Public Benefit Corporation, foreign-qualified in Texas  ·  San Antonio, TX  ·  1 September 2026</a:t>
            </a:r>
          </a:p>
          <a:p>
            <a:pPr>
              <a:spcBef>
                <a:spcPts val="600"/>
              </a:spcBef>
              <a:spcAft>
                <a:spcPts val="0"/>
              </a:spcAft>
            </a:pPr>
            <a:r>
              <a:rPr sz="1000" b="0" i="0">
                <a:solidFill>
                  <a:srgbClr val="B3382E"/>
                </a:solidFill>
                <a:latin typeface="Menlo"/>
              </a:rPr>
              <a:t>Draft for joseleos — three slides carry unresolved placeholders. Do not present externally as-is.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10545775" cy="274320"/>
          </a:xfrm>
          <a:prstGeom prst="rect">
            <a:avLst/>
          </a:prstGeom>
          <a:noFill/>
        </p:spPr>
        <p:txBody>
          <a:bodyPr wrap="square" lIns="0" rIns="0" tIns="0" bIns="0">
            <a:spAutoFit/>
          </a:bodyPr>
          <a:lstStyle/>
          <a:p>
            <a:pPr algn="l">
              <a:spcBef>
                <a:spcPts val="0"/>
              </a:spcBef>
              <a:spcAft>
                <a:spcPts val="0"/>
              </a:spcAft>
            </a:pPr>
            <a:r>
              <a:rPr sz="1050" b="1" i="0">
                <a:solidFill>
                  <a:srgbClr val="1F7A6C"/>
                </a:solidFill>
                <a:latin typeface="Helvetica Neue"/>
              </a:rPr>
              <a:t>THE PROBLEM</a:t>
            </a:r>
          </a:p>
        </p:txBody>
      </p:sp>
      <p:sp>
        <p:nvSpPr>
          <p:cNvPr id="4" name="TextBox 3"/>
          <p:cNvSpPr txBox="1"/>
          <p:nvPr/>
        </p:nvSpPr>
        <p:spPr>
          <a:xfrm>
            <a:off x="822960" y="914400"/>
            <a:ext cx="10545775" cy="475488"/>
          </a:xfrm>
          <a:prstGeom prst="rect">
            <a:avLst/>
          </a:prstGeom>
          <a:noFill/>
        </p:spPr>
        <p:txBody>
          <a:bodyPr wrap="square" lIns="0" rIns="0" tIns="0" bIns="0">
            <a:spAutoFit/>
          </a:bodyPr>
          <a:lstStyle/>
          <a:p>
            <a:pPr algn="l">
              <a:lnSpc>
                <a:spcPct val="106000"/>
              </a:lnSpc>
              <a:spcBef>
                <a:spcPts val="0"/>
              </a:spcBef>
              <a:spcAft>
                <a:spcPts val="0"/>
              </a:spcAft>
            </a:pPr>
            <a:r>
              <a:rPr sz="3000" b="1" i="0">
                <a:solidFill>
                  <a:srgbClr val="16202E"/>
                </a:solidFill>
                <a:latin typeface="Helvetica Neue"/>
              </a:rPr>
              <a:t>The packet is 300 pages. The vote is Tuesday.</a:t>
            </a:r>
          </a:p>
        </p:txBody>
      </p:sp>
      <p:sp>
        <p:nvSpPr>
          <p:cNvPr id="5" name="TextBox 4"/>
          <p:cNvSpPr txBox="1"/>
          <p:nvPr/>
        </p:nvSpPr>
        <p:spPr>
          <a:xfrm>
            <a:off x="822960" y="1481328"/>
            <a:ext cx="9509760" cy="548640"/>
          </a:xfrm>
          <a:prstGeom prst="rect">
            <a:avLst/>
          </a:prstGeom>
          <a:noFill/>
        </p:spPr>
        <p:txBody>
          <a:bodyPr wrap="square" lIns="0" rIns="0" tIns="0" bIns="0">
            <a:spAutoFit/>
          </a:bodyPr>
          <a:lstStyle/>
          <a:p>
            <a:pPr algn="l">
              <a:lnSpc>
                <a:spcPct val="132000"/>
              </a:lnSpc>
              <a:spcBef>
                <a:spcPts val="0"/>
              </a:spcBef>
              <a:spcAft>
                <a:spcPts val="0"/>
              </a:spcAft>
            </a:pPr>
            <a:r>
              <a:rPr sz="1450" b="0" i="0">
                <a:solidFill>
                  <a:srgbClr val="414D5C"/>
                </a:solidFill>
                <a:latin typeface="Helvetica Neue"/>
              </a:rPr>
              <a:t>A council member in a Texas city of 10,000–50,000 is a part-time official with a separate full-time job and no staff of their own.</a:t>
            </a:r>
          </a:p>
        </p:txBody>
      </p:sp>
      <p:sp>
        <p:nvSpPr>
          <p:cNvPr id="6" name="Rectangle 5"/>
          <p:cNvSpPr/>
          <p:nvPr/>
        </p:nvSpPr>
        <p:spPr>
          <a:xfrm>
            <a:off x="822960" y="2148840"/>
            <a:ext cx="10545775" cy="12700"/>
          </a:xfrm>
          <a:prstGeom prst="rect">
            <a:avLst/>
          </a:prstGeom>
          <a:solidFill>
            <a:srgbClr val="D7D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2532888"/>
            <a:ext cx="3291840" cy="2286000"/>
          </a:xfrm>
          <a:prstGeom prst="rect">
            <a:avLst/>
          </a:prstGeom>
          <a:solidFill>
            <a:srgbClr val="FFFFFF"/>
          </a:solidFill>
          <a:ln w="9525">
            <a:solidFill>
              <a:srgbClr val="D7DC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2807208"/>
            <a:ext cx="2779776" cy="1828800"/>
          </a:xfrm>
          <a:prstGeom prst="rect">
            <a:avLst/>
          </a:prstGeom>
          <a:noFill/>
        </p:spPr>
        <p:txBody>
          <a:bodyPr wrap="square" lIns="0" rIns="0" tIns="0" bIns="0">
            <a:spAutoFit/>
          </a:bodyPr>
          <a:lstStyle/>
          <a:p>
            <a:pPr algn="l">
              <a:lnSpc>
                <a:spcPct val="100000"/>
              </a:lnSpc>
              <a:spcBef>
                <a:spcPts val="0"/>
              </a:spcBef>
              <a:spcAft>
                <a:spcPts val="0"/>
              </a:spcAft>
            </a:pPr>
            <a:r>
              <a:rPr sz="3800" b="1" i="0">
                <a:solidFill>
                  <a:srgbClr val="1F7A6C"/>
                </a:solidFill>
                <a:latin typeface="Helvetica Neue"/>
              </a:rPr>
              <a:t>200–400</a:t>
            </a:r>
          </a:p>
          <a:p>
            <a:pPr>
              <a:spcBef>
                <a:spcPts val="600"/>
              </a:spcBef>
              <a:spcAft>
                <a:spcPts val="0"/>
              </a:spcAft>
            </a:pPr>
            <a:r>
              <a:rPr sz="1000" b="1" i="0">
                <a:solidFill>
                  <a:srgbClr val="16202E"/>
                </a:solidFill>
                <a:latin typeface="Helvetica Neue"/>
              </a:rPr>
              <a:t>PAGES IN A TYPICAL AGENDA PACKET</a:t>
            </a:r>
          </a:p>
          <a:p>
            <a:pPr>
              <a:lnSpc>
                <a:spcPct val="130000"/>
              </a:lnSpc>
              <a:spcBef>
                <a:spcPts val="1000"/>
              </a:spcBef>
              <a:spcAft>
                <a:spcPts val="0"/>
              </a:spcAft>
            </a:pPr>
            <a:r>
              <a:rPr sz="1250" b="0" i="0">
                <a:solidFill>
                  <a:srgbClr val="414D5C"/>
                </a:solidFill>
                <a:latin typeface="Helvetica Neue"/>
              </a:rPr>
              <a:t>Delivered days before the vote, read on personal time.</a:t>
            </a:r>
          </a:p>
        </p:txBody>
      </p:sp>
      <p:sp>
        <p:nvSpPr>
          <p:cNvPr id="9" name="Rectangle 8"/>
          <p:cNvSpPr/>
          <p:nvPr/>
        </p:nvSpPr>
        <p:spPr>
          <a:xfrm>
            <a:off x="4343400" y="2532888"/>
            <a:ext cx="3291840" cy="2286000"/>
          </a:xfrm>
          <a:prstGeom prst="rect">
            <a:avLst/>
          </a:prstGeom>
          <a:solidFill>
            <a:srgbClr val="FFFFFF"/>
          </a:solidFill>
          <a:ln w="9525">
            <a:solidFill>
              <a:srgbClr val="D7DC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99432" y="2807208"/>
            <a:ext cx="2779776" cy="1828800"/>
          </a:xfrm>
          <a:prstGeom prst="rect">
            <a:avLst/>
          </a:prstGeom>
          <a:noFill/>
        </p:spPr>
        <p:txBody>
          <a:bodyPr wrap="square" lIns="0" rIns="0" tIns="0" bIns="0">
            <a:spAutoFit/>
          </a:bodyPr>
          <a:lstStyle/>
          <a:p>
            <a:pPr algn="l">
              <a:lnSpc>
                <a:spcPct val="100000"/>
              </a:lnSpc>
              <a:spcBef>
                <a:spcPts val="0"/>
              </a:spcBef>
              <a:spcAft>
                <a:spcPts val="0"/>
              </a:spcAft>
            </a:pPr>
            <a:r>
              <a:rPr sz="3800" b="1" i="0">
                <a:solidFill>
                  <a:srgbClr val="1F7A6C"/>
                </a:solidFill>
                <a:latin typeface="Helvetica Neue"/>
              </a:rPr>
              <a:t>0</a:t>
            </a:r>
          </a:p>
          <a:p>
            <a:pPr>
              <a:spcBef>
                <a:spcPts val="600"/>
              </a:spcBef>
              <a:spcAft>
                <a:spcPts val="0"/>
              </a:spcAft>
            </a:pPr>
            <a:r>
              <a:rPr sz="1000" b="1" i="0">
                <a:solidFill>
                  <a:srgbClr val="16202E"/>
                </a:solidFill>
                <a:latin typeface="Helvetica Neue"/>
              </a:rPr>
              <a:t>STAFF REPORTING TO AN ELECTED OFFICIAL</a:t>
            </a:r>
          </a:p>
          <a:p>
            <a:pPr>
              <a:lnSpc>
                <a:spcPct val="130000"/>
              </a:lnSpc>
              <a:spcBef>
                <a:spcPts val="1000"/>
              </a:spcBef>
              <a:spcAft>
                <a:spcPts val="0"/>
              </a:spcAft>
            </a:pPr>
            <a:r>
              <a:rPr sz="1250" b="0" i="0">
                <a:solidFill>
                  <a:srgbClr val="414D5C"/>
                </a:solidFill>
                <a:latin typeface="Helvetica Neue"/>
              </a:rPr>
              <a:t>City staff serve the institution. The official has no researcher, no analyst, no counsel of their own.</a:t>
            </a:r>
          </a:p>
        </p:txBody>
      </p:sp>
      <p:sp>
        <p:nvSpPr>
          <p:cNvPr id="11" name="Rectangle 10"/>
          <p:cNvSpPr/>
          <p:nvPr/>
        </p:nvSpPr>
        <p:spPr>
          <a:xfrm>
            <a:off x="7863840" y="2532888"/>
            <a:ext cx="3291840" cy="2286000"/>
          </a:xfrm>
          <a:prstGeom prst="rect">
            <a:avLst/>
          </a:prstGeom>
          <a:solidFill>
            <a:srgbClr val="FFFFFF"/>
          </a:solidFill>
          <a:ln w="9525">
            <a:solidFill>
              <a:srgbClr val="D7DC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19872" y="2807208"/>
            <a:ext cx="2779776" cy="1828800"/>
          </a:xfrm>
          <a:prstGeom prst="rect">
            <a:avLst/>
          </a:prstGeom>
          <a:noFill/>
        </p:spPr>
        <p:txBody>
          <a:bodyPr wrap="square" lIns="0" rIns="0" tIns="0" bIns="0">
            <a:spAutoFit/>
          </a:bodyPr>
          <a:lstStyle/>
          <a:p>
            <a:pPr algn="l">
              <a:lnSpc>
                <a:spcPct val="100000"/>
              </a:lnSpc>
              <a:spcBef>
                <a:spcPts val="0"/>
              </a:spcBef>
              <a:spcAft>
                <a:spcPts val="0"/>
              </a:spcAft>
            </a:pPr>
            <a:r>
              <a:rPr sz="3800" b="1" i="0">
                <a:solidFill>
                  <a:srgbClr val="1F7A6C"/>
                </a:solidFill>
                <a:latin typeface="Helvetica Neue"/>
              </a:rPr>
              <a:t>~5 : 1</a:t>
            </a:r>
          </a:p>
          <a:p>
            <a:pPr>
              <a:spcBef>
                <a:spcPts val="600"/>
              </a:spcBef>
              <a:spcAft>
                <a:spcPts val="0"/>
              </a:spcAft>
            </a:pPr>
            <a:r>
              <a:rPr sz="1000" b="1" i="0">
                <a:solidFill>
                  <a:srgbClr val="16202E"/>
                </a:solidFill>
                <a:latin typeface="Helvetica Neue"/>
              </a:rPr>
              <a:t>BOARD VOLUNTEERS PER ELECTED OFFICIAL</a:t>
            </a:r>
          </a:p>
          <a:p>
            <a:pPr>
              <a:lnSpc>
                <a:spcPct val="130000"/>
              </a:lnSpc>
              <a:spcBef>
                <a:spcPts val="1000"/>
              </a:spcBef>
              <a:spcAft>
                <a:spcPts val="0"/>
              </a:spcAft>
            </a:pPr>
            <a:r>
              <a:rPr sz="1250" b="0" i="0">
                <a:solidFill>
                  <a:srgbClr val="414D5C"/>
                </a:solidFill>
                <a:latin typeface="Helvetica Neue"/>
              </a:rPr>
              <a:t>Appointed planning, finance, parks, public-safety and ethics volunteers — the least-served users in govtech.</a:t>
            </a:r>
          </a:p>
        </p:txBody>
      </p:sp>
      <p:sp>
        <p:nvSpPr>
          <p:cNvPr id="13" name="TextBox 12"/>
          <p:cNvSpPr txBox="1"/>
          <p:nvPr/>
        </p:nvSpPr>
        <p:spPr>
          <a:xfrm>
            <a:off x="822960" y="5093208"/>
            <a:ext cx="10241280" cy="457200"/>
          </a:xfrm>
          <a:prstGeom prst="rect">
            <a:avLst/>
          </a:prstGeom>
          <a:noFill/>
        </p:spPr>
        <p:txBody>
          <a:bodyPr wrap="square" lIns="0" rIns="0" tIns="0" bIns="0">
            <a:spAutoFit/>
          </a:bodyPr>
          <a:lstStyle/>
          <a:p>
            <a:pPr algn="l">
              <a:lnSpc>
                <a:spcPct val="130000"/>
              </a:lnSpc>
              <a:spcBef>
                <a:spcPts val="0"/>
              </a:spcBef>
              <a:spcAft>
                <a:spcPts val="0"/>
              </a:spcAft>
            </a:pPr>
            <a:r>
              <a:rPr sz="1500" b="1" i="0">
                <a:solidFill>
                  <a:srgbClr val="16202E"/>
                </a:solidFill>
                <a:latin typeface="Helvetica Neue"/>
              </a:rPr>
              <a:t>The cost of being under-prepared is not a bad quarter. It is being wrong on the record, in public, on video.</a:t>
            </a:r>
          </a:p>
        </p:txBody>
      </p:sp>
      <p:sp>
        <p:nvSpPr>
          <p:cNvPr id="14" name="TextBox 13"/>
          <p:cNvSpPr txBox="1"/>
          <p:nvPr/>
        </p:nvSpPr>
        <p:spPr>
          <a:xfrm>
            <a:off x="822960" y="6053328"/>
            <a:ext cx="10332720" cy="274320"/>
          </a:xfrm>
          <a:prstGeom prst="rect">
            <a:avLst/>
          </a:prstGeom>
          <a:noFill/>
        </p:spPr>
        <p:txBody>
          <a:bodyPr wrap="square" lIns="0" rIns="0" tIns="0" bIns="0">
            <a:spAutoFit/>
          </a:bodyPr>
          <a:lstStyle/>
          <a:p>
            <a:pPr algn="l">
              <a:lnSpc>
                <a:spcPct val="125000"/>
              </a:lnSpc>
              <a:spcBef>
                <a:spcPts val="0"/>
              </a:spcBef>
              <a:spcAft>
                <a:spcPts val="0"/>
              </a:spcAft>
            </a:pPr>
            <a:r>
              <a:rPr sz="900" b="0" i="0">
                <a:solidFill>
                  <a:srgbClr val="8A939E"/>
                </a:solidFill>
                <a:latin typeface="Helvetica Neue"/>
              </a:rPr>
              <a:t>Source:  research/spaces/GOVTECH_MUNICIPAL.md (buyer archetypes); Strata market &amp; competitive research, 30 Aug 2026, §3.</a:t>
            </a:r>
          </a:p>
        </p:txBody>
      </p:sp>
      <p:sp>
        <p:nvSpPr>
          <p:cNvPr id="15" name="TextBox 14"/>
          <p:cNvSpPr txBox="1"/>
          <p:nvPr/>
        </p:nvSpPr>
        <p:spPr>
          <a:xfrm>
            <a:off x="822960" y="6419088"/>
            <a:ext cx="8778240" cy="274320"/>
          </a:xfrm>
          <a:prstGeom prst="rect">
            <a:avLst/>
          </a:prstGeom>
          <a:noFill/>
        </p:spPr>
        <p:txBody>
          <a:bodyPr wrap="square" lIns="0" rIns="0" tIns="0" bIns="0">
            <a:spAutoFit/>
          </a:bodyPr>
          <a:lstStyle/>
          <a:p>
            <a:pPr algn="l">
              <a:spcBef>
                <a:spcPts val="0"/>
              </a:spcBef>
              <a:spcAft>
                <a:spcPts val="0"/>
              </a:spcAft>
            </a:pPr>
            <a:r>
              <a:rPr sz="850" b="0" i="0">
                <a:solidFill>
                  <a:srgbClr val="8A939E"/>
                </a:solidFill>
                <a:latin typeface="Helvetica Neue"/>
              </a:rPr>
              <a:t>Strata Civic Solutions  ·  Pitch deck v1, 1 September 2026  ·  Draft for joseleos  ·  Confidential</a:t>
            </a:r>
          </a:p>
        </p:txBody>
      </p:sp>
      <p:sp>
        <p:nvSpPr>
          <p:cNvPr id="16" name="TextBox 15"/>
          <p:cNvSpPr txBox="1"/>
          <p:nvPr/>
        </p:nvSpPr>
        <p:spPr>
          <a:xfrm>
            <a:off x="10454335" y="6419088"/>
            <a:ext cx="914400" cy="274320"/>
          </a:xfrm>
          <a:prstGeom prst="rect">
            <a:avLst/>
          </a:prstGeom>
          <a:noFill/>
        </p:spPr>
        <p:txBody>
          <a:bodyPr wrap="square" lIns="0" rIns="0" tIns="0" bIns="0">
            <a:spAutoFit/>
          </a:bodyPr>
          <a:lstStyle/>
          <a:p>
            <a:pPr algn="r">
              <a:spcBef>
                <a:spcPts val="0"/>
              </a:spcBef>
              <a:spcAft>
                <a:spcPts val="0"/>
              </a:spcAft>
            </a:pPr>
            <a:r>
              <a:rPr sz="850" b="0" i="0">
                <a:solidFill>
                  <a:srgbClr val="8A939E"/>
                </a:solidFill>
                <a:latin typeface="Helvetica Neue"/>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10545775" cy="274320"/>
          </a:xfrm>
          <a:prstGeom prst="rect">
            <a:avLst/>
          </a:prstGeom>
          <a:noFill/>
        </p:spPr>
        <p:txBody>
          <a:bodyPr wrap="square" lIns="0" rIns="0" tIns="0" bIns="0">
            <a:spAutoFit/>
          </a:bodyPr>
          <a:lstStyle/>
          <a:p>
            <a:pPr algn="l">
              <a:spcBef>
                <a:spcPts val="0"/>
              </a:spcBef>
              <a:spcAft>
                <a:spcPts val="0"/>
              </a:spcAft>
            </a:pPr>
            <a:r>
              <a:rPr sz="1050" b="1" i="0">
                <a:solidFill>
                  <a:srgbClr val="1F7A6C"/>
                </a:solidFill>
                <a:latin typeface="Helvetica Neue"/>
              </a:rPr>
              <a:t>THE INCUMBENT</a:t>
            </a:r>
          </a:p>
        </p:txBody>
      </p:sp>
      <p:sp>
        <p:nvSpPr>
          <p:cNvPr id="4" name="TextBox 3"/>
          <p:cNvSpPr txBox="1"/>
          <p:nvPr/>
        </p:nvSpPr>
        <p:spPr>
          <a:xfrm>
            <a:off x="822960" y="914400"/>
            <a:ext cx="10545775" cy="475488"/>
          </a:xfrm>
          <a:prstGeom prst="rect">
            <a:avLst/>
          </a:prstGeom>
          <a:noFill/>
        </p:spPr>
        <p:txBody>
          <a:bodyPr wrap="square" lIns="0" rIns="0" tIns="0" bIns="0">
            <a:spAutoFit/>
          </a:bodyPr>
          <a:lstStyle/>
          <a:p>
            <a:pPr algn="l">
              <a:lnSpc>
                <a:spcPct val="106000"/>
              </a:lnSpc>
              <a:spcBef>
                <a:spcPts val="0"/>
              </a:spcBef>
              <a:spcAft>
                <a:spcPts val="0"/>
              </a:spcAft>
            </a:pPr>
            <a:r>
              <a:rPr sz="3000" b="1" i="0">
                <a:solidFill>
                  <a:srgbClr val="16202E"/>
                </a:solidFill>
                <a:latin typeface="Helvetica Neue"/>
              </a:rPr>
              <a:t>They already tried the obvious fix.</a:t>
            </a:r>
          </a:p>
        </p:txBody>
      </p:sp>
      <p:sp>
        <p:nvSpPr>
          <p:cNvPr id="5" name="TextBox 4"/>
          <p:cNvSpPr txBox="1"/>
          <p:nvPr/>
        </p:nvSpPr>
        <p:spPr>
          <a:xfrm>
            <a:off x="822960" y="1481328"/>
            <a:ext cx="9509760" cy="548640"/>
          </a:xfrm>
          <a:prstGeom prst="rect">
            <a:avLst/>
          </a:prstGeom>
          <a:noFill/>
        </p:spPr>
        <p:txBody>
          <a:bodyPr wrap="square" lIns="0" rIns="0" tIns="0" bIns="0">
            <a:spAutoFit/>
          </a:bodyPr>
          <a:lstStyle/>
          <a:p>
            <a:pPr algn="l">
              <a:lnSpc>
                <a:spcPct val="132000"/>
              </a:lnSpc>
              <a:spcBef>
                <a:spcPts val="0"/>
              </a:spcBef>
              <a:spcAft>
                <a:spcPts val="0"/>
              </a:spcAft>
            </a:pPr>
            <a:r>
              <a:rPr sz="1450" b="0" i="0">
                <a:solidFill>
                  <a:srgbClr val="414D5C"/>
                </a:solidFill>
                <a:latin typeface="Helvetica Neue"/>
              </a:rPr>
              <a:t>Every prospect has a working solution today. It is free, it is universally deployed, and it is the reason nobody in this category has bought anything.</a:t>
            </a:r>
          </a:p>
        </p:txBody>
      </p:sp>
      <p:sp>
        <p:nvSpPr>
          <p:cNvPr id="6" name="Rectangle 5"/>
          <p:cNvSpPr/>
          <p:nvPr/>
        </p:nvSpPr>
        <p:spPr>
          <a:xfrm>
            <a:off x="822960" y="2148840"/>
            <a:ext cx="10545775" cy="12700"/>
          </a:xfrm>
          <a:prstGeom prst="rect">
            <a:avLst/>
          </a:prstGeom>
          <a:solidFill>
            <a:srgbClr val="D7D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2532888"/>
            <a:ext cx="5029200" cy="2514600"/>
          </a:xfrm>
          <a:prstGeom prst="rect">
            <a:avLst/>
          </a:prstGeom>
          <a:solidFill>
            <a:srgbClr val="FFFFFF"/>
          </a:solidFill>
          <a:ln w="9525">
            <a:solidFill>
              <a:srgbClr val="D7DC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770632"/>
            <a:ext cx="4480560" cy="2011680"/>
          </a:xfrm>
          <a:prstGeom prst="rect">
            <a:avLst/>
          </a:prstGeom>
          <a:noFill/>
        </p:spPr>
        <p:txBody>
          <a:bodyPr wrap="square" lIns="0" rIns="0" tIns="0" bIns="0">
            <a:spAutoFit/>
          </a:bodyPr>
          <a:lstStyle/>
          <a:p>
            <a:pPr algn="l">
              <a:spcBef>
                <a:spcPts val="0"/>
              </a:spcBef>
              <a:spcAft>
                <a:spcPts val="0"/>
              </a:spcAft>
            </a:pPr>
            <a:r>
              <a:rPr sz="1000" b="1" i="0">
                <a:solidFill>
                  <a:srgbClr val="1F7A6C"/>
                </a:solidFill>
                <a:latin typeface="Helvetica Neue"/>
              </a:rPr>
              <a:t>WHAT THEY DO NOW</a:t>
            </a:r>
          </a:p>
          <a:p>
            <a:pPr>
              <a:lnSpc>
                <a:spcPct val="130000"/>
              </a:lnSpc>
              <a:spcBef>
                <a:spcPts val="1100"/>
              </a:spcBef>
              <a:spcAft>
                <a:spcPts val="0"/>
              </a:spcAft>
            </a:pPr>
            <a:r>
              <a:rPr sz="1400" b="0" i="0">
                <a:solidFill>
                  <a:srgbClr val="414D5C"/>
                </a:solidFill>
                <a:latin typeface="Helvetica Neue"/>
              </a:rPr>
              <a:t>—  Ctrl+F the PDF for a word they hope appears.</a:t>
            </a:r>
          </a:p>
          <a:p>
            <a:pPr>
              <a:lnSpc>
                <a:spcPct val="130000"/>
              </a:lnSpc>
              <a:spcBef>
                <a:spcPts val="1100"/>
              </a:spcBef>
              <a:spcAft>
                <a:spcPts val="0"/>
              </a:spcAft>
            </a:pPr>
            <a:r>
              <a:rPr sz="1400" b="0" i="0">
                <a:solidFill>
                  <a:srgbClr val="414D5C"/>
                </a:solidFill>
                <a:latin typeface="Helvetica Neue"/>
              </a:rPr>
              <a:t>—  Call the clerk — who has their own job.</a:t>
            </a:r>
          </a:p>
          <a:p>
            <a:pPr>
              <a:lnSpc>
                <a:spcPct val="130000"/>
              </a:lnSpc>
              <a:spcBef>
                <a:spcPts val="1100"/>
              </a:spcBef>
              <a:spcAft>
                <a:spcPts val="0"/>
              </a:spcAft>
            </a:pPr>
            <a:r>
              <a:rPr sz="1400" b="0" i="0">
                <a:solidFill>
                  <a:srgbClr val="414D5C"/>
                </a:solidFill>
                <a:latin typeface="Helvetica Neue"/>
              </a:rPr>
              <a:t>—  Ask the one colleague who has been on council longest.</a:t>
            </a:r>
          </a:p>
          <a:p>
            <a:pPr>
              <a:lnSpc>
                <a:spcPct val="130000"/>
              </a:lnSpc>
              <a:spcBef>
                <a:spcPts val="1100"/>
              </a:spcBef>
              <a:spcAft>
                <a:spcPts val="0"/>
              </a:spcAft>
            </a:pPr>
            <a:r>
              <a:rPr sz="1400" b="0" i="0">
                <a:solidFill>
                  <a:srgbClr val="414D5C"/>
                </a:solidFill>
                <a:latin typeface="Helvetica Neue"/>
              </a:rPr>
              <a:t>—  Vote, and find out afterwards.</a:t>
            </a:r>
          </a:p>
        </p:txBody>
      </p:sp>
      <p:sp>
        <p:nvSpPr>
          <p:cNvPr id="9" name="Rectangle 8"/>
          <p:cNvSpPr/>
          <p:nvPr/>
        </p:nvSpPr>
        <p:spPr>
          <a:xfrm>
            <a:off x="6172200" y="2532888"/>
            <a:ext cx="5029200" cy="2514600"/>
          </a:xfrm>
          <a:prstGeom prst="rect">
            <a:avLst/>
          </a:prstGeom>
          <a:solidFill>
            <a:srgbClr val="E2EEEB"/>
          </a:solidFill>
          <a:ln w="9525">
            <a:solidFill>
              <a:srgbClr val="C3D8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2770632"/>
            <a:ext cx="4480560" cy="2011680"/>
          </a:xfrm>
          <a:prstGeom prst="rect">
            <a:avLst/>
          </a:prstGeom>
          <a:noFill/>
        </p:spPr>
        <p:txBody>
          <a:bodyPr wrap="square" lIns="0" rIns="0" tIns="0" bIns="0">
            <a:spAutoFit/>
          </a:bodyPr>
          <a:lstStyle/>
          <a:p>
            <a:pPr algn="l">
              <a:spcBef>
                <a:spcPts val="0"/>
              </a:spcBef>
              <a:spcAft>
                <a:spcPts val="0"/>
              </a:spcAft>
            </a:pPr>
            <a:r>
              <a:rPr sz="1000" b="1" i="0">
                <a:solidFill>
                  <a:srgbClr val="1F7A6C"/>
                </a:solidFill>
                <a:latin typeface="Helvetica Neue"/>
              </a:rPr>
              <a:t>WHAT IT COSTS THEM</a:t>
            </a:r>
          </a:p>
          <a:p>
            <a:pPr>
              <a:lnSpc>
                <a:spcPct val="130000"/>
              </a:lnSpc>
              <a:spcBef>
                <a:spcPts val="1100"/>
              </a:spcBef>
              <a:spcAft>
                <a:spcPts val="0"/>
              </a:spcAft>
            </a:pPr>
            <a:r>
              <a:rPr sz="1400" b="0" i="0">
                <a:solidFill>
                  <a:srgbClr val="414D5C"/>
                </a:solidFill>
                <a:latin typeface="Helvetica Neue"/>
              </a:rPr>
              <a:t>—  Hours per packet, on unpaid time.</a:t>
            </a:r>
          </a:p>
          <a:p>
            <a:pPr>
              <a:lnSpc>
                <a:spcPct val="130000"/>
              </a:lnSpc>
              <a:spcBef>
                <a:spcPts val="1100"/>
              </a:spcBef>
              <a:spcAft>
                <a:spcPts val="0"/>
              </a:spcAft>
            </a:pPr>
            <a:r>
              <a:rPr sz="1400" b="0" i="0">
                <a:solidFill>
                  <a:srgbClr val="414D5C"/>
                </a:solidFill>
                <a:latin typeface="Helvetica Neue"/>
              </a:rPr>
              <a:t>—  Precedent they never find, because they did not know the word for it.</a:t>
            </a:r>
          </a:p>
          <a:p>
            <a:pPr>
              <a:lnSpc>
                <a:spcPct val="130000"/>
              </a:lnSpc>
              <a:spcBef>
                <a:spcPts val="1100"/>
              </a:spcBef>
              <a:spcAft>
                <a:spcPts val="0"/>
              </a:spcAft>
            </a:pPr>
            <a:r>
              <a:rPr sz="1400" b="0" i="0">
                <a:solidFill>
                  <a:srgbClr val="414D5C"/>
                </a:solidFill>
                <a:latin typeface="Helvetica Neue"/>
              </a:rPr>
              <a:t>—  Cost history that lives three budgets back.</a:t>
            </a:r>
          </a:p>
          <a:p>
            <a:pPr>
              <a:lnSpc>
                <a:spcPct val="130000"/>
              </a:lnSpc>
              <a:spcBef>
                <a:spcPts val="1100"/>
              </a:spcBef>
              <a:spcAft>
                <a:spcPts val="0"/>
              </a:spcAft>
            </a:pPr>
            <a:r>
              <a:rPr sz="1400" b="0" i="0">
                <a:solidFill>
                  <a:srgbClr val="414D5C"/>
                </a:solidFill>
                <a:latin typeface="Helvetica Neue"/>
              </a:rPr>
              <a:t>—  Deferring to staff on a decision that is legally theirs.</a:t>
            </a:r>
          </a:p>
        </p:txBody>
      </p:sp>
      <p:sp>
        <p:nvSpPr>
          <p:cNvPr id="11" name="TextBox 10"/>
          <p:cNvSpPr txBox="1"/>
          <p:nvPr/>
        </p:nvSpPr>
        <p:spPr>
          <a:xfrm>
            <a:off x="822960" y="5321808"/>
            <a:ext cx="10241280" cy="457200"/>
          </a:xfrm>
          <a:prstGeom prst="rect">
            <a:avLst/>
          </a:prstGeom>
          <a:noFill/>
        </p:spPr>
        <p:txBody>
          <a:bodyPr wrap="square" lIns="0" rIns="0" tIns="0" bIns="0">
            <a:spAutoFit/>
          </a:bodyPr>
          <a:lstStyle/>
          <a:p>
            <a:pPr algn="l">
              <a:spcBef>
                <a:spcPts val="0"/>
              </a:spcBef>
              <a:spcAft>
                <a:spcPts val="0"/>
              </a:spcAft>
            </a:pPr>
            <a:r>
              <a:rPr sz="1700" b="1" i="0">
                <a:solidFill>
                  <a:srgbClr val="16202E"/>
                </a:solidFill>
                <a:latin typeface="Helvetica Neue"/>
              </a:rPr>
              <a:t>The competitor we actually have to beat is Ctrl+F.</a:t>
            </a:r>
          </a:p>
        </p:txBody>
      </p:sp>
      <p:sp>
        <p:nvSpPr>
          <p:cNvPr id="12" name="TextBox 11"/>
          <p:cNvSpPr txBox="1"/>
          <p:nvPr/>
        </p:nvSpPr>
        <p:spPr>
          <a:xfrm>
            <a:off x="822960" y="6053328"/>
            <a:ext cx="10332720" cy="274320"/>
          </a:xfrm>
          <a:prstGeom prst="rect">
            <a:avLst/>
          </a:prstGeom>
          <a:noFill/>
        </p:spPr>
        <p:txBody>
          <a:bodyPr wrap="square" lIns="0" rIns="0" tIns="0" bIns="0">
            <a:spAutoFit/>
          </a:bodyPr>
          <a:lstStyle/>
          <a:p>
            <a:pPr algn="l">
              <a:lnSpc>
                <a:spcPct val="125000"/>
              </a:lnSpc>
              <a:spcBef>
                <a:spcPts val="0"/>
              </a:spcBef>
              <a:spcAft>
                <a:spcPts val="0"/>
              </a:spcAft>
            </a:pPr>
            <a:r>
              <a:rPr sz="900" b="0" i="0">
                <a:solidFill>
                  <a:srgbClr val="8A939E"/>
                </a:solidFill>
                <a:latin typeface="Helvetica Neue"/>
              </a:rPr>
              <a:t>Source:  research/spaces/GOVTECH_MUNICIPAL.md — "the real incumbent is the manual workaround."</a:t>
            </a:r>
          </a:p>
        </p:txBody>
      </p:sp>
      <p:sp>
        <p:nvSpPr>
          <p:cNvPr id="13" name="TextBox 12"/>
          <p:cNvSpPr txBox="1"/>
          <p:nvPr/>
        </p:nvSpPr>
        <p:spPr>
          <a:xfrm>
            <a:off x="822960" y="6419088"/>
            <a:ext cx="8778240" cy="274320"/>
          </a:xfrm>
          <a:prstGeom prst="rect">
            <a:avLst/>
          </a:prstGeom>
          <a:noFill/>
        </p:spPr>
        <p:txBody>
          <a:bodyPr wrap="square" lIns="0" rIns="0" tIns="0" bIns="0">
            <a:spAutoFit/>
          </a:bodyPr>
          <a:lstStyle/>
          <a:p>
            <a:pPr algn="l">
              <a:spcBef>
                <a:spcPts val="0"/>
              </a:spcBef>
              <a:spcAft>
                <a:spcPts val="0"/>
              </a:spcAft>
            </a:pPr>
            <a:r>
              <a:rPr sz="850" b="0" i="0">
                <a:solidFill>
                  <a:srgbClr val="8A939E"/>
                </a:solidFill>
                <a:latin typeface="Helvetica Neue"/>
              </a:rPr>
              <a:t>Strata Civic Solutions  ·  Pitch deck v1, 1 September 2026  ·  Draft for joseleos  ·  Confidential</a:t>
            </a:r>
          </a:p>
        </p:txBody>
      </p:sp>
      <p:sp>
        <p:nvSpPr>
          <p:cNvPr id="14" name="TextBox 13"/>
          <p:cNvSpPr txBox="1"/>
          <p:nvPr/>
        </p:nvSpPr>
        <p:spPr>
          <a:xfrm>
            <a:off x="10454335" y="6419088"/>
            <a:ext cx="914400" cy="274320"/>
          </a:xfrm>
          <a:prstGeom prst="rect">
            <a:avLst/>
          </a:prstGeom>
          <a:noFill/>
        </p:spPr>
        <p:txBody>
          <a:bodyPr wrap="square" lIns="0" rIns="0" tIns="0" bIns="0">
            <a:spAutoFit/>
          </a:bodyPr>
          <a:lstStyle/>
          <a:p>
            <a:pPr algn="r">
              <a:spcBef>
                <a:spcPts val="0"/>
              </a:spcBef>
              <a:spcAft>
                <a:spcPts val="0"/>
              </a:spcAft>
            </a:pPr>
            <a:r>
              <a:rPr sz="850" b="0" i="0">
                <a:solidFill>
                  <a:srgbClr val="8A939E"/>
                </a:solidFill>
                <a:latin typeface="Helvetica Neue"/>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10545775" cy="274320"/>
          </a:xfrm>
          <a:prstGeom prst="rect">
            <a:avLst/>
          </a:prstGeom>
          <a:noFill/>
        </p:spPr>
        <p:txBody>
          <a:bodyPr wrap="square" lIns="0" rIns="0" tIns="0" bIns="0">
            <a:spAutoFit/>
          </a:bodyPr>
          <a:lstStyle/>
          <a:p>
            <a:pPr algn="l">
              <a:spcBef>
                <a:spcPts val="0"/>
              </a:spcBef>
              <a:spcAft>
                <a:spcPts val="0"/>
              </a:spcAft>
            </a:pPr>
            <a:r>
              <a:rPr sz="1050" b="1" i="0">
                <a:solidFill>
                  <a:srgbClr val="1F7A6C"/>
                </a:solidFill>
                <a:latin typeface="Helvetica Neue"/>
              </a:rPr>
              <a:t>THE INSIGHT</a:t>
            </a:r>
          </a:p>
        </p:txBody>
      </p:sp>
      <p:sp>
        <p:nvSpPr>
          <p:cNvPr id="4" name="TextBox 3"/>
          <p:cNvSpPr txBox="1"/>
          <p:nvPr/>
        </p:nvSpPr>
        <p:spPr>
          <a:xfrm>
            <a:off x="822960" y="914400"/>
            <a:ext cx="10545775" cy="475488"/>
          </a:xfrm>
          <a:prstGeom prst="rect">
            <a:avLst/>
          </a:prstGeom>
          <a:noFill/>
        </p:spPr>
        <p:txBody>
          <a:bodyPr wrap="square" lIns="0" rIns="0" tIns="0" bIns="0">
            <a:spAutoFit/>
          </a:bodyPr>
          <a:lstStyle/>
          <a:p>
            <a:pPr algn="l">
              <a:lnSpc>
                <a:spcPct val="106000"/>
              </a:lnSpc>
              <a:spcBef>
                <a:spcPts val="0"/>
              </a:spcBef>
              <a:spcAft>
                <a:spcPts val="0"/>
              </a:spcAft>
            </a:pPr>
            <a:r>
              <a:rPr sz="3000" b="1" i="0">
                <a:solidFill>
                  <a:srgbClr val="16202E"/>
                </a:solidFill>
                <a:latin typeface="Helvetica Neue"/>
              </a:rPr>
              <a:t>Your city already published the answer.</a:t>
            </a:r>
          </a:p>
        </p:txBody>
      </p:sp>
      <p:sp>
        <p:nvSpPr>
          <p:cNvPr id="5" name="Rectangle 4"/>
          <p:cNvSpPr/>
          <p:nvPr/>
        </p:nvSpPr>
        <p:spPr>
          <a:xfrm>
            <a:off x="822960" y="1481328"/>
            <a:ext cx="10545775" cy="12700"/>
          </a:xfrm>
          <a:prstGeom prst="rect">
            <a:avLst/>
          </a:prstGeom>
          <a:solidFill>
            <a:srgbClr val="D7D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185416"/>
            <a:ext cx="9692640" cy="2011680"/>
          </a:xfrm>
          <a:prstGeom prst="rect">
            <a:avLst/>
          </a:prstGeom>
          <a:noFill/>
        </p:spPr>
        <p:txBody>
          <a:bodyPr wrap="square" lIns="0" rIns="0" tIns="0" bIns="0">
            <a:spAutoFit/>
          </a:bodyPr>
          <a:lstStyle/>
          <a:p>
            <a:pPr algn="l">
              <a:lnSpc>
                <a:spcPct val="135000"/>
              </a:lnSpc>
              <a:spcBef>
                <a:spcPts val="0"/>
              </a:spcBef>
              <a:spcAft>
                <a:spcPts val="0"/>
              </a:spcAft>
            </a:pPr>
            <a:r>
              <a:rPr sz="2700" b="0" i="1">
                <a:solidFill>
                  <a:srgbClr val="16202E"/>
                </a:solidFill>
                <a:latin typeface="Helvetica Neue"/>
              </a:rPr>
              <a:t>“Search returns documents and leaves the reading to you.
Strata returns an answer, and the documents behind it.”</a:t>
            </a:r>
          </a:p>
        </p:txBody>
      </p:sp>
      <p:sp>
        <p:nvSpPr>
          <p:cNvPr id="7" name="Rectangle 6"/>
          <p:cNvSpPr/>
          <p:nvPr/>
        </p:nvSpPr>
        <p:spPr>
          <a:xfrm>
            <a:off x="822960" y="4014216"/>
            <a:ext cx="1234440" cy="38100"/>
          </a:xfrm>
          <a:prstGeom prst="rect">
            <a:avLst/>
          </a:prstGeom>
          <a:solidFill>
            <a:srgbClr val="1F7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 y="4133088"/>
            <a:ext cx="868680" cy="38100"/>
          </a:xfrm>
          <a:prstGeom prst="rect">
            <a:avLst/>
          </a:prstGeom>
          <a:solidFill>
            <a:srgbClr val="1F7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4251960"/>
            <a:ext cx="548640" cy="38100"/>
          </a:xfrm>
          <a:prstGeom prst="rect">
            <a:avLst/>
          </a:prstGeom>
          <a:solidFill>
            <a:srgbClr val="1F7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4608576"/>
            <a:ext cx="9692640" cy="1097280"/>
          </a:xfrm>
          <a:prstGeom prst="rect">
            <a:avLst/>
          </a:prstGeom>
          <a:noFill/>
        </p:spPr>
        <p:txBody>
          <a:bodyPr wrap="square" lIns="0" rIns="0" tIns="0" bIns="0">
            <a:spAutoFit/>
          </a:bodyPr>
          <a:lstStyle/>
          <a:p>
            <a:pPr algn="l">
              <a:lnSpc>
                <a:spcPct val="140000"/>
              </a:lnSpc>
              <a:spcBef>
                <a:spcPts val="0"/>
              </a:spcBef>
              <a:spcAft>
                <a:spcPts val="0"/>
              </a:spcAft>
            </a:pPr>
            <a:r>
              <a:rPr sz="1500" b="0" i="0">
                <a:solidFill>
                  <a:srgbClr val="414D5C"/>
                </a:solidFill>
                <a:latin typeface="Helvetica Neue"/>
              </a:rPr>
              <a:t>Strata creates no new data and asks the city to change nothing. Budgets, ordinances, minutes and contracts are already published under the Public Information Act. The record is not missing — it is unusable at meeting-prep speed.</a:t>
            </a:r>
          </a:p>
        </p:txBody>
      </p:sp>
      <p:sp>
        <p:nvSpPr>
          <p:cNvPr id="11" name="TextBox 10"/>
          <p:cNvSpPr txBox="1"/>
          <p:nvPr/>
        </p:nvSpPr>
        <p:spPr>
          <a:xfrm>
            <a:off x="822960" y="6053328"/>
            <a:ext cx="10332720" cy="274320"/>
          </a:xfrm>
          <a:prstGeom prst="rect">
            <a:avLst/>
          </a:prstGeom>
          <a:noFill/>
        </p:spPr>
        <p:txBody>
          <a:bodyPr wrap="square" lIns="0" rIns="0" tIns="0" bIns="0">
            <a:spAutoFit/>
          </a:bodyPr>
          <a:lstStyle/>
          <a:p>
            <a:pPr algn="l">
              <a:lnSpc>
                <a:spcPct val="125000"/>
              </a:lnSpc>
              <a:spcBef>
                <a:spcPts val="0"/>
              </a:spcBef>
              <a:spcAft>
                <a:spcPts val="0"/>
              </a:spcAft>
            </a:pPr>
            <a:r>
              <a:rPr sz="900" b="0" i="0">
                <a:solidFill>
                  <a:srgbClr val="8A939E"/>
                </a:solidFill>
                <a:latin typeface="Helvetica Neue"/>
              </a:rPr>
              <a:t>Source:  stratacivicsolutions.com (fetched 30 Aug 2026), quoted verbatim; Tex. Gov't Code ch. 552.</a:t>
            </a:r>
          </a:p>
        </p:txBody>
      </p:sp>
      <p:sp>
        <p:nvSpPr>
          <p:cNvPr id="12" name="TextBox 11"/>
          <p:cNvSpPr txBox="1"/>
          <p:nvPr/>
        </p:nvSpPr>
        <p:spPr>
          <a:xfrm>
            <a:off x="822960" y="6419088"/>
            <a:ext cx="8778240" cy="274320"/>
          </a:xfrm>
          <a:prstGeom prst="rect">
            <a:avLst/>
          </a:prstGeom>
          <a:noFill/>
        </p:spPr>
        <p:txBody>
          <a:bodyPr wrap="square" lIns="0" rIns="0" tIns="0" bIns="0">
            <a:spAutoFit/>
          </a:bodyPr>
          <a:lstStyle/>
          <a:p>
            <a:pPr algn="l">
              <a:spcBef>
                <a:spcPts val="0"/>
              </a:spcBef>
              <a:spcAft>
                <a:spcPts val="0"/>
              </a:spcAft>
            </a:pPr>
            <a:r>
              <a:rPr sz="850" b="0" i="0">
                <a:solidFill>
                  <a:srgbClr val="8A939E"/>
                </a:solidFill>
                <a:latin typeface="Helvetica Neue"/>
              </a:rPr>
              <a:t>Strata Civic Solutions  ·  Pitch deck v1, 1 September 2026  ·  Draft for joseleos  ·  Confidential</a:t>
            </a:r>
          </a:p>
        </p:txBody>
      </p:sp>
      <p:sp>
        <p:nvSpPr>
          <p:cNvPr id="13" name="TextBox 12"/>
          <p:cNvSpPr txBox="1"/>
          <p:nvPr/>
        </p:nvSpPr>
        <p:spPr>
          <a:xfrm>
            <a:off x="10454335" y="6419088"/>
            <a:ext cx="914400" cy="274320"/>
          </a:xfrm>
          <a:prstGeom prst="rect">
            <a:avLst/>
          </a:prstGeom>
          <a:noFill/>
        </p:spPr>
        <p:txBody>
          <a:bodyPr wrap="square" lIns="0" rIns="0" tIns="0" bIns="0">
            <a:spAutoFit/>
          </a:bodyPr>
          <a:lstStyle/>
          <a:p>
            <a:pPr algn="r">
              <a:spcBef>
                <a:spcPts val="0"/>
              </a:spcBef>
              <a:spcAft>
                <a:spcPts val="0"/>
              </a:spcAft>
            </a:pPr>
            <a:r>
              <a:rPr sz="850" b="0" i="0">
                <a:solidFill>
                  <a:srgbClr val="8A939E"/>
                </a:solidFill>
                <a:latin typeface="Helvetica Neue"/>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10545775" cy="274320"/>
          </a:xfrm>
          <a:prstGeom prst="rect">
            <a:avLst/>
          </a:prstGeom>
          <a:noFill/>
        </p:spPr>
        <p:txBody>
          <a:bodyPr wrap="square" lIns="0" rIns="0" tIns="0" bIns="0">
            <a:spAutoFit/>
          </a:bodyPr>
          <a:lstStyle/>
          <a:p>
            <a:pPr algn="l">
              <a:spcBef>
                <a:spcPts val="0"/>
              </a:spcBef>
              <a:spcAft>
                <a:spcPts val="0"/>
              </a:spcAft>
            </a:pPr>
            <a:r>
              <a:rPr sz="1050" b="1" i="0">
                <a:solidFill>
                  <a:srgbClr val="1F7A6C"/>
                </a:solidFill>
                <a:latin typeface="Helvetica Neue"/>
              </a:rPr>
              <a:t>WHY NOW</a:t>
            </a:r>
          </a:p>
        </p:txBody>
      </p:sp>
      <p:sp>
        <p:nvSpPr>
          <p:cNvPr id="4" name="TextBox 3"/>
          <p:cNvSpPr txBox="1"/>
          <p:nvPr/>
        </p:nvSpPr>
        <p:spPr>
          <a:xfrm>
            <a:off x="822960" y="914400"/>
            <a:ext cx="10545775" cy="475488"/>
          </a:xfrm>
          <a:prstGeom prst="rect">
            <a:avLst/>
          </a:prstGeom>
          <a:noFill/>
        </p:spPr>
        <p:txBody>
          <a:bodyPr wrap="square" lIns="0" rIns="0" tIns="0" bIns="0">
            <a:spAutoFit/>
          </a:bodyPr>
          <a:lstStyle/>
          <a:p>
            <a:pPr algn="l">
              <a:lnSpc>
                <a:spcPct val="106000"/>
              </a:lnSpc>
              <a:spcBef>
                <a:spcPts val="0"/>
              </a:spcBef>
              <a:spcAft>
                <a:spcPts val="0"/>
              </a:spcAft>
            </a:pPr>
            <a:r>
              <a:rPr sz="3000" b="1" i="0">
                <a:solidFill>
                  <a:srgbClr val="16202E"/>
                </a:solidFill>
                <a:latin typeface="Helvetica Neue"/>
              </a:rPr>
              <a:t>2026 is the year cities wrote their AI policies.</a:t>
            </a:r>
          </a:p>
        </p:txBody>
      </p:sp>
      <p:sp>
        <p:nvSpPr>
          <p:cNvPr id="5" name="TextBox 4"/>
          <p:cNvSpPr txBox="1"/>
          <p:nvPr/>
        </p:nvSpPr>
        <p:spPr>
          <a:xfrm>
            <a:off x="822960" y="1481328"/>
            <a:ext cx="9509760" cy="548640"/>
          </a:xfrm>
          <a:prstGeom prst="rect">
            <a:avLst/>
          </a:prstGeom>
          <a:noFill/>
        </p:spPr>
        <p:txBody>
          <a:bodyPr wrap="square" lIns="0" rIns="0" tIns="0" bIns="0">
            <a:spAutoFit/>
          </a:bodyPr>
          <a:lstStyle/>
          <a:p>
            <a:pPr algn="l">
              <a:lnSpc>
                <a:spcPct val="132000"/>
              </a:lnSpc>
              <a:spcBef>
                <a:spcPts val="0"/>
              </a:spcBef>
              <a:spcAft>
                <a:spcPts val="0"/>
              </a:spcAft>
            </a:pPr>
            <a:r>
              <a:rPr sz="1450" b="0" i="0">
                <a:solidFill>
                  <a:srgbClr val="414D5C"/>
                </a:solidFill>
                <a:latin typeface="Helvetica Neue"/>
              </a:rPr>
              <a:t>The most common AI-related item on a council agenda this year is adopting an AI-use policy. That changes which products a city can actually say yes to.</a:t>
            </a:r>
          </a:p>
        </p:txBody>
      </p:sp>
      <p:sp>
        <p:nvSpPr>
          <p:cNvPr id="6" name="Rectangle 5"/>
          <p:cNvSpPr/>
          <p:nvPr/>
        </p:nvSpPr>
        <p:spPr>
          <a:xfrm>
            <a:off x="822960" y="2148840"/>
            <a:ext cx="10545775" cy="12700"/>
          </a:xfrm>
          <a:prstGeom prst="rect">
            <a:avLst/>
          </a:prstGeom>
          <a:solidFill>
            <a:srgbClr val="D7D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2569464"/>
            <a:ext cx="274320" cy="214884"/>
          </a:xfrm>
          <a:prstGeom prst="rect">
            <a:avLst/>
          </a:prstGeom>
          <a:solidFill>
            <a:srgbClr val="1F7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610612"/>
            <a:ext cx="274320" cy="182880"/>
          </a:xfrm>
          <a:prstGeom prst="rect">
            <a:avLst/>
          </a:prstGeom>
          <a:noFill/>
        </p:spPr>
        <p:txBody>
          <a:bodyPr wrap="square" lIns="0" rIns="0" tIns="0" bIns="0">
            <a:spAutoFit/>
          </a:bodyPr>
          <a:lstStyle/>
          <a:p>
            <a:pPr algn="ctr">
              <a:spcBef>
                <a:spcPts val="0"/>
              </a:spcBef>
              <a:spcAft>
                <a:spcPts val="0"/>
              </a:spcAft>
            </a:pPr>
            <a:r>
              <a:rPr sz="950" b="1" i="0">
                <a:solidFill>
                  <a:srgbClr val="FFFFFF"/>
                </a:solidFill>
                <a:latin typeface="Helvetica Neue"/>
              </a:rPr>
              <a:t>1</a:t>
            </a:r>
          </a:p>
        </p:txBody>
      </p:sp>
      <p:sp>
        <p:nvSpPr>
          <p:cNvPr id="9" name="TextBox 8"/>
          <p:cNvSpPr txBox="1"/>
          <p:nvPr/>
        </p:nvSpPr>
        <p:spPr>
          <a:xfrm>
            <a:off x="1325880" y="2532888"/>
            <a:ext cx="9692640" cy="822960"/>
          </a:xfrm>
          <a:prstGeom prst="rect">
            <a:avLst/>
          </a:prstGeom>
          <a:noFill/>
        </p:spPr>
        <p:txBody>
          <a:bodyPr wrap="square" lIns="0" rIns="0" tIns="0" bIns="0">
            <a:spAutoFit/>
          </a:bodyPr>
          <a:lstStyle/>
          <a:p>
            <a:pPr algn="l">
              <a:lnSpc>
                <a:spcPct val="125000"/>
              </a:lnSpc>
              <a:spcBef>
                <a:spcPts val="0"/>
              </a:spcBef>
              <a:spcAft>
                <a:spcPts val="0"/>
              </a:spcAft>
            </a:pPr>
            <a:r>
              <a:rPr sz="1600" b="1" i="0">
                <a:solidFill>
                  <a:srgbClr val="16202E"/>
                </a:solidFill>
                <a:latin typeface="Helvetica Neue"/>
              </a:rPr>
              <a:t>Incumbents shipped AI into installed bases.</a:t>
            </a:r>
          </a:p>
          <a:p>
            <a:pPr>
              <a:lnSpc>
                <a:spcPct val="135000"/>
              </a:lnSpc>
              <a:spcBef>
                <a:spcPts val="600"/>
              </a:spcBef>
              <a:spcAft>
                <a:spcPts val="0"/>
              </a:spcAft>
            </a:pPr>
            <a:r>
              <a:rPr sz="1350" b="0" i="0">
                <a:solidFill>
                  <a:srgbClr val="414D5C"/>
                </a:solidFill>
                <a:latin typeface="Helvetica Neue"/>
              </a:rPr>
              <a:t>CivicPlus, Granicus and OpenGov all released AI summarization in 2026 — built for the staff who prepare the meeting.</a:t>
            </a:r>
          </a:p>
        </p:txBody>
      </p:sp>
      <p:sp>
        <p:nvSpPr>
          <p:cNvPr id="10" name="Rectangle 9"/>
          <p:cNvSpPr/>
          <p:nvPr/>
        </p:nvSpPr>
        <p:spPr>
          <a:xfrm>
            <a:off x="822960" y="3593592"/>
            <a:ext cx="274320" cy="214884"/>
          </a:xfrm>
          <a:prstGeom prst="rect">
            <a:avLst/>
          </a:prstGeom>
          <a:solidFill>
            <a:srgbClr val="1F7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3634740"/>
            <a:ext cx="274320" cy="182880"/>
          </a:xfrm>
          <a:prstGeom prst="rect">
            <a:avLst/>
          </a:prstGeom>
          <a:noFill/>
        </p:spPr>
        <p:txBody>
          <a:bodyPr wrap="square" lIns="0" rIns="0" tIns="0" bIns="0">
            <a:spAutoFit/>
          </a:bodyPr>
          <a:lstStyle/>
          <a:p>
            <a:pPr algn="ctr">
              <a:spcBef>
                <a:spcPts val="0"/>
              </a:spcBef>
              <a:spcAft>
                <a:spcPts val="0"/>
              </a:spcAft>
            </a:pPr>
            <a:r>
              <a:rPr sz="950" b="1" i="0">
                <a:solidFill>
                  <a:srgbClr val="FFFFFF"/>
                </a:solidFill>
                <a:latin typeface="Helvetica Neue"/>
              </a:rPr>
              <a:t>2</a:t>
            </a:r>
          </a:p>
        </p:txBody>
      </p:sp>
      <p:sp>
        <p:nvSpPr>
          <p:cNvPr id="12" name="TextBox 11"/>
          <p:cNvSpPr txBox="1"/>
          <p:nvPr/>
        </p:nvSpPr>
        <p:spPr>
          <a:xfrm>
            <a:off x="1325880" y="3557016"/>
            <a:ext cx="9692640" cy="822960"/>
          </a:xfrm>
          <a:prstGeom prst="rect">
            <a:avLst/>
          </a:prstGeom>
          <a:noFill/>
        </p:spPr>
        <p:txBody>
          <a:bodyPr wrap="square" lIns="0" rIns="0" tIns="0" bIns="0">
            <a:spAutoFit/>
          </a:bodyPr>
          <a:lstStyle/>
          <a:p>
            <a:pPr algn="l">
              <a:lnSpc>
                <a:spcPct val="125000"/>
              </a:lnSpc>
              <a:spcBef>
                <a:spcPts val="0"/>
              </a:spcBef>
              <a:spcAft>
                <a:spcPts val="0"/>
              </a:spcAft>
            </a:pPr>
            <a:r>
              <a:rPr sz="1600" b="1" i="0">
                <a:solidFill>
                  <a:srgbClr val="16202E"/>
                </a:solidFill>
                <a:latin typeface="Helvetica Neue"/>
              </a:rPr>
              <a:t>Councils responded with governance, not enthusiasm.</a:t>
            </a:r>
          </a:p>
          <a:p>
            <a:pPr>
              <a:lnSpc>
                <a:spcPct val="135000"/>
              </a:lnSpc>
              <a:spcBef>
                <a:spcPts val="600"/>
              </a:spcBef>
              <a:spcAft>
                <a:spcPts val="0"/>
              </a:spcAft>
            </a:pPr>
            <a:r>
              <a:rPr sz="1350" b="0" i="0">
                <a:solidFill>
                  <a:srgbClr val="414D5C"/>
                </a:solidFill>
                <a:latin typeface="Helvetica Neue"/>
              </a:rPr>
              <a:t>67% of municipal leaders report actively integrating AI; the agenda item is the use policy, and the objection is hallucination.</a:t>
            </a:r>
          </a:p>
        </p:txBody>
      </p:sp>
      <p:sp>
        <p:nvSpPr>
          <p:cNvPr id="13" name="Rectangle 12"/>
          <p:cNvSpPr/>
          <p:nvPr/>
        </p:nvSpPr>
        <p:spPr>
          <a:xfrm>
            <a:off x="822960" y="4617720"/>
            <a:ext cx="274320" cy="214884"/>
          </a:xfrm>
          <a:prstGeom prst="rect">
            <a:avLst/>
          </a:prstGeom>
          <a:solidFill>
            <a:srgbClr val="1F7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4658868"/>
            <a:ext cx="274320" cy="182880"/>
          </a:xfrm>
          <a:prstGeom prst="rect">
            <a:avLst/>
          </a:prstGeom>
          <a:noFill/>
        </p:spPr>
        <p:txBody>
          <a:bodyPr wrap="square" lIns="0" rIns="0" tIns="0" bIns="0">
            <a:spAutoFit/>
          </a:bodyPr>
          <a:lstStyle/>
          <a:p>
            <a:pPr algn="ctr">
              <a:spcBef>
                <a:spcPts val="0"/>
              </a:spcBef>
              <a:spcAft>
                <a:spcPts val="0"/>
              </a:spcAft>
            </a:pPr>
            <a:r>
              <a:rPr sz="950" b="1" i="0">
                <a:solidFill>
                  <a:srgbClr val="FFFFFF"/>
                </a:solidFill>
                <a:latin typeface="Helvetica Neue"/>
              </a:rPr>
              <a:t>3</a:t>
            </a:r>
          </a:p>
        </p:txBody>
      </p:sp>
      <p:sp>
        <p:nvSpPr>
          <p:cNvPr id="15" name="TextBox 14"/>
          <p:cNvSpPr txBox="1"/>
          <p:nvPr/>
        </p:nvSpPr>
        <p:spPr>
          <a:xfrm>
            <a:off x="1325880" y="4581144"/>
            <a:ext cx="9692640" cy="822960"/>
          </a:xfrm>
          <a:prstGeom prst="rect">
            <a:avLst/>
          </a:prstGeom>
          <a:noFill/>
        </p:spPr>
        <p:txBody>
          <a:bodyPr wrap="square" lIns="0" rIns="0" tIns="0" bIns="0">
            <a:spAutoFit/>
          </a:bodyPr>
          <a:lstStyle/>
          <a:p>
            <a:pPr algn="l">
              <a:lnSpc>
                <a:spcPct val="125000"/>
              </a:lnSpc>
              <a:spcBef>
                <a:spcPts val="0"/>
              </a:spcBef>
              <a:spcAft>
                <a:spcPts val="0"/>
              </a:spcAft>
            </a:pPr>
            <a:r>
              <a:rPr sz="1600" b="1" i="0">
                <a:solidFill>
                  <a:srgbClr val="16202E"/>
                </a:solidFill>
                <a:latin typeface="Helvetica Neue"/>
              </a:rPr>
              <a:t>So the adoptable form is citation-first.</a:t>
            </a:r>
          </a:p>
          <a:p>
            <a:pPr>
              <a:lnSpc>
                <a:spcPct val="135000"/>
              </a:lnSpc>
              <a:spcBef>
                <a:spcPts val="600"/>
              </a:spcBef>
              <a:spcAft>
                <a:spcPts val="0"/>
              </a:spcAft>
            </a:pPr>
            <a:r>
              <a:rPr sz="1350" b="0" i="0">
                <a:solidFill>
                  <a:srgbClr val="414D5C"/>
                </a:solidFill>
                <a:latin typeface="Helvetica Neue"/>
              </a:rPr>
              <a:t>A tool that shows the page the answer came from clears an AI-use policy. A tool that summarizes without one does not.</a:t>
            </a:r>
          </a:p>
        </p:txBody>
      </p:sp>
      <p:sp>
        <p:nvSpPr>
          <p:cNvPr id="16" name="TextBox 15"/>
          <p:cNvSpPr txBox="1"/>
          <p:nvPr/>
        </p:nvSpPr>
        <p:spPr>
          <a:xfrm>
            <a:off x="822960" y="5696712"/>
            <a:ext cx="10241280" cy="457200"/>
          </a:xfrm>
          <a:prstGeom prst="rect">
            <a:avLst/>
          </a:prstGeom>
          <a:noFill/>
        </p:spPr>
        <p:txBody>
          <a:bodyPr wrap="square" lIns="0" rIns="0" tIns="0" bIns="0">
            <a:spAutoFit/>
          </a:bodyPr>
          <a:lstStyle/>
          <a:p>
            <a:pPr algn="l">
              <a:lnSpc>
                <a:spcPct val="130000"/>
              </a:lnSpc>
              <a:spcBef>
                <a:spcPts val="0"/>
              </a:spcBef>
              <a:spcAft>
                <a:spcPts val="0"/>
              </a:spcAft>
            </a:pPr>
            <a:r>
              <a:rPr sz="1500" b="1" i="0">
                <a:solidFill>
                  <a:srgbClr val="16202E"/>
                </a:solidFill>
                <a:latin typeface="Helvetica Neue"/>
              </a:rPr>
              <a:t>The window is the gap between incumbents serving staff and someone serving the official.</a:t>
            </a:r>
          </a:p>
        </p:txBody>
      </p:sp>
      <p:sp>
        <p:nvSpPr>
          <p:cNvPr id="17" name="TextBox 16"/>
          <p:cNvSpPr txBox="1"/>
          <p:nvPr/>
        </p:nvSpPr>
        <p:spPr>
          <a:xfrm>
            <a:off x="822960" y="6053328"/>
            <a:ext cx="10332720" cy="274320"/>
          </a:xfrm>
          <a:prstGeom prst="rect">
            <a:avLst/>
          </a:prstGeom>
          <a:noFill/>
        </p:spPr>
        <p:txBody>
          <a:bodyPr wrap="square" lIns="0" rIns="0" tIns="0" bIns="0">
            <a:spAutoFit/>
          </a:bodyPr>
          <a:lstStyle/>
          <a:p>
            <a:pPr algn="l">
              <a:lnSpc>
                <a:spcPct val="125000"/>
              </a:lnSpc>
              <a:spcBef>
                <a:spcPts val="0"/>
              </a:spcBef>
              <a:spcAft>
                <a:spcPts val="0"/>
              </a:spcAft>
            </a:pPr>
            <a:r>
              <a:rPr sz="900" b="0" i="0">
                <a:solidFill>
                  <a:srgbClr val="8A939E"/>
                </a:solidFill>
                <a:latin typeface="Helvetica Neue"/>
              </a:rPr>
              <a:t>Source:  CivicPlus/Granicus AI releases 2026; EY 2025 municipal-leader survey; civiciq.com, "Government AI Adoption in 2026."</a:t>
            </a:r>
          </a:p>
        </p:txBody>
      </p:sp>
      <p:sp>
        <p:nvSpPr>
          <p:cNvPr id="18" name="TextBox 17"/>
          <p:cNvSpPr txBox="1"/>
          <p:nvPr/>
        </p:nvSpPr>
        <p:spPr>
          <a:xfrm>
            <a:off x="822960" y="6419088"/>
            <a:ext cx="8778240" cy="274320"/>
          </a:xfrm>
          <a:prstGeom prst="rect">
            <a:avLst/>
          </a:prstGeom>
          <a:noFill/>
        </p:spPr>
        <p:txBody>
          <a:bodyPr wrap="square" lIns="0" rIns="0" tIns="0" bIns="0">
            <a:spAutoFit/>
          </a:bodyPr>
          <a:lstStyle/>
          <a:p>
            <a:pPr algn="l">
              <a:spcBef>
                <a:spcPts val="0"/>
              </a:spcBef>
              <a:spcAft>
                <a:spcPts val="0"/>
              </a:spcAft>
            </a:pPr>
            <a:r>
              <a:rPr sz="850" b="0" i="0">
                <a:solidFill>
                  <a:srgbClr val="8A939E"/>
                </a:solidFill>
                <a:latin typeface="Helvetica Neue"/>
              </a:rPr>
              <a:t>Strata Civic Solutions  ·  Pitch deck v1, 1 September 2026  ·  Draft for joseleos  ·  Confidential</a:t>
            </a:r>
          </a:p>
        </p:txBody>
      </p:sp>
      <p:sp>
        <p:nvSpPr>
          <p:cNvPr id="19" name="TextBox 18"/>
          <p:cNvSpPr txBox="1"/>
          <p:nvPr/>
        </p:nvSpPr>
        <p:spPr>
          <a:xfrm>
            <a:off x="10454335" y="6419088"/>
            <a:ext cx="914400" cy="274320"/>
          </a:xfrm>
          <a:prstGeom prst="rect">
            <a:avLst/>
          </a:prstGeom>
          <a:noFill/>
        </p:spPr>
        <p:txBody>
          <a:bodyPr wrap="square" lIns="0" rIns="0" tIns="0" bIns="0">
            <a:spAutoFit/>
          </a:bodyPr>
          <a:lstStyle/>
          <a:p>
            <a:pPr algn="r">
              <a:spcBef>
                <a:spcPts val="0"/>
              </a:spcBef>
              <a:spcAft>
                <a:spcPts val="0"/>
              </a:spcAft>
            </a:pPr>
            <a:r>
              <a:rPr sz="850" b="0" i="0">
                <a:solidFill>
                  <a:srgbClr val="8A939E"/>
                </a:solidFill>
                <a:latin typeface="Helvetica Neue"/>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10545775" cy="274320"/>
          </a:xfrm>
          <a:prstGeom prst="rect">
            <a:avLst/>
          </a:prstGeom>
          <a:noFill/>
        </p:spPr>
        <p:txBody>
          <a:bodyPr wrap="square" lIns="0" rIns="0" tIns="0" bIns="0">
            <a:spAutoFit/>
          </a:bodyPr>
          <a:lstStyle/>
          <a:p>
            <a:pPr algn="l">
              <a:spcBef>
                <a:spcPts val="0"/>
              </a:spcBef>
              <a:spcAft>
                <a:spcPts val="0"/>
              </a:spcAft>
            </a:pPr>
            <a:r>
              <a:rPr sz="1050" b="1" i="0">
                <a:solidFill>
                  <a:srgbClr val="1F7A6C"/>
                </a:solidFill>
                <a:latin typeface="Helvetica Neue"/>
              </a:rPr>
              <a:t>THE PRODUCT</a:t>
            </a:r>
          </a:p>
        </p:txBody>
      </p:sp>
      <p:sp>
        <p:nvSpPr>
          <p:cNvPr id="4" name="TextBox 3"/>
          <p:cNvSpPr txBox="1"/>
          <p:nvPr/>
        </p:nvSpPr>
        <p:spPr>
          <a:xfrm>
            <a:off x="822960" y="914400"/>
            <a:ext cx="10545775" cy="475488"/>
          </a:xfrm>
          <a:prstGeom prst="rect">
            <a:avLst/>
          </a:prstGeom>
          <a:noFill/>
        </p:spPr>
        <p:txBody>
          <a:bodyPr wrap="square" lIns="0" rIns="0" tIns="0" bIns="0">
            <a:spAutoFit/>
          </a:bodyPr>
          <a:lstStyle/>
          <a:p>
            <a:pPr algn="l">
              <a:lnSpc>
                <a:spcPct val="106000"/>
              </a:lnSpc>
              <a:spcBef>
                <a:spcPts val="0"/>
              </a:spcBef>
              <a:spcAft>
                <a:spcPts val="0"/>
              </a:spcAft>
            </a:pPr>
            <a:r>
              <a:rPr sz="3000" b="1" i="0">
                <a:solidFill>
                  <a:srgbClr val="16202E"/>
                </a:solidFill>
                <a:latin typeface="Helvetica Neue"/>
              </a:rPr>
              <a:t>Ask a question. See the page it came from.</a:t>
            </a:r>
          </a:p>
        </p:txBody>
      </p:sp>
      <p:sp>
        <p:nvSpPr>
          <p:cNvPr id="5" name="TextBox 4"/>
          <p:cNvSpPr txBox="1"/>
          <p:nvPr/>
        </p:nvSpPr>
        <p:spPr>
          <a:xfrm>
            <a:off x="822960" y="1481328"/>
            <a:ext cx="9509760" cy="548640"/>
          </a:xfrm>
          <a:prstGeom prst="rect">
            <a:avLst/>
          </a:prstGeom>
          <a:noFill/>
        </p:spPr>
        <p:txBody>
          <a:bodyPr wrap="square" lIns="0" rIns="0" tIns="0" bIns="0">
            <a:spAutoFit/>
          </a:bodyPr>
          <a:lstStyle/>
          <a:p>
            <a:pPr algn="l">
              <a:lnSpc>
                <a:spcPct val="132000"/>
              </a:lnSpc>
              <a:spcBef>
                <a:spcPts val="0"/>
              </a:spcBef>
              <a:spcAft>
                <a:spcPts val="0"/>
              </a:spcAft>
            </a:pPr>
            <a:r>
              <a:rPr sz="1450" b="0" i="0">
                <a:solidFill>
                  <a:srgbClr val="414D5C"/>
                </a:solidFill>
                <a:latin typeface="Helvetica Neue"/>
              </a:rPr>
              <a:t>Three surfaces, one job: walk into the meeting knowing the record. Built and live today.</a:t>
            </a:r>
          </a:p>
        </p:txBody>
      </p:sp>
      <p:sp>
        <p:nvSpPr>
          <p:cNvPr id="6" name="Rectangle 5"/>
          <p:cNvSpPr/>
          <p:nvPr/>
        </p:nvSpPr>
        <p:spPr>
          <a:xfrm>
            <a:off x="822960" y="1933956"/>
            <a:ext cx="10545775" cy="12700"/>
          </a:xfrm>
          <a:prstGeom prst="rect">
            <a:avLst/>
          </a:prstGeom>
          <a:solidFill>
            <a:srgbClr val="D7D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2318004"/>
            <a:ext cx="3291840" cy="2606040"/>
          </a:xfrm>
          <a:prstGeom prst="rect">
            <a:avLst/>
          </a:prstGeom>
          <a:solidFill>
            <a:srgbClr val="FFFFFF"/>
          </a:solidFill>
          <a:ln w="9525">
            <a:solidFill>
              <a:srgbClr val="D7DC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 y="2318004"/>
            <a:ext cx="3291840" cy="38100"/>
          </a:xfrm>
          <a:prstGeom prst="rect">
            <a:avLst/>
          </a:prstGeom>
          <a:solidFill>
            <a:srgbClr val="1F7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78992" y="2610612"/>
            <a:ext cx="2788920" cy="2103120"/>
          </a:xfrm>
          <a:prstGeom prst="rect">
            <a:avLst/>
          </a:prstGeom>
          <a:noFill/>
        </p:spPr>
        <p:txBody>
          <a:bodyPr wrap="square" lIns="0" rIns="0" tIns="0" bIns="0">
            <a:spAutoFit/>
          </a:bodyPr>
          <a:lstStyle/>
          <a:p>
            <a:pPr algn="l">
              <a:spcBef>
                <a:spcPts val="0"/>
              </a:spcBef>
              <a:spcAft>
                <a:spcPts val="0"/>
              </a:spcAft>
            </a:pPr>
            <a:r>
              <a:rPr sz="1800" b="1" i="0">
                <a:solidFill>
                  <a:srgbClr val="16202E"/>
                </a:solidFill>
                <a:latin typeface="Helvetica Neue"/>
              </a:rPr>
              <a:t>Ask Strata</a:t>
            </a:r>
          </a:p>
          <a:p>
            <a:pPr>
              <a:lnSpc>
                <a:spcPct val="132000"/>
              </a:lnSpc>
              <a:spcBef>
                <a:spcPts val="1000"/>
              </a:spcBef>
              <a:spcAft>
                <a:spcPts val="0"/>
              </a:spcAft>
            </a:pPr>
            <a:r>
              <a:rPr sz="1250" b="0" i="0">
                <a:solidFill>
                  <a:srgbClr val="414D5C"/>
                </a:solidFill>
                <a:latin typeface="Helvetica Neue"/>
              </a:rPr>
              <a:t>Plain-language Q&amp;A over the city's own budgets, ordinances, minutes and contracts. Every answer resolves to a specific document page.</a:t>
            </a:r>
          </a:p>
          <a:p>
            <a:pPr>
              <a:lnSpc>
                <a:spcPct val="130000"/>
              </a:lnSpc>
              <a:spcBef>
                <a:spcPts val="1000"/>
              </a:spcBef>
              <a:spcAft>
                <a:spcPts val="0"/>
              </a:spcAft>
            </a:pPr>
            <a:r>
              <a:rPr sz="1200" b="0" i="1">
                <a:solidFill>
                  <a:srgbClr val="1F7A6C"/>
                </a:solidFill>
                <a:latin typeface="Helvetica Neue"/>
              </a:rPr>
              <a:t>Outcome: the question you had at 10pm, answered before the meeting.</a:t>
            </a:r>
          </a:p>
        </p:txBody>
      </p:sp>
      <p:sp>
        <p:nvSpPr>
          <p:cNvPr id="10" name="Rectangle 9"/>
          <p:cNvSpPr/>
          <p:nvPr/>
        </p:nvSpPr>
        <p:spPr>
          <a:xfrm>
            <a:off x="4343400" y="2318004"/>
            <a:ext cx="3291840" cy="2606040"/>
          </a:xfrm>
          <a:prstGeom prst="rect">
            <a:avLst/>
          </a:prstGeom>
          <a:solidFill>
            <a:srgbClr val="FFFFFF"/>
          </a:solidFill>
          <a:ln w="9525">
            <a:solidFill>
              <a:srgbClr val="D7DC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43400" y="2318004"/>
            <a:ext cx="3291840" cy="38100"/>
          </a:xfrm>
          <a:prstGeom prst="rect">
            <a:avLst/>
          </a:prstGeom>
          <a:solidFill>
            <a:srgbClr val="1F7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9432" y="2610612"/>
            <a:ext cx="2788920" cy="2103120"/>
          </a:xfrm>
          <a:prstGeom prst="rect">
            <a:avLst/>
          </a:prstGeom>
          <a:noFill/>
        </p:spPr>
        <p:txBody>
          <a:bodyPr wrap="square" lIns="0" rIns="0" tIns="0" bIns="0">
            <a:spAutoFit/>
          </a:bodyPr>
          <a:lstStyle/>
          <a:p>
            <a:pPr algn="l">
              <a:spcBef>
                <a:spcPts val="0"/>
              </a:spcBef>
              <a:spcAft>
                <a:spcPts val="0"/>
              </a:spcAft>
            </a:pPr>
            <a:r>
              <a:rPr sz="1800" b="1" i="0">
                <a:solidFill>
                  <a:srgbClr val="16202E"/>
                </a:solidFill>
                <a:latin typeface="Helvetica Neue"/>
              </a:rPr>
              <a:t>Meeting Prep</a:t>
            </a:r>
          </a:p>
          <a:p>
            <a:pPr>
              <a:lnSpc>
                <a:spcPct val="132000"/>
              </a:lnSpc>
              <a:spcBef>
                <a:spcPts val="1000"/>
              </a:spcBef>
              <a:spcAft>
                <a:spcPts val="0"/>
              </a:spcAft>
            </a:pPr>
            <a:r>
              <a:rPr sz="1250" b="0" i="0">
                <a:solidFill>
                  <a:srgbClr val="414D5C"/>
                </a:solidFill>
                <a:latin typeface="Helvetica Neue"/>
              </a:rPr>
              <a:t>Each agenda item briefed with its own history and what it has cost the city before.</a:t>
            </a:r>
          </a:p>
          <a:p>
            <a:pPr>
              <a:lnSpc>
                <a:spcPct val="130000"/>
              </a:lnSpc>
              <a:spcBef>
                <a:spcPts val="1000"/>
              </a:spcBef>
              <a:spcAft>
                <a:spcPts val="0"/>
              </a:spcAft>
            </a:pPr>
            <a:r>
              <a:rPr sz="1200" b="0" i="1">
                <a:solidFill>
                  <a:srgbClr val="1F7A6C"/>
                </a:solidFill>
                <a:latin typeface="Helvetica Neue"/>
              </a:rPr>
              <a:t>Outcome: hours of packet reading become minutes of reading that matters.</a:t>
            </a:r>
          </a:p>
        </p:txBody>
      </p:sp>
      <p:sp>
        <p:nvSpPr>
          <p:cNvPr id="13" name="Rectangle 12"/>
          <p:cNvSpPr/>
          <p:nvPr/>
        </p:nvSpPr>
        <p:spPr>
          <a:xfrm>
            <a:off x="7863840" y="2318004"/>
            <a:ext cx="3291840" cy="2606040"/>
          </a:xfrm>
          <a:prstGeom prst="rect">
            <a:avLst/>
          </a:prstGeom>
          <a:solidFill>
            <a:srgbClr val="FFFFFF"/>
          </a:solidFill>
          <a:ln w="9525">
            <a:solidFill>
              <a:srgbClr val="D7DC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863840" y="2318004"/>
            <a:ext cx="3291840" cy="38100"/>
          </a:xfrm>
          <a:prstGeom prst="rect">
            <a:avLst/>
          </a:prstGeom>
          <a:solidFill>
            <a:srgbClr val="1F7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19872" y="2610612"/>
            <a:ext cx="2788920" cy="2103120"/>
          </a:xfrm>
          <a:prstGeom prst="rect">
            <a:avLst/>
          </a:prstGeom>
          <a:noFill/>
        </p:spPr>
        <p:txBody>
          <a:bodyPr wrap="square" lIns="0" rIns="0" tIns="0" bIns="0">
            <a:spAutoFit/>
          </a:bodyPr>
          <a:lstStyle/>
          <a:p>
            <a:pPr algn="l">
              <a:spcBef>
                <a:spcPts val="0"/>
              </a:spcBef>
              <a:spcAft>
                <a:spcPts val="0"/>
              </a:spcAft>
            </a:pPr>
            <a:r>
              <a:rPr sz="1800" b="1" i="0">
                <a:solidFill>
                  <a:srgbClr val="16202E"/>
                </a:solidFill>
                <a:latin typeface="Helvetica Neue"/>
              </a:rPr>
              <a:t>City Snapshot</a:t>
            </a:r>
          </a:p>
          <a:p>
            <a:pPr>
              <a:lnSpc>
                <a:spcPct val="132000"/>
              </a:lnSpc>
              <a:spcBef>
                <a:spcPts val="1000"/>
              </a:spcBef>
              <a:spcAft>
                <a:spcPts val="0"/>
              </a:spcAft>
            </a:pPr>
            <a:r>
              <a:rPr sz="1250" b="0" i="0">
                <a:solidFill>
                  <a:srgbClr val="414D5C"/>
                </a:solidFill>
                <a:latin typeface="Helvetica Neue"/>
              </a:rPr>
              <a:t>One page: revenue, spending, tax rates, payroll by position.</a:t>
            </a:r>
          </a:p>
          <a:p>
            <a:pPr>
              <a:lnSpc>
                <a:spcPct val="130000"/>
              </a:lnSpc>
              <a:spcBef>
                <a:spcPts val="1000"/>
              </a:spcBef>
              <a:spcAft>
                <a:spcPts val="0"/>
              </a:spcAft>
            </a:pPr>
            <a:r>
              <a:rPr sz="1200" b="0" i="1">
                <a:solidFill>
                  <a:srgbClr val="1F7A6C"/>
                </a:solidFill>
                <a:latin typeface="Helvetica Neue"/>
              </a:rPr>
              <a:t>Outcome: a new board volunteer is useful in their first month, not their first year.</a:t>
            </a:r>
          </a:p>
        </p:txBody>
      </p:sp>
      <p:sp>
        <p:nvSpPr>
          <p:cNvPr id="16" name="TextBox 15"/>
          <p:cNvSpPr txBox="1"/>
          <p:nvPr/>
        </p:nvSpPr>
        <p:spPr>
          <a:xfrm>
            <a:off x="822960" y="5198364"/>
            <a:ext cx="10241280" cy="457200"/>
          </a:xfrm>
          <a:prstGeom prst="rect">
            <a:avLst/>
          </a:prstGeom>
          <a:noFill/>
        </p:spPr>
        <p:txBody>
          <a:bodyPr wrap="square" lIns="0" rIns="0" tIns="0" bIns="0">
            <a:spAutoFit/>
          </a:bodyPr>
          <a:lstStyle/>
          <a:p>
            <a:pPr algn="l">
              <a:spcBef>
                <a:spcPts val="0"/>
              </a:spcBef>
              <a:spcAft>
                <a:spcPts val="0"/>
              </a:spcAft>
            </a:pPr>
            <a:r>
              <a:rPr sz="1450" b="1" i="0">
                <a:solidFill>
                  <a:srgbClr val="16202E"/>
                </a:solidFill>
                <a:latin typeface="Helvetica Neue"/>
              </a:rPr>
              <a:t>Setup is on us. The city does not change how it works, and nothing migrates.</a:t>
            </a:r>
          </a:p>
        </p:txBody>
      </p:sp>
      <p:sp>
        <p:nvSpPr>
          <p:cNvPr id="17" name="TextBox 16"/>
          <p:cNvSpPr txBox="1"/>
          <p:nvPr/>
        </p:nvSpPr>
        <p:spPr>
          <a:xfrm>
            <a:off x="822960" y="6053328"/>
            <a:ext cx="10332720" cy="274320"/>
          </a:xfrm>
          <a:prstGeom prst="rect">
            <a:avLst/>
          </a:prstGeom>
          <a:noFill/>
        </p:spPr>
        <p:txBody>
          <a:bodyPr wrap="square" lIns="0" rIns="0" tIns="0" bIns="0">
            <a:spAutoFit/>
          </a:bodyPr>
          <a:lstStyle/>
          <a:p>
            <a:pPr algn="l">
              <a:lnSpc>
                <a:spcPct val="125000"/>
              </a:lnSpc>
              <a:spcBef>
                <a:spcPts val="0"/>
              </a:spcBef>
              <a:spcAft>
                <a:spcPts val="0"/>
              </a:spcAft>
            </a:pPr>
            <a:r>
              <a:rPr sz="900" b="0" i="0">
                <a:solidFill>
                  <a:srgbClr val="8A939E"/>
                </a:solidFill>
                <a:latin typeface="Helvetica Neue"/>
              </a:rPr>
              <a:t>Source:  stratacivicsolutions.com — /what-is-strata, /how-it-works (fetched 30 Aug 2026).</a:t>
            </a:r>
          </a:p>
        </p:txBody>
      </p:sp>
      <p:sp>
        <p:nvSpPr>
          <p:cNvPr id="18" name="TextBox 17"/>
          <p:cNvSpPr txBox="1"/>
          <p:nvPr/>
        </p:nvSpPr>
        <p:spPr>
          <a:xfrm>
            <a:off x="822960" y="6419088"/>
            <a:ext cx="8778240" cy="274320"/>
          </a:xfrm>
          <a:prstGeom prst="rect">
            <a:avLst/>
          </a:prstGeom>
          <a:noFill/>
        </p:spPr>
        <p:txBody>
          <a:bodyPr wrap="square" lIns="0" rIns="0" tIns="0" bIns="0">
            <a:spAutoFit/>
          </a:bodyPr>
          <a:lstStyle/>
          <a:p>
            <a:pPr algn="l">
              <a:spcBef>
                <a:spcPts val="0"/>
              </a:spcBef>
              <a:spcAft>
                <a:spcPts val="0"/>
              </a:spcAft>
            </a:pPr>
            <a:r>
              <a:rPr sz="850" b="0" i="0">
                <a:solidFill>
                  <a:srgbClr val="8A939E"/>
                </a:solidFill>
                <a:latin typeface="Helvetica Neue"/>
              </a:rPr>
              <a:t>Strata Civic Solutions  ·  Pitch deck v1, 1 September 2026  ·  Draft for joseleos  ·  Confidential</a:t>
            </a:r>
          </a:p>
        </p:txBody>
      </p:sp>
      <p:sp>
        <p:nvSpPr>
          <p:cNvPr id="19" name="TextBox 18"/>
          <p:cNvSpPr txBox="1"/>
          <p:nvPr/>
        </p:nvSpPr>
        <p:spPr>
          <a:xfrm>
            <a:off x="10454335" y="6419088"/>
            <a:ext cx="914400" cy="274320"/>
          </a:xfrm>
          <a:prstGeom prst="rect">
            <a:avLst/>
          </a:prstGeom>
          <a:noFill/>
        </p:spPr>
        <p:txBody>
          <a:bodyPr wrap="square" lIns="0" rIns="0" tIns="0" bIns="0">
            <a:spAutoFit/>
          </a:bodyPr>
          <a:lstStyle/>
          <a:p>
            <a:pPr algn="r">
              <a:spcBef>
                <a:spcPts val="0"/>
              </a:spcBef>
              <a:spcAft>
                <a:spcPts val="0"/>
              </a:spcAft>
            </a:pPr>
            <a:r>
              <a:rPr sz="850" b="0" i="0">
                <a:solidFill>
                  <a:srgbClr val="8A939E"/>
                </a:solidFill>
                <a:latin typeface="Helvetica Neue"/>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2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1371600"/>
            <a:ext cx="1234440" cy="38100"/>
          </a:xfrm>
          <a:prstGeom prst="rect">
            <a:avLst/>
          </a:prstGeom>
          <a:solidFill>
            <a:srgbClr val="1F7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22960" y="1490472"/>
            <a:ext cx="868680" cy="38100"/>
          </a:xfrm>
          <a:prstGeom prst="rect">
            <a:avLst/>
          </a:prstGeom>
          <a:solidFill>
            <a:srgbClr val="1F7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1609344"/>
            <a:ext cx="548640" cy="38100"/>
          </a:xfrm>
          <a:prstGeom prst="rect">
            <a:avLst/>
          </a:prstGeom>
          <a:solidFill>
            <a:srgbClr val="1F7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148840"/>
            <a:ext cx="10058400" cy="1828800"/>
          </a:xfrm>
          <a:prstGeom prst="rect">
            <a:avLst/>
          </a:prstGeom>
          <a:noFill/>
        </p:spPr>
        <p:txBody>
          <a:bodyPr wrap="square" lIns="0" rIns="0" tIns="0" bIns="0">
            <a:spAutoFit/>
          </a:bodyPr>
          <a:lstStyle/>
          <a:p>
            <a:pPr algn="l">
              <a:lnSpc>
                <a:spcPct val="118000"/>
              </a:lnSpc>
              <a:spcBef>
                <a:spcPts val="0"/>
              </a:spcBef>
              <a:spcAft>
                <a:spcPts val="0"/>
              </a:spcAft>
            </a:pPr>
            <a:r>
              <a:rPr sz="4000" b="1" i="0">
                <a:solidFill>
                  <a:srgbClr val="FFFFFF"/>
                </a:solidFill>
                <a:latin typeface="Helvetica Neue"/>
              </a:rPr>
              <a:t>“An answer you cannot check
is an answer you cannot use.”</a:t>
            </a:r>
          </a:p>
        </p:txBody>
      </p:sp>
      <p:sp>
        <p:nvSpPr>
          <p:cNvPr id="7" name="TextBox 6"/>
          <p:cNvSpPr txBox="1"/>
          <p:nvPr/>
        </p:nvSpPr>
        <p:spPr>
          <a:xfrm>
            <a:off x="822960" y="4160520"/>
            <a:ext cx="9326880" cy="1280160"/>
          </a:xfrm>
          <a:prstGeom prst="rect">
            <a:avLst/>
          </a:prstGeom>
          <a:noFill/>
        </p:spPr>
        <p:txBody>
          <a:bodyPr wrap="square" lIns="0" rIns="0" tIns="0" bIns="0">
            <a:spAutoFit/>
          </a:bodyPr>
          <a:lstStyle/>
          <a:p>
            <a:pPr algn="l">
              <a:lnSpc>
                <a:spcPct val="142000"/>
              </a:lnSpc>
              <a:spcBef>
                <a:spcPts val="0"/>
              </a:spcBef>
              <a:spcAft>
                <a:spcPts val="0"/>
              </a:spcAft>
            </a:pPr>
            <a:r>
              <a:rPr sz="1600" b="0" i="0">
                <a:solidFill>
                  <a:srgbClr val="B6C1C8"/>
                </a:solidFill>
                <a:latin typeface="Helvetica Neue"/>
              </a:rPr>
              <a:t>The citation is not a feature of the product. It is the product. The official verifies the page and then speaks — so the vote, the discussion and the judgment stay exactly where the law puts them.</a:t>
            </a:r>
          </a:p>
        </p:txBody>
      </p:sp>
      <p:sp>
        <p:nvSpPr>
          <p:cNvPr id="8" name="TextBox 7"/>
          <p:cNvSpPr txBox="1"/>
          <p:nvPr/>
        </p:nvSpPr>
        <p:spPr>
          <a:xfrm>
            <a:off x="822960" y="5577840"/>
            <a:ext cx="9326880" cy="548640"/>
          </a:xfrm>
          <a:prstGeom prst="rect">
            <a:avLst/>
          </a:prstGeom>
          <a:noFill/>
        </p:spPr>
        <p:txBody>
          <a:bodyPr wrap="square" lIns="0" rIns="0" tIns="0" bIns="0">
            <a:spAutoFit/>
          </a:bodyPr>
          <a:lstStyle/>
          <a:p>
            <a:pPr algn="l">
              <a:lnSpc>
                <a:spcPct val="135000"/>
              </a:lnSpc>
              <a:spcBef>
                <a:spcPts val="0"/>
              </a:spcBef>
              <a:spcAft>
                <a:spcPts val="0"/>
              </a:spcAft>
            </a:pPr>
            <a:r>
              <a:rPr sz="1250" b="0" i="0">
                <a:solidFill>
                  <a:srgbClr val="1F7A6C"/>
                </a:solidFill>
                <a:latin typeface="Helvetica Neue"/>
              </a:rPr>
              <a:t>Strata assists; it does not draft the record or determine the vote. An error is an embarrassment and a churn event — not statutory liability. That boundary is a design decision.</a:t>
            </a:r>
          </a:p>
        </p:txBody>
      </p:sp>
      <p:sp>
        <p:nvSpPr>
          <p:cNvPr id="9" name="TextBox 8"/>
          <p:cNvSpPr txBox="1"/>
          <p:nvPr/>
        </p:nvSpPr>
        <p:spPr>
          <a:xfrm>
            <a:off x="822960" y="6053328"/>
            <a:ext cx="10332720" cy="274320"/>
          </a:xfrm>
          <a:prstGeom prst="rect">
            <a:avLst/>
          </a:prstGeom>
          <a:noFill/>
        </p:spPr>
        <p:txBody>
          <a:bodyPr wrap="square" lIns="0" rIns="0" tIns="0" bIns="0">
            <a:spAutoFit/>
          </a:bodyPr>
          <a:lstStyle/>
          <a:p>
            <a:pPr algn="l">
              <a:lnSpc>
                <a:spcPct val="125000"/>
              </a:lnSpc>
              <a:spcBef>
                <a:spcPts val="0"/>
              </a:spcBef>
              <a:spcAft>
                <a:spcPts val="0"/>
              </a:spcAft>
            </a:pPr>
            <a:r>
              <a:rPr sz="900" b="0" i="0">
                <a:solidFill>
                  <a:srgbClr val="6B7786"/>
                </a:solidFill>
                <a:latin typeface="Helvetica Neue"/>
              </a:rPr>
              <a:t>Source:  stratacivicsolutions.com, quoted verbatim; liability framing per research/spaces/GOVTECH_MUNICIPAL.md.</a:t>
            </a:r>
          </a:p>
        </p:txBody>
      </p:sp>
      <p:sp>
        <p:nvSpPr>
          <p:cNvPr id="10" name="TextBox 9"/>
          <p:cNvSpPr txBox="1"/>
          <p:nvPr/>
        </p:nvSpPr>
        <p:spPr>
          <a:xfrm>
            <a:off x="822960" y="6419088"/>
            <a:ext cx="8778240" cy="274320"/>
          </a:xfrm>
          <a:prstGeom prst="rect">
            <a:avLst/>
          </a:prstGeom>
          <a:noFill/>
        </p:spPr>
        <p:txBody>
          <a:bodyPr wrap="square" lIns="0" rIns="0" tIns="0" bIns="0">
            <a:spAutoFit/>
          </a:bodyPr>
          <a:lstStyle/>
          <a:p>
            <a:pPr algn="l">
              <a:spcBef>
                <a:spcPts val="0"/>
              </a:spcBef>
              <a:spcAft>
                <a:spcPts val="0"/>
              </a:spcAft>
            </a:pPr>
            <a:r>
              <a:rPr sz="850" b="0" i="0">
                <a:solidFill>
                  <a:srgbClr val="6B7786"/>
                </a:solidFill>
                <a:latin typeface="Helvetica Neue"/>
              </a:rPr>
              <a:t>Strata Civic Solutions  ·  Pitch deck v1, 1 September 2026  ·  Draft for joseleos  ·  Confidential</a:t>
            </a:r>
          </a:p>
        </p:txBody>
      </p:sp>
      <p:sp>
        <p:nvSpPr>
          <p:cNvPr id="11" name="TextBox 10"/>
          <p:cNvSpPr txBox="1"/>
          <p:nvPr/>
        </p:nvSpPr>
        <p:spPr>
          <a:xfrm>
            <a:off x="10454335" y="6419088"/>
            <a:ext cx="914400" cy="274320"/>
          </a:xfrm>
          <a:prstGeom prst="rect">
            <a:avLst/>
          </a:prstGeom>
          <a:noFill/>
        </p:spPr>
        <p:txBody>
          <a:bodyPr wrap="square" lIns="0" rIns="0" tIns="0" bIns="0">
            <a:spAutoFit/>
          </a:bodyPr>
          <a:lstStyle/>
          <a:p>
            <a:pPr algn="r">
              <a:spcBef>
                <a:spcPts val="0"/>
              </a:spcBef>
              <a:spcAft>
                <a:spcPts val="0"/>
              </a:spcAft>
            </a:pPr>
            <a:r>
              <a:rPr sz="850" b="0" i="0">
                <a:solidFill>
                  <a:srgbClr val="6B7786"/>
                </a:solidFill>
                <a:latin typeface="Helvetica Neue"/>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10545775" cy="274320"/>
          </a:xfrm>
          <a:prstGeom prst="rect">
            <a:avLst/>
          </a:prstGeom>
          <a:noFill/>
        </p:spPr>
        <p:txBody>
          <a:bodyPr wrap="square" lIns="0" rIns="0" tIns="0" bIns="0">
            <a:spAutoFit/>
          </a:bodyPr>
          <a:lstStyle/>
          <a:p>
            <a:pPr algn="l">
              <a:spcBef>
                <a:spcPts val="0"/>
              </a:spcBef>
              <a:spcAft>
                <a:spcPts val="0"/>
              </a:spcAft>
            </a:pPr>
            <a:r>
              <a:rPr sz="1050" b="1" i="0">
                <a:solidFill>
                  <a:srgbClr val="1F7A6C"/>
                </a:solidFill>
                <a:latin typeface="Helvetica Neue"/>
              </a:rPr>
              <a:t>WHO BUYS, AND HOW FAST</a:t>
            </a:r>
          </a:p>
        </p:txBody>
      </p:sp>
      <p:sp>
        <p:nvSpPr>
          <p:cNvPr id="4" name="TextBox 3"/>
          <p:cNvSpPr txBox="1"/>
          <p:nvPr/>
        </p:nvSpPr>
        <p:spPr>
          <a:xfrm>
            <a:off x="822960" y="914400"/>
            <a:ext cx="10545775" cy="475488"/>
          </a:xfrm>
          <a:prstGeom prst="rect">
            <a:avLst/>
          </a:prstGeom>
          <a:noFill/>
        </p:spPr>
        <p:txBody>
          <a:bodyPr wrap="square" lIns="0" rIns="0" tIns="0" bIns="0">
            <a:spAutoFit/>
          </a:bodyPr>
          <a:lstStyle/>
          <a:p>
            <a:pPr algn="l">
              <a:lnSpc>
                <a:spcPct val="106000"/>
              </a:lnSpc>
              <a:spcBef>
                <a:spcPts val="0"/>
              </a:spcBef>
              <a:spcAft>
                <a:spcPts val="0"/>
              </a:spcAft>
            </a:pPr>
            <a:r>
              <a:rPr sz="3000" b="1" i="0">
                <a:solidFill>
                  <a:srgbClr val="16202E"/>
                </a:solidFill>
                <a:latin typeface="Helvetica Neue"/>
              </a:rPr>
              <a:t>One city manager can sign this.</a:t>
            </a:r>
          </a:p>
        </p:txBody>
      </p:sp>
      <p:sp>
        <p:nvSpPr>
          <p:cNvPr id="5" name="TextBox 4"/>
          <p:cNvSpPr txBox="1"/>
          <p:nvPr/>
        </p:nvSpPr>
        <p:spPr>
          <a:xfrm>
            <a:off x="822960" y="1481328"/>
            <a:ext cx="9509760" cy="548640"/>
          </a:xfrm>
          <a:prstGeom prst="rect">
            <a:avLst/>
          </a:prstGeom>
          <a:noFill/>
        </p:spPr>
        <p:txBody>
          <a:bodyPr wrap="square" lIns="0" rIns="0" tIns="0" bIns="0">
            <a:spAutoFit/>
          </a:bodyPr>
          <a:lstStyle/>
          <a:p>
            <a:pPr algn="l">
              <a:lnSpc>
                <a:spcPct val="132000"/>
              </a:lnSpc>
              <a:spcBef>
                <a:spcPts val="0"/>
              </a:spcBef>
              <a:spcAft>
                <a:spcPts val="0"/>
              </a:spcAft>
            </a:pPr>
            <a:r>
              <a:rPr sz="1450" b="0" i="0">
                <a:solidFill>
                  <a:srgbClr val="414D5C"/>
                </a:solidFill>
                <a:latin typeface="Helvetica Neue"/>
              </a:rPr>
              <a:t>Texas requires competitive bidding above $50,000. Our top tier is $18,000. That is a design decision, not an accident.</a:t>
            </a:r>
          </a:p>
        </p:txBody>
      </p:sp>
      <p:sp>
        <p:nvSpPr>
          <p:cNvPr id="6" name="Rectangle 5"/>
          <p:cNvSpPr/>
          <p:nvPr/>
        </p:nvSpPr>
        <p:spPr>
          <a:xfrm>
            <a:off x="822960" y="2148840"/>
            <a:ext cx="10545775" cy="12700"/>
          </a:xfrm>
          <a:prstGeom prst="rect">
            <a:avLst/>
          </a:prstGeom>
          <a:solidFill>
            <a:srgbClr val="D7D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2532888"/>
            <a:ext cx="10332720" cy="1417320"/>
          </a:xfrm>
          <a:prstGeom prst="rect">
            <a:avLst/>
          </a:prstGeom>
          <a:solidFill>
            <a:srgbClr val="FFFFFF"/>
          </a:solidFill>
          <a:ln w="9525">
            <a:solidFill>
              <a:srgbClr val="D7DC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752344"/>
            <a:ext cx="9784080" cy="365760"/>
          </a:xfrm>
          <a:prstGeom prst="rect">
            <a:avLst/>
          </a:prstGeom>
          <a:noFill/>
        </p:spPr>
        <p:txBody>
          <a:bodyPr wrap="square" lIns="0" rIns="0" tIns="0" bIns="0">
            <a:spAutoFit/>
          </a:bodyPr>
          <a:lstStyle/>
          <a:p>
            <a:pPr algn="l">
              <a:spcBef>
                <a:spcPts val="0"/>
              </a:spcBef>
              <a:spcAft>
                <a:spcPts val="0"/>
              </a:spcAft>
            </a:pPr>
            <a:r>
              <a:rPr sz="950" b="1" i="0">
                <a:solidFill>
                  <a:srgbClr val="1F7A6C"/>
                </a:solidFill>
                <a:latin typeface="Helvetica Neue"/>
              </a:rPr>
              <a:t>ANNUAL CONTRACT VALUE AGAINST THE §252.021 COMPETITIVE-BIDDING THRESHOLD</a:t>
            </a:r>
          </a:p>
        </p:txBody>
      </p:sp>
      <p:sp>
        <p:nvSpPr>
          <p:cNvPr id="9" name="Rectangle 8"/>
          <p:cNvSpPr/>
          <p:nvPr/>
        </p:nvSpPr>
        <p:spPr>
          <a:xfrm>
            <a:off x="1097280" y="3630168"/>
            <a:ext cx="9784080" cy="12700"/>
          </a:xfrm>
          <a:prstGeom prst="rect">
            <a:avLst/>
          </a:prstGeom>
          <a:solidFill>
            <a:srgbClr val="D7D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737692" y="3410712"/>
            <a:ext cx="32004" cy="228600"/>
          </a:xfrm>
          <a:prstGeom prst="rect">
            <a:avLst/>
          </a:prstGeom>
          <a:solidFill>
            <a:srgbClr val="1F7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80492" y="3099816"/>
            <a:ext cx="914400" cy="274320"/>
          </a:xfrm>
          <a:prstGeom prst="rect">
            <a:avLst/>
          </a:prstGeom>
          <a:noFill/>
        </p:spPr>
        <p:txBody>
          <a:bodyPr wrap="square" lIns="0" rIns="0" tIns="0" bIns="0">
            <a:spAutoFit/>
          </a:bodyPr>
          <a:lstStyle/>
          <a:p>
            <a:pPr algn="ctr">
              <a:spcBef>
                <a:spcPts val="0"/>
              </a:spcBef>
              <a:spcAft>
                <a:spcPts val="0"/>
              </a:spcAft>
            </a:pPr>
            <a:r>
              <a:rPr sz="1100" b="1" i="0">
                <a:solidFill>
                  <a:srgbClr val="16202E"/>
                </a:solidFill>
                <a:latin typeface="Helvetica Neue"/>
              </a:rPr>
              <a:t>$3,600</a:t>
            </a:r>
          </a:p>
        </p:txBody>
      </p:sp>
      <p:sp>
        <p:nvSpPr>
          <p:cNvPr id="12" name="Rectangle 11"/>
          <p:cNvSpPr/>
          <p:nvPr/>
        </p:nvSpPr>
        <p:spPr>
          <a:xfrm>
            <a:off x="2805046" y="3410712"/>
            <a:ext cx="32004" cy="228600"/>
          </a:xfrm>
          <a:prstGeom prst="rect">
            <a:avLst/>
          </a:prstGeom>
          <a:solidFill>
            <a:srgbClr val="1F7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47846" y="3099816"/>
            <a:ext cx="914400" cy="274320"/>
          </a:xfrm>
          <a:prstGeom prst="rect">
            <a:avLst/>
          </a:prstGeom>
          <a:noFill/>
        </p:spPr>
        <p:txBody>
          <a:bodyPr wrap="square" lIns="0" rIns="0" tIns="0" bIns="0">
            <a:spAutoFit/>
          </a:bodyPr>
          <a:lstStyle/>
          <a:p>
            <a:pPr algn="ctr">
              <a:spcBef>
                <a:spcPts val="0"/>
              </a:spcBef>
              <a:spcAft>
                <a:spcPts val="0"/>
              </a:spcAft>
            </a:pPr>
            <a:r>
              <a:rPr sz="1100" b="1" i="0">
                <a:solidFill>
                  <a:srgbClr val="16202E"/>
                </a:solidFill>
                <a:latin typeface="Helvetica Neue"/>
              </a:rPr>
              <a:t>$9,600</a:t>
            </a:r>
          </a:p>
        </p:txBody>
      </p:sp>
      <p:sp>
        <p:nvSpPr>
          <p:cNvPr id="14" name="Rectangle 13"/>
          <p:cNvSpPr/>
          <p:nvPr/>
        </p:nvSpPr>
        <p:spPr>
          <a:xfrm>
            <a:off x="4299342" y="3410712"/>
            <a:ext cx="32004" cy="228600"/>
          </a:xfrm>
          <a:prstGeom prst="rect">
            <a:avLst/>
          </a:prstGeom>
          <a:solidFill>
            <a:srgbClr val="1F7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42142" y="3099816"/>
            <a:ext cx="914400" cy="274320"/>
          </a:xfrm>
          <a:prstGeom prst="rect">
            <a:avLst/>
          </a:prstGeom>
          <a:noFill/>
        </p:spPr>
        <p:txBody>
          <a:bodyPr wrap="square" lIns="0" rIns="0" tIns="0" bIns="0">
            <a:spAutoFit/>
          </a:bodyPr>
          <a:lstStyle/>
          <a:p>
            <a:pPr algn="ctr">
              <a:spcBef>
                <a:spcPts val="0"/>
              </a:spcBef>
              <a:spcAft>
                <a:spcPts val="0"/>
              </a:spcAft>
            </a:pPr>
            <a:r>
              <a:rPr sz="1100" b="1" i="0">
                <a:solidFill>
                  <a:srgbClr val="16202E"/>
                </a:solidFill>
                <a:latin typeface="Helvetica Neue"/>
              </a:rPr>
              <a:t>$18,000</a:t>
            </a:r>
          </a:p>
        </p:txBody>
      </p:sp>
      <p:sp>
        <p:nvSpPr>
          <p:cNvPr id="16" name="Rectangle 15"/>
          <p:cNvSpPr/>
          <p:nvPr/>
        </p:nvSpPr>
        <p:spPr>
          <a:xfrm>
            <a:off x="9991898" y="3264408"/>
            <a:ext cx="18288" cy="736600"/>
          </a:xfrm>
          <a:prstGeom prst="rect">
            <a:avLst/>
          </a:prstGeom>
          <a:solidFill>
            <a:srgbClr val="B338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157258" y="3703320"/>
            <a:ext cx="2788920" cy="365760"/>
          </a:xfrm>
          <a:prstGeom prst="rect">
            <a:avLst/>
          </a:prstGeom>
          <a:noFill/>
        </p:spPr>
        <p:txBody>
          <a:bodyPr wrap="square" lIns="0" rIns="0" tIns="0" bIns="0">
            <a:spAutoFit/>
          </a:bodyPr>
          <a:lstStyle/>
          <a:p>
            <a:pPr algn="r">
              <a:spcBef>
                <a:spcPts val="0"/>
              </a:spcBef>
              <a:spcAft>
                <a:spcPts val="0"/>
              </a:spcAft>
            </a:pPr>
            <a:r>
              <a:rPr sz="1000" b="1" i="0">
                <a:solidFill>
                  <a:srgbClr val="B3382E"/>
                </a:solidFill>
                <a:latin typeface="Helvetica Neue"/>
              </a:rPr>
              <a:t>$50,000 — bid required above this line</a:t>
            </a:r>
          </a:p>
        </p:txBody>
      </p:sp>
      <p:sp>
        <p:nvSpPr>
          <p:cNvPr id="18" name="TextBox 17"/>
          <p:cNvSpPr txBox="1"/>
          <p:nvPr/>
        </p:nvSpPr>
        <p:spPr>
          <a:xfrm>
            <a:off x="822960" y="4224528"/>
            <a:ext cx="4937760" cy="365760"/>
          </a:xfrm>
          <a:prstGeom prst="rect">
            <a:avLst/>
          </a:prstGeom>
          <a:noFill/>
        </p:spPr>
        <p:txBody>
          <a:bodyPr wrap="square" lIns="0" rIns="0" tIns="0" bIns="0">
            <a:spAutoFit/>
          </a:bodyPr>
          <a:lstStyle/>
          <a:p>
            <a:pPr algn="l">
              <a:lnSpc>
                <a:spcPct val="125000"/>
              </a:lnSpc>
              <a:spcBef>
                <a:spcPts val="0"/>
              </a:spcBef>
            </a:pPr>
            <a:r>
              <a:rPr sz="1350" b="1">
                <a:solidFill>
                  <a:srgbClr val="16202E"/>
                </a:solidFill>
                <a:latin typeface="Helvetica Neue"/>
              </a:rPr>
              <a:t>Economic buyer: the city manager. </a:t>
            </a:r>
            <a:r>
              <a:rPr sz="1350">
                <a:solidFill>
                  <a:srgbClr val="414D5C"/>
                </a:solidFill>
                <a:latin typeface="Helvetica Neue"/>
              </a:rPr>
              <a:t>Controls the software line and can sign alone below the threshold.</a:t>
            </a:r>
          </a:p>
          <a:p>
            <a:pPr>
              <a:lnSpc>
                <a:spcPct val="125000"/>
              </a:lnSpc>
              <a:spcBef>
                <a:spcPts val="1300"/>
              </a:spcBef>
            </a:pPr>
            <a:r>
              <a:rPr sz="1350" b="1">
                <a:solidFill>
                  <a:srgbClr val="16202E"/>
                </a:solidFill>
                <a:latin typeface="Helvetica Neue"/>
              </a:rPr>
              <a:t>Champion and user: mayors, council, boards. </a:t>
            </a:r>
            <a:r>
              <a:rPr sz="1350">
                <a:solidFill>
                  <a:srgbClr val="414D5C"/>
                </a:solidFill>
                <a:latin typeface="Helvetica Neue"/>
              </a:rPr>
              <a:t>They feel the pain; they do not hold the budget.</a:t>
            </a:r>
          </a:p>
          <a:p>
            <a:pPr>
              <a:lnSpc>
                <a:spcPct val="125000"/>
              </a:lnSpc>
              <a:spcBef>
                <a:spcPts val="1300"/>
              </a:spcBef>
            </a:pPr>
            <a:r>
              <a:rPr sz="1350" b="1">
                <a:solidFill>
                  <a:srgbClr val="16202E"/>
                </a:solidFill>
                <a:latin typeface="Helvetica Neue"/>
              </a:rPr>
              <a:t>Gatekeepers: the clerk, and IT in 50k+ cities. </a:t>
            </a:r>
            <a:r>
              <a:rPr sz="1350">
                <a:solidFill>
                  <a:srgbClr val="414D5C"/>
                </a:solidFill>
                <a:latin typeface="Helvetica Neue"/>
              </a:rPr>
              <a:t>Ally or blocker — and a security questionnaire.</a:t>
            </a:r>
          </a:p>
        </p:txBody>
      </p:sp>
      <p:sp>
        <p:nvSpPr>
          <p:cNvPr id="19" name="TextBox 18"/>
          <p:cNvSpPr txBox="1"/>
          <p:nvPr/>
        </p:nvSpPr>
        <p:spPr>
          <a:xfrm>
            <a:off x="6172200" y="4224528"/>
            <a:ext cx="4937760" cy="365760"/>
          </a:xfrm>
          <a:prstGeom prst="rect">
            <a:avLst/>
          </a:prstGeom>
          <a:noFill/>
        </p:spPr>
        <p:txBody>
          <a:bodyPr wrap="square" lIns="0" rIns="0" tIns="0" bIns="0">
            <a:spAutoFit/>
          </a:bodyPr>
          <a:lstStyle/>
          <a:p>
            <a:pPr algn="l">
              <a:lnSpc>
                <a:spcPct val="125000"/>
              </a:lnSpc>
              <a:spcBef>
                <a:spcPts val="0"/>
              </a:spcBef>
            </a:pPr>
            <a:r>
              <a:rPr sz="1350" b="1">
                <a:solidFill>
                  <a:srgbClr val="16202E"/>
                </a:solidFill>
                <a:latin typeface="Helvetica Neue"/>
              </a:rPr>
              <a:t>Demo to signature: 4–8 weeks. </a:t>
            </a:r>
            <a:r>
              <a:rPr sz="1350">
                <a:solidFill>
                  <a:srgbClr val="414D5C"/>
                </a:solidFill>
                <a:latin typeface="Helvetica Neue"/>
              </a:rPr>
              <a:t>Not a procurement season.</a:t>
            </a:r>
          </a:p>
          <a:p>
            <a:pPr>
              <a:lnSpc>
                <a:spcPct val="125000"/>
              </a:lnSpc>
              <a:spcBef>
                <a:spcPts val="1300"/>
              </a:spcBef>
            </a:pPr>
            <a:r>
              <a:rPr sz="1350" b="1">
                <a:solidFill>
                  <a:srgbClr val="16202E"/>
                </a:solidFill>
                <a:latin typeface="Helvetica Neue"/>
              </a:rPr>
              <a:t>Buying window is Aug–Sep. </a:t>
            </a:r>
            <a:r>
              <a:rPr sz="1350">
                <a:solidFill>
                  <a:srgbClr val="414D5C"/>
                </a:solidFill>
                <a:latin typeface="Helvetica Neue"/>
              </a:rPr>
              <a:t>Texas fiscal years start Oct 1; budgets adopt just before.</a:t>
            </a:r>
          </a:p>
          <a:p>
            <a:pPr>
              <a:lnSpc>
                <a:spcPct val="125000"/>
              </a:lnSpc>
              <a:spcBef>
                <a:spcPts val="1300"/>
              </a:spcBef>
            </a:pPr>
            <a:r>
              <a:rPr sz="1350" b="1">
                <a:solidFill>
                  <a:srgbClr val="16202E"/>
                </a:solidFill>
                <a:latin typeface="Helvetica Neue"/>
              </a:rPr>
              <a:t>No sales tax, no per-seat fees. </a:t>
            </a:r>
            <a:r>
              <a:rPr sz="1350">
                <a:solidFill>
                  <a:srgbClr val="414D5C"/>
                </a:solidFill>
                <a:latin typeface="Helvetica Neue"/>
              </a:rPr>
              <a:t>Municipalities are exempt (Tex. Tax Code §151.309); pricing is by population tier.</a:t>
            </a:r>
          </a:p>
        </p:txBody>
      </p:sp>
      <p:sp>
        <p:nvSpPr>
          <p:cNvPr id="20" name="TextBox 19"/>
          <p:cNvSpPr txBox="1"/>
          <p:nvPr/>
        </p:nvSpPr>
        <p:spPr>
          <a:xfrm>
            <a:off x="822960" y="6053328"/>
            <a:ext cx="10332720" cy="274320"/>
          </a:xfrm>
          <a:prstGeom prst="rect">
            <a:avLst/>
          </a:prstGeom>
          <a:noFill/>
        </p:spPr>
        <p:txBody>
          <a:bodyPr wrap="square" lIns="0" rIns="0" tIns="0" bIns="0">
            <a:spAutoFit/>
          </a:bodyPr>
          <a:lstStyle/>
          <a:p>
            <a:pPr algn="l">
              <a:lnSpc>
                <a:spcPct val="125000"/>
              </a:lnSpc>
              <a:spcBef>
                <a:spcPts val="0"/>
              </a:spcBef>
              <a:spcAft>
                <a:spcPts val="0"/>
              </a:spcAft>
            </a:pPr>
            <a:r>
              <a:rPr sz="900" b="0" i="0">
                <a:solidFill>
                  <a:srgbClr val="8A939E"/>
                </a:solidFill>
                <a:latin typeface="Helvetica Neue"/>
              </a:rPr>
              <a:t>Source:  Tex. Loc. Gov't Code §§252.021, 252.0215; Tex. Tax Code §151.309; research/spaces/GOVTECH_MUNICIPAL.md.</a:t>
            </a:r>
          </a:p>
        </p:txBody>
      </p:sp>
      <p:sp>
        <p:nvSpPr>
          <p:cNvPr id="21" name="TextBox 20"/>
          <p:cNvSpPr txBox="1"/>
          <p:nvPr/>
        </p:nvSpPr>
        <p:spPr>
          <a:xfrm>
            <a:off x="822960" y="6419088"/>
            <a:ext cx="8778240" cy="274320"/>
          </a:xfrm>
          <a:prstGeom prst="rect">
            <a:avLst/>
          </a:prstGeom>
          <a:noFill/>
        </p:spPr>
        <p:txBody>
          <a:bodyPr wrap="square" lIns="0" rIns="0" tIns="0" bIns="0">
            <a:spAutoFit/>
          </a:bodyPr>
          <a:lstStyle/>
          <a:p>
            <a:pPr algn="l">
              <a:spcBef>
                <a:spcPts val="0"/>
              </a:spcBef>
              <a:spcAft>
                <a:spcPts val="0"/>
              </a:spcAft>
            </a:pPr>
            <a:r>
              <a:rPr sz="850" b="0" i="0">
                <a:solidFill>
                  <a:srgbClr val="8A939E"/>
                </a:solidFill>
                <a:latin typeface="Helvetica Neue"/>
              </a:rPr>
              <a:t>Strata Civic Solutions  ·  Pitch deck v1, 1 September 2026  ·  Draft for joseleos  ·  Confidential</a:t>
            </a:r>
          </a:p>
        </p:txBody>
      </p:sp>
      <p:sp>
        <p:nvSpPr>
          <p:cNvPr id="22" name="TextBox 21"/>
          <p:cNvSpPr txBox="1"/>
          <p:nvPr/>
        </p:nvSpPr>
        <p:spPr>
          <a:xfrm>
            <a:off x="10454335" y="6419088"/>
            <a:ext cx="914400" cy="274320"/>
          </a:xfrm>
          <a:prstGeom prst="rect">
            <a:avLst/>
          </a:prstGeom>
          <a:noFill/>
        </p:spPr>
        <p:txBody>
          <a:bodyPr wrap="square" lIns="0" rIns="0" tIns="0" bIns="0">
            <a:spAutoFit/>
          </a:bodyPr>
          <a:lstStyle/>
          <a:p>
            <a:pPr algn="r">
              <a:spcBef>
                <a:spcPts val="0"/>
              </a:spcBef>
              <a:spcAft>
                <a:spcPts val="0"/>
              </a:spcAft>
            </a:pPr>
            <a:r>
              <a:rPr sz="850" b="0" i="0">
                <a:solidFill>
                  <a:srgbClr val="8A939E"/>
                </a:solidFill>
                <a:latin typeface="Helvetica Neue"/>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10545775" cy="274320"/>
          </a:xfrm>
          <a:prstGeom prst="rect">
            <a:avLst/>
          </a:prstGeom>
          <a:noFill/>
        </p:spPr>
        <p:txBody>
          <a:bodyPr wrap="square" lIns="0" rIns="0" tIns="0" bIns="0">
            <a:spAutoFit/>
          </a:bodyPr>
          <a:lstStyle/>
          <a:p>
            <a:pPr algn="l">
              <a:spcBef>
                <a:spcPts val="0"/>
              </a:spcBef>
              <a:spcAft>
                <a:spcPts val="0"/>
              </a:spcAft>
            </a:pPr>
            <a:r>
              <a:rPr sz="1050" b="1" i="0">
                <a:solidFill>
                  <a:srgbClr val="1F7A6C"/>
                </a:solidFill>
                <a:latin typeface="Helvetica Neue"/>
              </a:rPr>
              <a:t>TEAM</a:t>
            </a:r>
          </a:p>
        </p:txBody>
      </p:sp>
      <p:sp>
        <p:nvSpPr>
          <p:cNvPr id="4" name="TextBox 3"/>
          <p:cNvSpPr txBox="1"/>
          <p:nvPr/>
        </p:nvSpPr>
        <p:spPr>
          <a:xfrm>
            <a:off x="822960" y="914400"/>
            <a:ext cx="10545775" cy="950976"/>
          </a:xfrm>
          <a:prstGeom prst="rect">
            <a:avLst/>
          </a:prstGeom>
          <a:noFill/>
        </p:spPr>
        <p:txBody>
          <a:bodyPr wrap="square" lIns="0" rIns="0" tIns="0" bIns="0">
            <a:spAutoFit/>
          </a:bodyPr>
          <a:lstStyle/>
          <a:p>
            <a:pPr algn="l">
              <a:lnSpc>
                <a:spcPct val="106000"/>
              </a:lnSpc>
              <a:spcBef>
                <a:spcPts val="0"/>
              </a:spcBef>
              <a:spcAft>
                <a:spcPts val="0"/>
              </a:spcAft>
            </a:pPr>
            <a:r>
              <a:rPr sz="3000" b="1" i="0">
                <a:solidFill>
                  <a:srgbClr val="16202E"/>
                </a:solidFill>
                <a:latin typeface="Helvetica Neue"/>
              </a:rPr>
              <a:t>Our senior advisor was mayor of our reference city. Twice.</a:t>
            </a:r>
          </a:p>
        </p:txBody>
      </p:sp>
      <p:sp>
        <p:nvSpPr>
          <p:cNvPr id="5" name="TextBox 4"/>
          <p:cNvSpPr txBox="1"/>
          <p:nvPr/>
        </p:nvSpPr>
        <p:spPr>
          <a:xfrm>
            <a:off x="822960" y="1901952"/>
            <a:ext cx="9509760" cy="548640"/>
          </a:xfrm>
          <a:prstGeom prst="rect">
            <a:avLst/>
          </a:prstGeom>
          <a:noFill/>
        </p:spPr>
        <p:txBody>
          <a:bodyPr wrap="square" lIns="0" rIns="0" tIns="0" bIns="0">
            <a:spAutoFit/>
          </a:bodyPr>
          <a:lstStyle/>
          <a:p>
            <a:pPr algn="l">
              <a:lnSpc>
                <a:spcPct val="132000"/>
              </a:lnSpc>
              <a:spcBef>
                <a:spcPts val="0"/>
              </a:spcBef>
              <a:spcAft>
                <a:spcPts val="0"/>
              </a:spcAft>
            </a:pPr>
            <a:r>
              <a:rPr sz="1450" b="0" i="0">
                <a:solidFill>
                  <a:srgbClr val="414D5C"/>
                </a:solidFill>
                <a:latin typeface="Helvetica Neue"/>
              </a:rPr>
              <a:t>Elected officials buy from people who have sat in their chair. In this category the differentiated asset is distribution, not technology.</a:t>
            </a:r>
          </a:p>
        </p:txBody>
      </p:sp>
      <p:sp>
        <p:nvSpPr>
          <p:cNvPr id="6" name="Rectangle 5"/>
          <p:cNvSpPr/>
          <p:nvPr/>
        </p:nvSpPr>
        <p:spPr>
          <a:xfrm>
            <a:off x="822960" y="2569464"/>
            <a:ext cx="10545775" cy="12700"/>
          </a:xfrm>
          <a:prstGeom prst="rect">
            <a:avLst/>
          </a:prstGeom>
          <a:solidFill>
            <a:srgbClr val="D7D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2953512"/>
            <a:ext cx="2450592" cy="2468880"/>
          </a:xfrm>
          <a:prstGeom prst="rect">
            <a:avLst/>
          </a:prstGeom>
          <a:solidFill>
            <a:srgbClr val="FFFFFF"/>
          </a:solidFill>
          <a:ln w="9525">
            <a:solidFill>
              <a:srgbClr val="D7DC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 y="2953512"/>
            <a:ext cx="2450592" cy="38100"/>
          </a:xfrm>
          <a:prstGeom prst="rect">
            <a:avLst/>
          </a:prstGeom>
          <a:solidFill>
            <a:srgbClr val="1F7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42416" y="3227832"/>
            <a:ext cx="2011680" cy="2011680"/>
          </a:xfrm>
          <a:prstGeom prst="rect">
            <a:avLst/>
          </a:prstGeom>
          <a:noFill/>
        </p:spPr>
        <p:txBody>
          <a:bodyPr wrap="square" lIns="0" rIns="0" tIns="0" bIns="0">
            <a:spAutoFit/>
          </a:bodyPr>
          <a:lstStyle/>
          <a:p>
            <a:pPr algn="l">
              <a:lnSpc>
                <a:spcPct val="115000"/>
              </a:lnSpc>
              <a:spcBef>
                <a:spcPts val="0"/>
              </a:spcBef>
              <a:spcAft>
                <a:spcPts val="0"/>
              </a:spcAft>
            </a:pPr>
            <a:r>
              <a:rPr sz="1500" b="1" i="0">
                <a:solidFill>
                  <a:srgbClr val="16202E"/>
                </a:solidFill>
                <a:latin typeface="Helvetica Neue"/>
              </a:rPr>
              <a:t>Ralph Gutierrez</a:t>
            </a:r>
          </a:p>
          <a:p>
            <a:pPr>
              <a:spcBef>
                <a:spcPts val="400"/>
              </a:spcBef>
              <a:spcAft>
                <a:spcPts val="0"/>
              </a:spcAft>
            </a:pPr>
            <a:r>
              <a:rPr sz="950" b="1" i="0">
                <a:solidFill>
                  <a:srgbClr val="1F7A6C"/>
                </a:solidFill>
                <a:latin typeface="Helvetica Neue"/>
              </a:rPr>
              <a:t>SENIOR MUNICIPAL ADVISOR</a:t>
            </a:r>
          </a:p>
          <a:p>
            <a:pPr>
              <a:lnSpc>
                <a:spcPct val="130000"/>
              </a:lnSpc>
              <a:spcBef>
                <a:spcPts val="900"/>
              </a:spcBef>
              <a:spcAft>
                <a:spcPts val="0"/>
              </a:spcAft>
            </a:pPr>
            <a:r>
              <a:rPr sz="1150" b="0" i="0">
                <a:solidFill>
                  <a:srgbClr val="414D5C"/>
                </a:solidFill>
                <a:latin typeface="Helvetica Neue"/>
              </a:rPr>
              <a:t>Two-term mayor and council member of Schertz — our demo city. ~50 years public service, USAF veteran, 20 years of federal judiciary leadership.</a:t>
            </a:r>
          </a:p>
        </p:txBody>
      </p:sp>
      <p:sp>
        <p:nvSpPr>
          <p:cNvPr id="10" name="Rectangle 9"/>
          <p:cNvSpPr/>
          <p:nvPr/>
        </p:nvSpPr>
        <p:spPr>
          <a:xfrm>
            <a:off x="3474720" y="2953512"/>
            <a:ext cx="2450592" cy="2468880"/>
          </a:xfrm>
          <a:prstGeom prst="rect">
            <a:avLst/>
          </a:prstGeom>
          <a:solidFill>
            <a:srgbClr val="FFFFFF"/>
          </a:solidFill>
          <a:ln w="9525">
            <a:solidFill>
              <a:srgbClr val="D7DC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474720" y="2953512"/>
            <a:ext cx="2450592" cy="38100"/>
          </a:xfrm>
          <a:prstGeom prst="rect">
            <a:avLst/>
          </a:prstGeom>
          <a:solidFill>
            <a:srgbClr val="1F7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94176" y="3227832"/>
            <a:ext cx="2011680" cy="2011680"/>
          </a:xfrm>
          <a:prstGeom prst="rect">
            <a:avLst/>
          </a:prstGeom>
          <a:noFill/>
        </p:spPr>
        <p:txBody>
          <a:bodyPr wrap="square" lIns="0" rIns="0" tIns="0" bIns="0">
            <a:spAutoFit/>
          </a:bodyPr>
          <a:lstStyle/>
          <a:p>
            <a:pPr algn="l">
              <a:lnSpc>
                <a:spcPct val="115000"/>
              </a:lnSpc>
              <a:spcBef>
                <a:spcPts val="0"/>
              </a:spcBef>
              <a:spcAft>
                <a:spcPts val="0"/>
              </a:spcAft>
            </a:pPr>
            <a:r>
              <a:rPr sz="1500" b="1" i="0">
                <a:solidFill>
                  <a:srgbClr val="16202E"/>
                </a:solidFill>
                <a:latin typeface="Helvetica Neue"/>
              </a:rPr>
              <a:t>Raquel Gutierrez</a:t>
            </a:r>
          </a:p>
          <a:p>
            <a:pPr>
              <a:spcBef>
                <a:spcPts val="400"/>
              </a:spcBef>
              <a:spcAft>
                <a:spcPts val="0"/>
              </a:spcAft>
            </a:pPr>
            <a:r>
              <a:rPr sz="950" b="1" i="0">
                <a:solidFill>
                  <a:srgbClr val="1F7A6C"/>
                </a:solidFill>
                <a:latin typeface="Helvetica Neue"/>
              </a:rPr>
              <a:t>MUNICIPAL OUTREACH ADVISOR</a:t>
            </a:r>
          </a:p>
          <a:p>
            <a:pPr>
              <a:lnSpc>
                <a:spcPct val="130000"/>
              </a:lnSpc>
              <a:spcBef>
                <a:spcPts val="900"/>
              </a:spcBef>
              <a:spcAft>
                <a:spcPts val="0"/>
              </a:spcAft>
            </a:pPr>
            <a:r>
              <a:rPr sz="1150" b="0" i="0">
                <a:solidFill>
                  <a:srgbClr val="414D5C"/>
                </a:solidFill>
                <a:latin typeface="Helvetica Neue"/>
              </a:rPr>
              <a:t>30+ years of Central Texas civic engagement. Drives municipal partnerships and pilot development — the warm-intro channel is hers.</a:t>
            </a:r>
          </a:p>
        </p:txBody>
      </p:sp>
      <p:sp>
        <p:nvSpPr>
          <p:cNvPr id="13" name="Rectangle 12"/>
          <p:cNvSpPr/>
          <p:nvPr/>
        </p:nvSpPr>
        <p:spPr>
          <a:xfrm>
            <a:off x="6126480" y="2953512"/>
            <a:ext cx="2450592" cy="2468880"/>
          </a:xfrm>
          <a:prstGeom prst="rect">
            <a:avLst/>
          </a:prstGeom>
          <a:solidFill>
            <a:srgbClr val="FFFFFF"/>
          </a:solidFill>
          <a:ln w="9525">
            <a:solidFill>
              <a:srgbClr val="D7DC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26480" y="2953512"/>
            <a:ext cx="2450592" cy="38100"/>
          </a:xfrm>
          <a:prstGeom prst="rect">
            <a:avLst/>
          </a:prstGeom>
          <a:solidFill>
            <a:srgbClr val="1F7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45936" y="3227832"/>
            <a:ext cx="2011680" cy="2011680"/>
          </a:xfrm>
          <a:prstGeom prst="rect">
            <a:avLst/>
          </a:prstGeom>
          <a:noFill/>
        </p:spPr>
        <p:txBody>
          <a:bodyPr wrap="square" lIns="0" rIns="0" tIns="0" bIns="0">
            <a:spAutoFit/>
          </a:bodyPr>
          <a:lstStyle/>
          <a:p>
            <a:pPr algn="l">
              <a:lnSpc>
                <a:spcPct val="115000"/>
              </a:lnSpc>
              <a:spcBef>
                <a:spcPts val="0"/>
              </a:spcBef>
              <a:spcAft>
                <a:spcPts val="0"/>
              </a:spcAft>
            </a:pPr>
            <a:r>
              <a:rPr sz="1500" b="1" i="0">
                <a:solidFill>
                  <a:srgbClr val="16202E"/>
                </a:solidFill>
                <a:latin typeface="Helvetica Neue"/>
              </a:rPr>
              <a:t>Holly Richard</a:t>
            </a:r>
          </a:p>
          <a:p>
            <a:pPr>
              <a:spcBef>
                <a:spcPts val="400"/>
              </a:spcBef>
              <a:spcAft>
                <a:spcPts val="0"/>
              </a:spcAft>
            </a:pPr>
            <a:r>
              <a:rPr sz="950" b="1" i="0">
                <a:solidFill>
                  <a:srgbClr val="1F7A6C"/>
                </a:solidFill>
                <a:latin typeface="Helvetica Neue"/>
              </a:rPr>
              <a:t>FOUNDER / CEO</a:t>
            </a:r>
          </a:p>
          <a:p>
            <a:pPr>
              <a:lnSpc>
                <a:spcPct val="130000"/>
              </a:lnSpc>
              <a:spcBef>
                <a:spcPts val="900"/>
              </a:spcBef>
              <a:spcAft>
                <a:spcPts val="0"/>
              </a:spcAft>
            </a:pPr>
            <a:r>
              <a:rPr sz="1150" b="0" i="0">
                <a:solidFill>
                  <a:srgbClr val="414D5C"/>
                </a:solidFill>
                <a:latin typeface="Helvetica Neue"/>
              </a:rPr>
              <a:t>Doctor of Physical Therapy; previously built healthcare and fitness businesses. An outsider to govtech — which is why the product is built for the official, not the staff.</a:t>
            </a:r>
          </a:p>
        </p:txBody>
      </p:sp>
      <p:sp>
        <p:nvSpPr>
          <p:cNvPr id="16" name="Rectangle 15"/>
          <p:cNvSpPr/>
          <p:nvPr/>
        </p:nvSpPr>
        <p:spPr>
          <a:xfrm>
            <a:off x="8778239" y="2953512"/>
            <a:ext cx="2377440" cy="2468880"/>
          </a:xfrm>
          <a:prstGeom prst="rect">
            <a:avLst/>
          </a:prstGeom>
          <a:solidFill>
            <a:srgbClr val="FAEEEC"/>
          </a:solidFill>
          <a:ln w="9525">
            <a:solidFill>
              <a:srgbClr val="E4C4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79407" y="3099816"/>
            <a:ext cx="1975104" cy="2194560"/>
          </a:xfrm>
          <a:prstGeom prst="rect">
            <a:avLst/>
          </a:prstGeom>
          <a:noFill/>
        </p:spPr>
        <p:txBody>
          <a:bodyPr wrap="square" lIns="0" rIns="0" tIns="0" bIns="0">
            <a:spAutoFit/>
          </a:bodyPr>
          <a:lstStyle/>
          <a:p>
            <a:pPr algn="l">
              <a:spcBef>
                <a:spcPts val="0"/>
              </a:spcBef>
              <a:spcAft>
                <a:spcPts val="0"/>
              </a:spcAft>
            </a:pPr>
            <a:r>
              <a:rPr sz="1050" b="1" i="0">
                <a:solidFill>
                  <a:srgbClr val="B3382E"/>
                </a:solidFill>
                <a:latin typeface="Menlo"/>
              </a:rPr>
              <a:t>[ NEEDS JOSELEOS ]</a:t>
            </a:r>
          </a:p>
          <a:p>
            <a:pPr>
              <a:lnSpc>
                <a:spcPct val="125000"/>
              </a:lnSpc>
              <a:spcBef>
                <a:spcPts val="700"/>
              </a:spcBef>
              <a:spcAft>
                <a:spcPts val="0"/>
              </a:spcAft>
            </a:pPr>
            <a:r>
              <a:rPr sz="1200" b="0" i="0">
                <a:solidFill>
                  <a:srgbClr val="6E3C37"/>
                </a:solidFill>
                <a:latin typeface="Helvetica Neue"/>
              </a:rPr>
              <a:t>Helena Carre, Founder / CTO — no published bio.</a:t>
            </a:r>
          </a:p>
          <a:p>
            <a:pPr>
              <a:lnSpc>
                <a:spcPct val="125000"/>
              </a:lnSpc>
              <a:spcBef>
                <a:spcPts val="700"/>
              </a:spcBef>
              <a:spcAft>
                <a:spcPts val="0"/>
              </a:spcAft>
            </a:pPr>
            <a:r>
              <a:rPr sz="1200" b="0" i="0">
                <a:solidFill>
                  <a:srgbClr val="6E3C37"/>
                </a:solidFill>
                <a:latin typeface="Helvetica Neue"/>
              </a:rPr>
              <a:t>A blank CTO on an investor deck is a live objection, not a gap.</a:t>
            </a:r>
          </a:p>
          <a:p>
            <a:pPr>
              <a:lnSpc>
                <a:spcPct val="125000"/>
              </a:lnSpc>
              <a:spcBef>
                <a:spcPts val="700"/>
              </a:spcBef>
              <a:spcAft>
                <a:spcPts val="0"/>
              </a:spcAft>
            </a:pPr>
            <a:r>
              <a:rPr sz="1200" b="0" i="0">
                <a:solidFill>
                  <a:srgbClr val="6E3C37"/>
                </a:solidFill>
                <a:latin typeface="Helvetica Neue"/>
              </a:rPr>
              <a:t>Also missing: Holly's own account of why municipal records.</a:t>
            </a:r>
          </a:p>
        </p:txBody>
      </p:sp>
      <p:sp>
        <p:nvSpPr>
          <p:cNvPr id="18" name="TextBox 17"/>
          <p:cNvSpPr txBox="1"/>
          <p:nvPr/>
        </p:nvSpPr>
        <p:spPr>
          <a:xfrm>
            <a:off x="822960" y="5650992"/>
            <a:ext cx="10241280" cy="457200"/>
          </a:xfrm>
          <a:prstGeom prst="rect">
            <a:avLst/>
          </a:prstGeom>
          <a:noFill/>
        </p:spPr>
        <p:txBody>
          <a:bodyPr wrap="square" lIns="0" rIns="0" tIns="0" bIns="0">
            <a:spAutoFit/>
          </a:bodyPr>
          <a:lstStyle/>
          <a:p>
            <a:pPr algn="l">
              <a:lnSpc>
                <a:spcPct val="130000"/>
              </a:lnSpc>
              <a:spcBef>
                <a:spcPts val="0"/>
              </a:spcBef>
              <a:spcAft>
                <a:spcPts val="0"/>
              </a:spcAft>
            </a:pPr>
            <a:r>
              <a:rPr sz="1450" b="1" i="0">
                <a:solidFill>
                  <a:srgbClr val="16202E"/>
                </a:solidFill>
                <a:latin typeface="Helvetica Neue"/>
              </a:rPr>
              <a:t>A former mayor's recommendation is how you get into 230 city halls. It is not purchasable at any seed size.</a:t>
            </a:r>
          </a:p>
        </p:txBody>
      </p:sp>
      <p:sp>
        <p:nvSpPr>
          <p:cNvPr id="19" name="TextBox 18"/>
          <p:cNvSpPr txBox="1"/>
          <p:nvPr/>
        </p:nvSpPr>
        <p:spPr>
          <a:xfrm>
            <a:off x="822960" y="6053328"/>
            <a:ext cx="10332720" cy="274320"/>
          </a:xfrm>
          <a:prstGeom prst="rect">
            <a:avLst/>
          </a:prstGeom>
          <a:noFill/>
        </p:spPr>
        <p:txBody>
          <a:bodyPr wrap="square" lIns="0" rIns="0" tIns="0" bIns="0">
            <a:spAutoFit/>
          </a:bodyPr>
          <a:lstStyle/>
          <a:p>
            <a:pPr algn="l">
              <a:lnSpc>
                <a:spcPct val="125000"/>
              </a:lnSpc>
              <a:spcBef>
                <a:spcPts val="0"/>
              </a:spcBef>
              <a:spcAft>
                <a:spcPts val="0"/>
              </a:spcAft>
            </a:pPr>
            <a:r>
              <a:rPr sz="900" b="0" i="0">
                <a:solidFill>
                  <a:srgbClr val="8A939E"/>
                </a:solidFill>
                <a:latin typeface="Helvetica Neue"/>
              </a:rPr>
              <a:t>Source:  stratacivicsolutions.com /company/team; Strata market &amp; competitive research, 30 Aug 2026, §2.5.</a:t>
            </a:r>
          </a:p>
        </p:txBody>
      </p:sp>
      <p:sp>
        <p:nvSpPr>
          <p:cNvPr id="20" name="TextBox 19"/>
          <p:cNvSpPr txBox="1"/>
          <p:nvPr/>
        </p:nvSpPr>
        <p:spPr>
          <a:xfrm>
            <a:off x="822960" y="6419088"/>
            <a:ext cx="8778240" cy="274320"/>
          </a:xfrm>
          <a:prstGeom prst="rect">
            <a:avLst/>
          </a:prstGeom>
          <a:noFill/>
        </p:spPr>
        <p:txBody>
          <a:bodyPr wrap="square" lIns="0" rIns="0" tIns="0" bIns="0">
            <a:spAutoFit/>
          </a:bodyPr>
          <a:lstStyle/>
          <a:p>
            <a:pPr algn="l">
              <a:spcBef>
                <a:spcPts val="0"/>
              </a:spcBef>
              <a:spcAft>
                <a:spcPts val="0"/>
              </a:spcAft>
            </a:pPr>
            <a:r>
              <a:rPr sz="850" b="0" i="0">
                <a:solidFill>
                  <a:srgbClr val="8A939E"/>
                </a:solidFill>
                <a:latin typeface="Helvetica Neue"/>
              </a:rPr>
              <a:t>Strata Civic Solutions  ·  Pitch deck v1, 1 September 2026  ·  Draft for joseleos  ·  Confidential</a:t>
            </a:r>
          </a:p>
        </p:txBody>
      </p:sp>
      <p:sp>
        <p:nvSpPr>
          <p:cNvPr id="21" name="TextBox 20"/>
          <p:cNvSpPr txBox="1"/>
          <p:nvPr/>
        </p:nvSpPr>
        <p:spPr>
          <a:xfrm>
            <a:off x="10454335" y="6419088"/>
            <a:ext cx="914400" cy="274320"/>
          </a:xfrm>
          <a:prstGeom prst="rect">
            <a:avLst/>
          </a:prstGeom>
          <a:noFill/>
        </p:spPr>
        <p:txBody>
          <a:bodyPr wrap="square" lIns="0" rIns="0" tIns="0" bIns="0">
            <a:spAutoFit/>
          </a:bodyPr>
          <a:lstStyle/>
          <a:p>
            <a:pPr algn="r">
              <a:spcBef>
                <a:spcPts val="0"/>
              </a:spcBef>
              <a:spcAft>
                <a:spcPts val="0"/>
              </a:spcAft>
            </a:pPr>
            <a:r>
              <a:rPr sz="850" b="0" i="0">
                <a:solidFill>
                  <a:srgbClr val="8A939E"/>
                </a:solidFill>
                <a:latin typeface="Helvetica Neue"/>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10545775" cy="274320"/>
          </a:xfrm>
          <a:prstGeom prst="rect">
            <a:avLst/>
          </a:prstGeom>
          <a:noFill/>
        </p:spPr>
        <p:txBody>
          <a:bodyPr wrap="square" lIns="0" rIns="0" tIns="0" bIns="0">
            <a:spAutoFit/>
          </a:bodyPr>
          <a:lstStyle/>
          <a:p>
            <a:pPr algn="l">
              <a:spcBef>
                <a:spcPts val="0"/>
              </a:spcBef>
              <a:spcAft>
                <a:spcPts val="0"/>
              </a:spcAft>
            </a:pPr>
            <a:r>
              <a:rPr sz="1050" b="1" i="0">
                <a:solidFill>
                  <a:srgbClr val="1F7A6C"/>
                </a:solidFill>
                <a:latin typeface="Helvetica Neue"/>
              </a:rPr>
              <a:t>WHERE WE ACTUALLY ARE</a:t>
            </a:r>
          </a:p>
        </p:txBody>
      </p:sp>
      <p:sp>
        <p:nvSpPr>
          <p:cNvPr id="4" name="TextBox 3"/>
          <p:cNvSpPr txBox="1"/>
          <p:nvPr/>
        </p:nvSpPr>
        <p:spPr>
          <a:xfrm>
            <a:off x="822960" y="914400"/>
            <a:ext cx="10545775" cy="475488"/>
          </a:xfrm>
          <a:prstGeom prst="rect">
            <a:avLst/>
          </a:prstGeom>
          <a:noFill/>
        </p:spPr>
        <p:txBody>
          <a:bodyPr wrap="square" lIns="0" rIns="0" tIns="0" bIns="0">
            <a:spAutoFit/>
          </a:bodyPr>
          <a:lstStyle/>
          <a:p>
            <a:pPr algn="l">
              <a:lnSpc>
                <a:spcPct val="106000"/>
              </a:lnSpc>
              <a:spcBef>
                <a:spcPts val="0"/>
              </a:spcBef>
              <a:spcAft>
                <a:spcPts val="0"/>
              </a:spcAft>
            </a:pPr>
            <a:r>
              <a:rPr sz="3000" b="1" i="0">
                <a:solidFill>
                  <a:srgbClr val="16202E"/>
                </a:solidFill>
                <a:latin typeface="Helvetica Neue"/>
              </a:rPr>
              <a:t>Live product. One demo city. Zero paying customers.</a:t>
            </a:r>
          </a:p>
        </p:txBody>
      </p:sp>
      <p:sp>
        <p:nvSpPr>
          <p:cNvPr id="5" name="TextBox 4"/>
          <p:cNvSpPr txBox="1"/>
          <p:nvPr/>
        </p:nvSpPr>
        <p:spPr>
          <a:xfrm>
            <a:off x="822960" y="1481328"/>
            <a:ext cx="9509760" cy="548640"/>
          </a:xfrm>
          <a:prstGeom prst="rect">
            <a:avLst/>
          </a:prstGeom>
          <a:noFill/>
        </p:spPr>
        <p:txBody>
          <a:bodyPr wrap="square" lIns="0" rIns="0" tIns="0" bIns="0">
            <a:spAutoFit/>
          </a:bodyPr>
          <a:lstStyle/>
          <a:p>
            <a:pPr algn="l">
              <a:lnSpc>
                <a:spcPct val="132000"/>
              </a:lnSpc>
              <a:spcBef>
                <a:spcPts val="0"/>
              </a:spcBef>
              <a:spcAft>
                <a:spcPts val="0"/>
              </a:spcAft>
            </a:pPr>
            <a:r>
              <a:rPr sz="1450" b="0" i="0">
                <a:solidFill>
                  <a:srgbClr val="414D5C"/>
                </a:solidFill>
                <a:latin typeface="Helvetica Neue"/>
              </a:rPr>
              <a:t>Said first, with dates, because the alternative is having it discovered.</a:t>
            </a:r>
          </a:p>
        </p:txBody>
      </p:sp>
      <p:sp>
        <p:nvSpPr>
          <p:cNvPr id="6" name="Rectangle 5"/>
          <p:cNvSpPr/>
          <p:nvPr/>
        </p:nvSpPr>
        <p:spPr>
          <a:xfrm>
            <a:off x="822960" y="1933956"/>
            <a:ext cx="10545775" cy="12700"/>
          </a:xfrm>
          <a:prstGeom prst="rect">
            <a:avLst/>
          </a:prstGeom>
          <a:solidFill>
            <a:srgbClr val="D7D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318004"/>
            <a:ext cx="1883664" cy="219456"/>
          </a:xfrm>
          <a:prstGeom prst="rect">
            <a:avLst/>
          </a:prstGeom>
          <a:noFill/>
        </p:spPr>
        <p:txBody>
          <a:bodyPr wrap="square" lIns="0" rIns="0" tIns="0" bIns="0">
            <a:spAutoFit/>
          </a:bodyPr>
          <a:lstStyle/>
          <a:p>
            <a:pPr algn="l">
              <a:spcBef>
                <a:spcPts val="0"/>
              </a:spcBef>
              <a:spcAft>
                <a:spcPts val="0"/>
              </a:spcAft>
            </a:pPr>
            <a:r>
              <a:rPr sz="950" b="1" i="0">
                <a:solidFill>
                  <a:srgbClr val="1F7A6C"/>
                </a:solidFill>
                <a:latin typeface="Helvetica Neue"/>
              </a:rPr>
              <a:t/>
            </a:r>
          </a:p>
        </p:txBody>
      </p:sp>
      <p:sp>
        <p:nvSpPr>
          <p:cNvPr id="8" name="TextBox 7"/>
          <p:cNvSpPr txBox="1"/>
          <p:nvPr/>
        </p:nvSpPr>
        <p:spPr>
          <a:xfrm>
            <a:off x="2834640" y="2318004"/>
            <a:ext cx="5358384" cy="219456"/>
          </a:xfrm>
          <a:prstGeom prst="rect">
            <a:avLst/>
          </a:prstGeom>
          <a:noFill/>
        </p:spPr>
        <p:txBody>
          <a:bodyPr wrap="square" lIns="0" rIns="0" tIns="0" bIns="0">
            <a:spAutoFit/>
          </a:bodyPr>
          <a:lstStyle/>
          <a:p>
            <a:pPr algn="l">
              <a:spcBef>
                <a:spcPts val="0"/>
              </a:spcBef>
              <a:spcAft>
                <a:spcPts val="0"/>
              </a:spcAft>
            </a:pPr>
            <a:r>
              <a:rPr sz="950" b="1" i="0">
                <a:solidFill>
                  <a:srgbClr val="1F7A6C"/>
                </a:solidFill>
                <a:latin typeface="Helvetica Neue"/>
              </a:rPr>
              <a:t>STATUS</a:t>
            </a:r>
          </a:p>
        </p:txBody>
      </p:sp>
      <p:sp>
        <p:nvSpPr>
          <p:cNvPr id="9" name="TextBox 8"/>
          <p:cNvSpPr txBox="1"/>
          <p:nvPr/>
        </p:nvSpPr>
        <p:spPr>
          <a:xfrm>
            <a:off x="8321040" y="2318004"/>
            <a:ext cx="923544" cy="219456"/>
          </a:xfrm>
          <a:prstGeom prst="rect">
            <a:avLst/>
          </a:prstGeom>
          <a:noFill/>
        </p:spPr>
        <p:txBody>
          <a:bodyPr wrap="square" lIns="0" rIns="0" tIns="0" bIns="0">
            <a:spAutoFit/>
          </a:bodyPr>
          <a:lstStyle/>
          <a:p>
            <a:pPr algn="l">
              <a:spcBef>
                <a:spcPts val="0"/>
              </a:spcBef>
              <a:spcAft>
                <a:spcPts val="0"/>
              </a:spcAft>
            </a:pPr>
            <a:r>
              <a:rPr sz="950" b="1" i="0">
                <a:solidFill>
                  <a:srgbClr val="1F7A6C"/>
                </a:solidFill>
                <a:latin typeface="Helvetica Neue"/>
              </a:rPr>
              <a:t>AS OF</a:t>
            </a:r>
          </a:p>
        </p:txBody>
      </p:sp>
      <p:sp>
        <p:nvSpPr>
          <p:cNvPr id="10" name="TextBox 9"/>
          <p:cNvSpPr txBox="1"/>
          <p:nvPr/>
        </p:nvSpPr>
        <p:spPr>
          <a:xfrm>
            <a:off x="9372600" y="2318004"/>
            <a:ext cx="1655064" cy="219456"/>
          </a:xfrm>
          <a:prstGeom prst="rect">
            <a:avLst/>
          </a:prstGeom>
          <a:noFill/>
        </p:spPr>
        <p:txBody>
          <a:bodyPr wrap="square" lIns="0" rIns="0" tIns="0" bIns="0">
            <a:spAutoFit/>
          </a:bodyPr>
          <a:lstStyle/>
          <a:p>
            <a:pPr algn="l">
              <a:spcBef>
                <a:spcPts val="0"/>
              </a:spcBef>
              <a:spcAft>
                <a:spcPts val="0"/>
              </a:spcAft>
            </a:pPr>
            <a:r>
              <a:rPr sz="950" b="1" i="0">
                <a:solidFill>
                  <a:srgbClr val="1F7A6C"/>
                </a:solidFill>
                <a:latin typeface="Helvetica Neue"/>
              </a:rPr>
              <a:t>SOURCE</a:t>
            </a:r>
          </a:p>
        </p:txBody>
      </p:sp>
      <p:sp>
        <p:nvSpPr>
          <p:cNvPr id="11" name="Rectangle 10"/>
          <p:cNvSpPr/>
          <p:nvPr/>
        </p:nvSpPr>
        <p:spPr>
          <a:xfrm>
            <a:off x="822960" y="2592324"/>
            <a:ext cx="10332720" cy="15875"/>
          </a:xfrm>
          <a:prstGeom prst="rect">
            <a:avLst/>
          </a:prstGeom>
          <a:solidFill>
            <a:srgbClr val="1F7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2711196"/>
            <a:ext cx="1883664" cy="402336"/>
          </a:xfrm>
          <a:prstGeom prst="rect">
            <a:avLst/>
          </a:prstGeom>
          <a:noFill/>
        </p:spPr>
        <p:txBody>
          <a:bodyPr wrap="square" lIns="0" rIns="0" tIns="0" bIns="0">
            <a:spAutoFit/>
          </a:bodyPr>
          <a:lstStyle/>
          <a:p>
            <a:pPr algn="l">
              <a:lnSpc>
                <a:spcPct val="120000"/>
              </a:lnSpc>
              <a:spcBef>
                <a:spcPts val="0"/>
              </a:spcBef>
              <a:spcAft>
                <a:spcPts val="0"/>
              </a:spcAft>
            </a:pPr>
            <a:r>
              <a:rPr sz="1200" b="1" i="0">
                <a:solidFill>
                  <a:srgbClr val="16202E"/>
                </a:solidFill>
                <a:latin typeface="Helvetica Neue"/>
              </a:rPr>
              <a:t>Product</a:t>
            </a:r>
          </a:p>
        </p:txBody>
      </p:sp>
      <p:sp>
        <p:nvSpPr>
          <p:cNvPr id="13" name="TextBox 12"/>
          <p:cNvSpPr txBox="1"/>
          <p:nvPr/>
        </p:nvSpPr>
        <p:spPr>
          <a:xfrm>
            <a:off x="2834640" y="2711196"/>
            <a:ext cx="5358384" cy="402336"/>
          </a:xfrm>
          <a:prstGeom prst="rect">
            <a:avLst/>
          </a:prstGeom>
          <a:noFill/>
        </p:spPr>
        <p:txBody>
          <a:bodyPr wrap="square" lIns="0" rIns="0" tIns="0" bIns="0">
            <a:spAutoFit/>
          </a:bodyPr>
          <a:lstStyle/>
          <a:p>
            <a:pPr algn="l">
              <a:lnSpc>
                <a:spcPct val="120000"/>
              </a:lnSpc>
              <a:spcBef>
                <a:spcPts val="0"/>
              </a:spcBef>
              <a:spcAft>
                <a:spcPts val="0"/>
              </a:spcAft>
            </a:pPr>
            <a:r>
              <a:rPr sz="1200" b="0" i="0">
                <a:solidFill>
                  <a:srgbClr val="414D5C"/>
                </a:solidFill>
                <a:latin typeface="Helvetica Neue"/>
              </a:rPr>
              <a:t>Built and live — Ask Strata, Meeting Prep, City Snapshot in production</a:t>
            </a:r>
          </a:p>
        </p:txBody>
      </p:sp>
      <p:sp>
        <p:nvSpPr>
          <p:cNvPr id="14" name="TextBox 13"/>
          <p:cNvSpPr txBox="1"/>
          <p:nvPr/>
        </p:nvSpPr>
        <p:spPr>
          <a:xfrm>
            <a:off x="8321040" y="2711196"/>
            <a:ext cx="923544" cy="402336"/>
          </a:xfrm>
          <a:prstGeom prst="rect">
            <a:avLst/>
          </a:prstGeom>
          <a:noFill/>
        </p:spPr>
        <p:txBody>
          <a:bodyPr wrap="square" lIns="0" rIns="0" tIns="0" bIns="0">
            <a:spAutoFit/>
          </a:bodyPr>
          <a:lstStyle/>
          <a:p>
            <a:pPr algn="l">
              <a:lnSpc>
                <a:spcPct val="120000"/>
              </a:lnSpc>
              <a:spcBef>
                <a:spcPts val="0"/>
              </a:spcBef>
              <a:spcAft>
                <a:spcPts val="0"/>
              </a:spcAft>
            </a:pPr>
            <a:r>
              <a:rPr sz="1200" b="0" i="0">
                <a:solidFill>
                  <a:srgbClr val="414D5C"/>
                </a:solidFill>
                <a:latin typeface="Helvetica Neue"/>
              </a:rPr>
              <a:t>Aug 2026</a:t>
            </a:r>
          </a:p>
        </p:txBody>
      </p:sp>
      <p:sp>
        <p:nvSpPr>
          <p:cNvPr id="15" name="TextBox 14"/>
          <p:cNvSpPr txBox="1"/>
          <p:nvPr/>
        </p:nvSpPr>
        <p:spPr>
          <a:xfrm>
            <a:off x="9372600" y="2711196"/>
            <a:ext cx="1655064" cy="402336"/>
          </a:xfrm>
          <a:prstGeom prst="rect">
            <a:avLst/>
          </a:prstGeom>
          <a:noFill/>
        </p:spPr>
        <p:txBody>
          <a:bodyPr wrap="square" lIns="0" rIns="0" tIns="0" bIns="0">
            <a:spAutoFit/>
          </a:bodyPr>
          <a:lstStyle/>
          <a:p>
            <a:pPr algn="l">
              <a:lnSpc>
                <a:spcPct val="120000"/>
              </a:lnSpc>
              <a:spcBef>
                <a:spcPts val="0"/>
              </a:spcBef>
              <a:spcAft>
                <a:spcPts val="0"/>
              </a:spcAft>
            </a:pPr>
            <a:r>
              <a:rPr sz="1200" b="0" i="0">
                <a:solidFill>
                  <a:srgbClr val="414D5C"/>
                </a:solidFill>
                <a:latin typeface="Helvetica Neue"/>
              </a:rPr>
              <a:t>Company site</a:t>
            </a:r>
          </a:p>
        </p:txBody>
      </p:sp>
      <p:sp>
        <p:nvSpPr>
          <p:cNvPr id="16" name="Rectangle 15"/>
          <p:cNvSpPr/>
          <p:nvPr/>
        </p:nvSpPr>
        <p:spPr>
          <a:xfrm>
            <a:off x="822960" y="3022092"/>
            <a:ext cx="10332720" cy="9525"/>
          </a:xfrm>
          <a:prstGeom prst="rect">
            <a:avLst/>
          </a:prstGeom>
          <a:solidFill>
            <a:srgbClr val="D7D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3113532"/>
            <a:ext cx="1883664" cy="402336"/>
          </a:xfrm>
          <a:prstGeom prst="rect">
            <a:avLst/>
          </a:prstGeom>
          <a:noFill/>
        </p:spPr>
        <p:txBody>
          <a:bodyPr wrap="square" lIns="0" rIns="0" tIns="0" bIns="0">
            <a:spAutoFit/>
          </a:bodyPr>
          <a:lstStyle/>
          <a:p>
            <a:pPr algn="l">
              <a:lnSpc>
                <a:spcPct val="120000"/>
              </a:lnSpc>
              <a:spcBef>
                <a:spcPts val="0"/>
              </a:spcBef>
              <a:spcAft>
                <a:spcPts val="0"/>
              </a:spcAft>
            </a:pPr>
            <a:r>
              <a:rPr sz="1200" b="1" i="0">
                <a:solidFill>
                  <a:srgbClr val="16202E"/>
                </a:solidFill>
                <a:latin typeface="Helvetica Neue"/>
              </a:rPr>
              <a:t>Reference city</a:t>
            </a:r>
          </a:p>
        </p:txBody>
      </p:sp>
      <p:sp>
        <p:nvSpPr>
          <p:cNvPr id="18" name="TextBox 17"/>
          <p:cNvSpPr txBox="1"/>
          <p:nvPr/>
        </p:nvSpPr>
        <p:spPr>
          <a:xfrm>
            <a:off x="2834640" y="3113532"/>
            <a:ext cx="5358384" cy="402336"/>
          </a:xfrm>
          <a:prstGeom prst="rect">
            <a:avLst/>
          </a:prstGeom>
          <a:noFill/>
        </p:spPr>
        <p:txBody>
          <a:bodyPr wrap="square" lIns="0" rIns="0" tIns="0" bIns="0">
            <a:spAutoFit/>
          </a:bodyPr>
          <a:lstStyle/>
          <a:p>
            <a:pPr algn="l">
              <a:lnSpc>
                <a:spcPct val="120000"/>
              </a:lnSpc>
              <a:spcBef>
                <a:spcPts val="0"/>
              </a:spcBef>
              <a:spcAft>
                <a:spcPts val="0"/>
              </a:spcAft>
            </a:pPr>
            <a:r>
              <a:rPr sz="1200" b="0" i="0">
                <a:solidFill>
                  <a:srgbClr val="414D5C"/>
                </a:solidFill>
                <a:latin typeface="Helvetica Neue"/>
              </a:rPr>
              <a:t>Schertz, TX (~50k) — live demo city with cached example queries; has not committed to paying</a:t>
            </a:r>
          </a:p>
        </p:txBody>
      </p:sp>
      <p:sp>
        <p:nvSpPr>
          <p:cNvPr id="19" name="TextBox 18"/>
          <p:cNvSpPr txBox="1"/>
          <p:nvPr/>
        </p:nvSpPr>
        <p:spPr>
          <a:xfrm>
            <a:off x="8321040" y="3113532"/>
            <a:ext cx="923544" cy="402336"/>
          </a:xfrm>
          <a:prstGeom prst="rect">
            <a:avLst/>
          </a:prstGeom>
          <a:noFill/>
        </p:spPr>
        <p:txBody>
          <a:bodyPr wrap="square" lIns="0" rIns="0" tIns="0" bIns="0">
            <a:spAutoFit/>
          </a:bodyPr>
          <a:lstStyle/>
          <a:p>
            <a:pPr algn="l">
              <a:lnSpc>
                <a:spcPct val="120000"/>
              </a:lnSpc>
              <a:spcBef>
                <a:spcPts val="0"/>
              </a:spcBef>
              <a:spcAft>
                <a:spcPts val="0"/>
              </a:spcAft>
            </a:pPr>
            <a:r>
              <a:rPr sz="1200" b="0" i="0">
                <a:solidFill>
                  <a:srgbClr val="414D5C"/>
                </a:solidFill>
                <a:latin typeface="Helvetica Neue"/>
              </a:rPr>
              <a:t>Aug 2026</a:t>
            </a:r>
          </a:p>
        </p:txBody>
      </p:sp>
      <p:sp>
        <p:nvSpPr>
          <p:cNvPr id="20" name="TextBox 19"/>
          <p:cNvSpPr txBox="1"/>
          <p:nvPr/>
        </p:nvSpPr>
        <p:spPr>
          <a:xfrm>
            <a:off x="9372600" y="3113532"/>
            <a:ext cx="1655064" cy="402336"/>
          </a:xfrm>
          <a:prstGeom prst="rect">
            <a:avLst/>
          </a:prstGeom>
          <a:noFill/>
        </p:spPr>
        <p:txBody>
          <a:bodyPr wrap="square" lIns="0" rIns="0" tIns="0" bIns="0">
            <a:spAutoFit/>
          </a:bodyPr>
          <a:lstStyle/>
          <a:p>
            <a:pPr algn="l">
              <a:lnSpc>
                <a:spcPct val="120000"/>
              </a:lnSpc>
              <a:spcBef>
                <a:spcPts val="0"/>
              </a:spcBef>
              <a:spcAft>
                <a:spcPts val="0"/>
              </a:spcAft>
            </a:pPr>
            <a:r>
              <a:rPr sz="1200" b="0" i="0">
                <a:solidFill>
                  <a:srgbClr val="414D5C"/>
                </a:solidFill>
                <a:latin typeface="Helvetica Neue"/>
              </a:rPr>
              <a:t>Site + joseleos</a:t>
            </a:r>
          </a:p>
        </p:txBody>
      </p:sp>
      <p:sp>
        <p:nvSpPr>
          <p:cNvPr id="21" name="Rectangle 20"/>
          <p:cNvSpPr/>
          <p:nvPr/>
        </p:nvSpPr>
        <p:spPr>
          <a:xfrm>
            <a:off x="822960" y="3540252"/>
            <a:ext cx="10332720" cy="9525"/>
          </a:xfrm>
          <a:prstGeom prst="rect">
            <a:avLst/>
          </a:prstGeom>
          <a:solidFill>
            <a:srgbClr val="D7D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3631692"/>
            <a:ext cx="1883664" cy="402336"/>
          </a:xfrm>
          <a:prstGeom prst="rect">
            <a:avLst/>
          </a:prstGeom>
          <a:noFill/>
        </p:spPr>
        <p:txBody>
          <a:bodyPr wrap="square" lIns="0" rIns="0" tIns="0" bIns="0">
            <a:spAutoFit/>
          </a:bodyPr>
          <a:lstStyle/>
          <a:p>
            <a:pPr algn="l">
              <a:lnSpc>
                <a:spcPct val="120000"/>
              </a:lnSpc>
              <a:spcBef>
                <a:spcPts val="0"/>
              </a:spcBef>
              <a:spcAft>
                <a:spcPts val="0"/>
              </a:spcAft>
            </a:pPr>
            <a:r>
              <a:rPr sz="1200" b="1" i="0">
                <a:solidFill>
                  <a:srgbClr val="16202E"/>
                </a:solidFill>
                <a:latin typeface="Helvetica Neue"/>
              </a:rPr>
              <a:t>Customer discovery</a:t>
            </a:r>
          </a:p>
        </p:txBody>
      </p:sp>
      <p:sp>
        <p:nvSpPr>
          <p:cNvPr id="23" name="TextBox 22"/>
          <p:cNvSpPr txBox="1"/>
          <p:nvPr/>
        </p:nvSpPr>
        <p:spPr>
          <a:xfrm>
            <a:off x="2834640" y="3631692"/>
            <a:ext cx="5358384" cy="402336"/>
          </a:xfrm>
          <a:prstGeom prst="rect">
            <a:avLst/>
          </a:prstGeom>
          <a:noFill/>
        </p:spPr>
        <p:txBody>
          <a:bodyPr wrap="square" lIns="0" rIns="0" tIns="0" bIns="0">
            <a:spAutoFit/>
          </a:bodyPr>
          <a:lstStyle/>
          <a:p>
            <a:pPr algn="l">
              <a:lnSpc>
                <a:spcPct val="120000"/>
              </a:lnSpc>
              <a:spcBef>
                <a:spcPts val="0"/>
              </a:spcBef>
              <a:spcAft>
                <a:spcPts val="0"/>
              </a:spcAft>
            </a:pPr>
            <a:r>
              <a:rPr sz="1200" b="0" i="0">
                <a:solidFill>
                  <a:srgbClr val="414D5C"/>
                </a:solidFill>
                <a:latin typeface="Helvetica Neue"/>
              </a:rPr>
              <a:t>4 council interviews completed</a:t>
            </a:r>
          </a:p>
        </p:txBody>
      </p:sp>
      <p:sp>
        <p:nvSpPr>
          <p:cNvPr id="24" name="TextBox 23"/>
          <p:cNvSpPr txBox="1"/>
          <p:nvPr/>
        </p:nvSpPr>
        <p:spPr>
          <a:xfrm>
            <a:off x="8321040" y="3631692"/>
            <a:ext cx="923544" cy="402336"/>
          </a:xfrm>
          <a:prstGeom prst="rect">
            <a:avLst/>
          </a:prstGeom>
          <a:noFill/>
        </p:spPr>
        <p:txBody>
          <a:bodyPr wrap="square" lIns="0" rIns="0" tIns="0" bIns="0">
            <a:spAutoFit/>
          </a:bodyPr>
          <a:lstStyle/>
          <a:p>
            <a:pPr algn="l">
              <a:lnSpc>
                <a:spcPct val="120000"/>
              </a:lnSpc>
              <a:spcBef>
                <a:spcPts val="0"/>
              </a:spcBef>
              <a:spcAft>
                <a:spcPts val="0"/>
              </a:spcAft>
            </a:pPr>
            <a:r>
              <a:rPr sz="1200" b="0" i="0">
                <a:solidFill>
                  <a:srgbClr val="414D5C"/>
                </a:solidFill>
                <a:latin typeface="Helvetica Neue"/>
              </a:rPr>
              <a:t>Jun 2026</a:t>
            </a:r>
          </a:p>
        </p:txBody>
      </p:sp>
      <p:sp>
        <p:nvSpPr>
          <p:cNvPr id="25" name="TextBox 24"/>
          <p:cNvSpPr txBox="1"/>
          <p:nvPr/>
        </p:nvSpPr>
        <p:spPr>
          <a:xfrm>
            <a:off x="9372600" y="3631692"/>
            <a:ext cx="1655064" cy="402336"/>
          </a:xfrm>
          <a:prstGeom prst="rect">
            <a:avLst/>
          </a:prstGeom>
          <a:noFill/>
        </p:spPr>
        <p:txBody>
          <a:bodyPr wrap="square" lIns="0" rIns="0" tIns="0" bIns="0">
            <a:spAutoFit/>
          </a:bodyPr>
          <a:lstStyle/>
          <a:p>
            <a:pPr algn="l">
              <a:lnSpc>
                <a:spcPct val="120000"/>
              </a:lnSpc>
              <a:spcBef>
                <a:spcPts val="0"/>
              </a:spcBef>
              <a:spcAft>
                <a:spcPts val="0"/>
              </a:spcAft>
            </a:pPr>
            <a:r>
              <a:rPr sz="1200" b="0" i="0">
                <a:solidFill>
                  <a:srgbClr val="414D5C"/>
                </a:solidFill>
                <a:latin typeface="Helvetica Neue"/>
              </a:rPr>
              <a:t>HermesX note — second-hand</a:t>
            </a:r>
          </a:p>
        </p:txBody>
      </p:sp>
      <p:sp>
        <p:nvSpPr>
          <p:cNvPr id="26" name="Rectangle 25"/>
          <p:cNvSpPr/>
          <p:nvPr/>
        </p:nvSpPr>
        <p:spPr>
          <a:xfrm>
            <a:off x="822960" y="4058412"/>
            <a:ext cx="10332720" cy="9525"/>
          </a:xfrm>
          <a:prstGeom prst="rect">
            <a:avLst/>
          </a:prstGeom>
          <a:solidFill>
            <a:srgbClr val="D7D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 y="4149852"/>
            <a:ext cx="1883664" cy="402336"/>
          </a:xfrm>
          <a:prstGeom prst="rect">
            <a:avLst/>
          </a:prstGeom>
          <a:noFill/>
        </p:spPr>
        <p:txBody>
          <a:bodyPr wrap="square" lIns="0" rIns="0" tIns="0" bIns="0">
            <a:spAutoFit/>
          </a:bodyPr>
          <a:lstStyle/>
          <a:p>
            <a:pPr algn="l">
              <a:lnSpc>
                <a:spcPct val="120000"/>
              </a:lnSpc>
              <a:spcBef>
                <a:spcPts val="0"/>
              </a:spcBef>
              <a:spcAft>
                <a:spcPts val="0"/>
              </a:spcAft>
            </a:pPr>
            <a:r>
              <a:rPr sz="1200" b="1" i="0">
                <a:solidFill>
                  <a:srgbClr val="16202E"/>
                </a:solidFill>
                <a:latin typeface="Helvetica Neue"/>
              </a:rPr>
              <a:t>Entity</a:t>
            </a:r>
          </a:p>
        </p:txBody>
      </p:sp>
      <p:sp>
        <p:nvSpPr>
          <p:cNvPr id="28" name="TextBox 27"/>
          <p:cNvSpPr txBox="1"/>
          <p:nvPr/>
        </p:nvSpPr>
        <p:spPr>
          <a:xfrm>
            <a:off x="2834640" y="4149852"/>
            <a:ext cx="5358384" cy="402336"/>
          </a:xfrm>
          <a:prstGeom prst="rect">
            <a:avLst/>
          </a:prstGeom>
          <a:noFill/>
        </p:spPr>
        <p:txBody>
          <a:bodyPr wrap="square" lIns="0" rIns="0" tIns="0" bIns="0">
            <a:spAutoFit/>
          </a:bodyPr>
          <a:lstStyle/>
          <a:p>
            <a:pPr algn="l">
              <a:lnSpc>
                <a:spcPct val="120000"/>
              </a:lnSpc>
              <a:spcBef>
                <a:spcPts val="0"/>
              </a:spcBef>
              <a:spcAft>
                <a:spcPts val="0"/>
              </a:spcAft>
            </a:pPr>
            <a:r>
              <a:rPr sz="1200" b="0" i="0">
                <a:solidFill>
                  <a:srgbClr val="414D5C"/>
                </a:solidFill>
                <a:latin typeface="Helvetica Neue"/>
              </a:rPr>
              <a:t>Delaware Public Benefit Corporation, foreign-qualified in Texas</a:t>
            </a:r>
          </a:p>
        </p:txBody>
      </p:sp>
      <p:sp>
        <p:nvSpPr>
          <p:cNvPr id="29" name="TextBox 28"/>
          <p:cNvSpPr txBox="1"/>
          <p:nvPr/>
        </p:nvSpPr>
        <p:spPr>
          <a:xfrm>
            <a:off x="8321040" y="4149852"/>
            <a:ext cx="923544" cy="402336"/>
          </a:xfrm>
          <a:prstGeom prst="rect">
            <a:avLst/>
          </a:prstGeom>
          <a:noFill/>
        </p:spPr>
        <p:txBody>
          <a:bodyPr wrap="square" lIns="0" rIns="0" tIns="0" bIns="0">
            <a:spAutoFit/>
          </a:bodyPr>
          <a:lstStyle/>
          <a:p>
            <a:pPr algn="l">
              <a:lnSpc>
                <a:spcPct val="120000"/>
              </a:lnSpc>
              <a:spcBef>
                <a:spcPts val="0"/>
              </a:spcBef>
              <a:spcAft>
                <a:spcPts val="0"/>
              </a:spcAft>
            </a:pPr>
            <a:r>
              <a:rPr sz="1200" b="0" i="0">
                <a:solidFill>
                  <a:srgbClr val="414D5C"/>
                </a:solidFill>
                <a:latin typeface="Helvetica Neue"/>
              </a:rPr>
              <a:t>Aug 2026</a:t>
            </a:r>
          </a:p>
        </p:txBody>
      </p:sp>
      <p:sp>
        <p:nvSpPr>
          <p:cNvPr id="30" name="TextBox 29"/>
          <p:cNvSpPr txBox="1"/>
          <p:nvPr/>
        </p:nvSpPr>
        <p:spPr>
          <a:xfrm>
            <a:off x="9372600" y="4149852"/>
            <a:ext cx="1655064" cy="402336"/>
          </a:xfrm>
          <a:prstGeom prst="rect">
            <a:avLst/>
          </a:prstGeom>
          <a:noFill/>
        </p:spPr>
        <p:txBody>
          <a:bodyPr wrap="square" lIns="0" rIns="0" tIns="0" bIns="0">
            <a:spAutoFit/>
          </a:bodyPr>
          <a:lstStyle/>
          <a:p>
            <a:pPr algn="l">
              <a:lnSpc>
                <a:spcPct val="120000"/>
              </a:lnSpc>
              <a:spcBef>
                <a:spcPts val="0"/>
              </a:spcBef>
              <a:spcAft>
                <a:spcPts val="0"/>
              </a:spcAft>
            </a:pPr>
            <a:r>
              <a:rPr sz="1200" b="0" i="0">
                <a:solidFill>
                  <a:srgbClr val="414D5C"/>
                </a:solidFill>
                <a:latin typeface="Helvetica Neue"/>
              </a:rPr>
              <a:t>joseleos</a:t>
            </a:r>
          </a:p>
        </p:txBody>
      </p:sp>
      <p:sp>
        <p:nvSpPr>
          <p:cNvPr id="31" name="Rectangle 30"/>
          <p:cNvSpPr/>
          <p:nvPr/>
        </p:nvSpPr>
        <p:spPr>
          <a:xfrm>
            <a:off x="822960" y="4460748"/>
            <a:ext cx="10332720" cy="9525"/>
          </a:xfrm>
          <a:prstGeom prst="rect">
            <a:avLst/>
          </a:prstGeom>
          <a:solidFill>
            <a:srgbClr val="D7D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960" y="4552188"/>
            <a:ext cx="1883664" cy="402336"/>
          </a:xfrm>
          <a:prstGeom prst="rect">
            <a:avLst/>
          </a:prstGeom>
          <a:noFill/>
        </p:spPr>
        <p:txBody>
          <a:bodyPr wrap="square" lIns="0" rIns="0" tIns="0" bIns="0">
            <a:spAutoFit/>
          </a:bodyPr>
          <a:lstStyle/>
          <a:p>
            <a:pPr algn="l">
              <a:lnSpc>
                <a:spcPct val="120000"/>
              </a:lnSpc>
              <a:spcBef>
                <a:spcPts val="0"/>
              </a:spcBef>
              <a:spcAft>
                <a:spcPts val="0"/>
              </a:spcAft>
            </a:pPr>
            <a:r>
              <a:rPr sz="1200" b="1" i="0">
                <a:solidFill>
                  <a:srgbClr val="16202E"/>
                </a:solidFill>
                <a:latin typeface="Helvetica Neue"/>
              </a:rPr>
              <a:t>Revenue</a:t>
            </a:r>
          </a:p>
        </p:txBody>
      </p:sp>
      <p:sp>
        <p:nvSpPr>
          <p:cNvPr id="33" name="TextBox 32"/>
          <p:cNvSpPr txBox="1"/>
          <p:nvPr/>
        </p:nvSpPr>
        <p:spPr>
          <a:xfrm>
            <a:off x="2834640" y="4552188"/>
            <a:ext cx="5358384" cy="402336"/>
          </a:xfrm>
          <a:prstGeom prst="rect">
            <a:avLst/>
          </a:prstGeom>
          <a:noFill/>
        </p:spPr>
        <p:txBody>
          <a:bodyPr wrap="square" lIns="0" rIns="0" tIns="0" bIns="0">
            <a:spAutoFit/>
          </a:bodyPr>
          <a:lstStyle/>
          <a:p>
            <a:pPr algn="l">
              <a:lnSpc>
                <a:spcPct val="120000"/>
              </a:lnSpc>
              <a:spcBef>
                <a:spcPts val="0"/>
              </a:spcBef>
              <a:spcAft>
                <a:spcPts val="0"/>
              </a:spcAft>
            </a:pPr>
            <a:r>
              <a:rPr sz="1200" b="0" i="0">
                <a:solidFill>
                  <a:srgbClr val="414D5C"/>
                </a:solidFill>
                <a:latin typeface="Helvetica Neue"/>
              </a:rPr>
              <a:t>$0. Zero paying cities is an explicit model input, not an oversight.</a:t>
            </a:r>
          </a:p>
        </p:txBody>
      </p:sp>
      <p:sp>
        <p:nvSpPr>
          <p:cNvPr id="34" name="TextBox 33"/>
          <p:cNvSpPr txBox="1"/>
          <p:nvPr/>
        </p:nvSpPr>
        <p:spPr>
          <a:xfrm>
            <a:off x="8321040" y="4552188"/>
            <a:ext cx="923544" cy="402336"/>
          </a:xfrm>
          <a:prstGeom prst="rect">
            <a:avLst/>
          </a:prstGeom>
          <a:noFill/>
        </p:spPr>
        <p:txBody>
          <a:bodyPr wrap="square" lIns="0" rIns="0" tIns="0" bIns="0">
            <a:spAutoFit/>
          </a:bodyPr>
          <a:lstStyle/>
          <a:p>
            <a:pPr algn="l">
              <a:lnSpc>
                <a:spcPct val="120000"/>
              </a:lnSpc>
              <a:spcBef>
                <a:spcPts val="0"/>
              </a:spcBef>
              <a:spcAft>
                <a:spcPts val="0"/>
              </a:spcAft>
            </a:pPr>
            <a:r>
              <a:rPr sz="1200" b="0" i="0">
                <a:solidFill>
                  <a:srgbClr val="414D5C"/>
                </a:solidFill>
                <a:latin typeface="Helvetica Neue"/>
              </a:rPr>
              <a:t>—</a:t>
            </a:r>
          </a:p>
        </p:txBody>
      </p:sp>
      <p:sp>
        <p:nvSpPr>
          <p:cNvPr id="35" name="TextBox 34"/>
          <p:cNvSpPr txBox="1"/>
          <p:nvPr/>
        </p:nvSpPr>
        <p:spPr>
          <a:xfrm>
            <a:off x="9372600" y="4552188"/>
            <a:ext cx="1655064" cy="402336"/>
          </a:xfrm>
          <a:prstGeom prst="rect">
            <a:avLst/>
          </a:prstGeom>
          <a:noFill/>
        </p:spPr>
        <p:txBody>
          <a:bodyPr wrap="square" lIns="0" rIns="0" tIns="0" bIns="0">
            <a:spAutoFit/>
          </a:bodyPr>
          <a:lstStyle/>
          <a:p>
            <a:pPr algn="l">
              <a:lnSpc>
                <a:spcPct val="120000"/>
              </a:lnSpc>
              <a:spcBef>
                <a:spcPts val="0"/>
              </a:spcBef>
              <a:spcAft>
                <a:spcPts val="0"/>
              </a:spcAft>
            </a:pPr>
            <a:r>
              <a:rPr sz="1200" b="0" i="0">
                <a:solidFill>
                  <a:srgbClr val="414D5C"/>
                </a:solidFill>
                <a:latin typeface="Helvetica Neue"/>
              </a:rPr>
              <a:t>MODEL.md</a:t>
            </a:r>
          </a:p>
        </p:txBody>
      </p:sp>
      <p:sp>
        <p:nvSpPr>
          <p:cNvPr id="36" name="Rectangle 35"/>
          <p:cNvSpPr/>
          <p:nvPr/>
        </p:nvSpPr>
        <p:spPr>
          <a:xfrm>
            <a:off x="822960" y="4863084"/>
            <a:ext cx="10332720" cy="9525"/>
          </a:xfrm>
          <a:prstGeom prst="rect">
            <a:avLst/>
          </a:prstGeom>
          <a:solidFill>
            <a:srgbClr val="D7D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22960" y="4954524"/>
            <a:ext cx="1883664" cy="402336"/>
          </a:xfrm>
          <a:prstGeom prst="rect">
            <a:avLst/>
          </a:prstGeom>
          <a:noFill/>
        </p:spPr>
        <p:txBody>
          <a:bodyPr wrap="square" lIns="0" rIns="0" tIns="0" bIns="0">
            <a:spAutoFit/>
          </a:bodyPr>
          <a:lstStyle/>
          <a:p>
            <a:pPr algn="l">
              <a:lnSpc>
                <a:spcPct val="120000"/>
              </a:lnSpc>
              <a:spcBef>
                <a:spcPts val="0"/>
              </a:spcBef>
              <a:spcAft>
                <a:spcPts val="0"/>
              </a:spcAft>
            </a:pPr>
            <a:r>
              <a:rPr sz="1200" b="1" i="0">
                <a:solidFill>
                  <a:srgbClr val="B3382E"/>
                </a:solidFill>
                <a:latin typeface="Helvetica Neue"/>
              </a:rPr>
              <a:t>Pipeline</a:t>
            </a:r>
          </a:p>
        </p:txBody>
      </p:sp>
      <p:sp>
        <p:nvSpPr>
          <p:cNvPr id="38" name="TextBox 37"/>
          <p:cNvSpPr txBox="1"/>
          <p:nvPr/>
        </p:nvSpPr>
        <p:spPr>
          <a:xfrm>
            <a:off x="2834640" y="4954524"/>
            <a:ext cx="5358384" cy="402336"/>
          </a:xfrm>
          <a:prstGeom prst="rect">
            <a:avLst/>
          </a:prstGeom>
          <a:noFill/>
        </p:spPr>
        <p:txBody>
          <a:bodyPr wrap="square" lIns="0" rIns="0" tIns="0" bIns="0">
            <a:spAutoFit/>
          </a:bodyPr>
          <a:lstStyle/>
          <a:p>
            <a:pPr algn="l">
              <a:lnSpc>
                <a:spcPct val="120000"/>
              </a:lnSpc>
              <a:spcBef>
                <a:spcPts val="0"/>
              </a:spcBef>
              <a:spcAft>
                <a:spcPts val="0"/>
              </a:spcAft>
            </a:pPr>
            <a:r>
              <a:rPr sz="1200" b="0" i="0">
                <a:solidFill>
                  <a:srgbClr val="B3382E"/>
                </a:solidFill>
                <a:latin typeface="Helvetica Neue"/>
              </a:rPr>
              <a:t>NOT DISCLOSED — no verified commitments, LOIs or pilots in flight</a:t>
            </a:r>
          </a:p>
        </p:txBody>
      </p:sp>
      <p:sp>
        <p:nvSpPr>
          <p:cNvPr id="39" name="TextBox 38"/>
          <p:cNvSpPr txBox="1"/>
          <p:nvPr/>
        </p:nvSpPr>
        <p:spPr>
          <a:xfrm>
            <a:off x="8321040" y="4954524"/>
            <a:ext cx="923544" cy="402336"/>
          </a:xfrm>
          <a:prstGeom prst="rect">
            <a:avLst/>
          </a:prstGeom>
          <a:noFill/>
        </p:spPr>
        <p:txBody>
          <a:bodyPr wrap="square" lIns="0" rIns="0" tIns="0" bIns="0">
            <a:spAutoFit/>
          </a:bodyPr>
          <a:lstStyle/>
          <a:p>
            <a:pPr algn="l">
              <a:lnSpc>
                <a:spcPct val="120000"/>
              </a:lnSpc>
              <a:spcBef>
                <a:spcPts val="0"/>
              </a:spcBef>
              <a:spcAft>
                <a:spcPts val="0"/>
              </a:spcAft>
            </a:pPr>
            <a:r>
              <a:rPr sz="1200" b="0" i="0">
                <a:solidFill>
                  <a:srgbClr val="B3382E"/>
                </a:solidFill>
                <a:latin typeface="Helvetica Neue"/>
              </a:rPr>
              <a:t>—</a:t>
            </a:r>
          </a:p>
        </p:txBody>
      </p:sp>
      <p:sp>
        <p:nvSpPr>
          <p:cNvPr id="40" name="TextBox 39"/>
          <p:cNvSpPr txBox="1"/>
          <p:nvPr/>
        </p:nvSpPr>
        <p:spPr>
          <a:xfrm>
            <a:off x="9372600" y="4954524"/>
            <a:ext cx="1655064" cy="402336"/>
          </a:xfrm>
          <a:prstGeom prst="rect">
            <a:avLst/>
          </a:prstGeom>
          <a:noFill/>
        </p:spPr>
        <p:txBody>
          <a:bodyPr wrap="square" lIns="0" rIns="0" tIns="0" bIns="0">
            <a:spAutoFit/>
          </a:bodyPr>
          <a:lstStyle/>
          <a:p>
            <a:pPr algn="l">
              <a:lnSpc>
                <a:spcPct val="120000"/>
              </a:lnSpc>
              <a:spcBef>
                <a:spcPts val="0"/>
              </a:spcBef>
              <a:spcAft>
                <a:spcPts val="0"/>
              </a:spcAft>
            </a:pPr>
            <a:r>
              <a:rPr sz="1200" b="0" i="0">
                <a:solidFill>
                  <a:srgbClr val="B3382E"/>
                </a:solidFill>
                <a:latin typeface="Helvetica Neue"/>
              </a:rPr>
              <a:t>NEEDS JOSELEOS</a:t>
            </a:r>
          </a:p>
        </p:txBody>
      </p:sp>
      <p:sp>
        <p:nvSpPr>
          <p:cNvPr id="41" name="TextBox 40"/>
          <p:cNvSpPr txBox="1"/>
          <p:nvPr/>
        </p:nvSpPr>
        <p:spPr>
          <a:xfrm>
            <a:off x="822960" y="5623560"/>
            <a:ext cx="10241280" cy="365760"/>
          </a:xfrm>
          <a:prstGeom prst="rect">
            <a:avLst/>
          </a:prstGeom>
          <a:noFill/>
        </p:spPr>
        <p:txBody>
          <a:bodyPr wrap="square" lIns="0" rIns="0" tIns="0" bIns="0">
            <a:spAutoFit/>
          </a:bodyPr>
          <a:lstStyle/>
          <a:p>
            <a:pPr algn="l">
              <a:lnSpc>
                <a:spcPct val="130000"/>
              </a:lnSpc>
              <a:spcBef>
                <a:spcPts val="0"/>
              </a:spcBef>
              <a:spcAft>
                <a:spcPts val="0"/>
              </a:spcAft>
            </a:pPr>
            <a:r>
              <a:rPr sz="1300" b="1" i="0">
                <a:solidFill>
                  <a:srgbClr val="16202E"/>
                </a:solidFill>
                <a:latin typeface="Helvetica Neue"/>
              </a:rPr>
              <a:t>No usage metric appears on this deck because no one has given us a verified one. A number we cannot defend is worth less than the blank.</a:t>
            </a:r>
          </a:p>
        </p:txBody>
      </p:sp>
      <p:sp>
        <p:nvSpPr>
          <p:cNvPr id="42" name="TextBox 41"/>
          <p:cNvSpPr txBox="1"/>
          <p:nvPr/>
        </p:nvSpPr>
        <p:spPr>
          <a:xfrm>
            <a:off x="822960" y="6053328"/>
            <a:ext cx="10332720" cy="274320"/>
          </a:xfrm>
          <a:prstGeom prst="rect">
            <a:avLst/>
          </a:prstGeom>
          <a:noFill/>
        </p:spPr>
        <p:txBody>
          <a:bodyPr wrap="square" lIns="0" rIns="0" tIns="0" bIns="0">
            <a:spAutoFit/>
          </a:bodyPr>
          <a:lstStyle/>
          <a:p>
            <a:pPr algn="l">
              <a:lnSpc>
                <a:spcPct val="125000"/>
              </a:lnSpc>
              <a:spcBef>
                <a:spcPts val="0"/>
              </a:spcBef>
              <a:spcAft>
                <a:spcPts val="0"/>
              </a:spcAft>
            </a:pPr>
            <a:r>
              <a:rPr sz="900" b="0" i="0">
                <a:solidFill>
                  <a:srgbClr val="8A939E"/>
                </a:solidFill>
                <a:latin typeface="Helvetica Neue"/>
              </a:rPr>
              <a:t>Source:  product/FINANCIAL_BRIEF_STRATA.md; product/finance/strata/MODEL.md; joseleos 30 Aug 2026.</a:t>
            </a:r>
          </a:p>
        </p:txBody>
      </p:sp>
      <p:sp>
        <p:nvSpPr>
          <p:cNvPr id="43" name="TextBox 42"/>
          <p:cNvSpPr txBox="1"/>
          <p:nvPr/>
        </p:nvSpPr>
        <p:spPr>
          <a:xfrm>
            <a:off x="822960" y="6419088"/>
            <a:ext cx="8778240" cy="274320"/>
          </a:xfrm>
          <a:prstGeom prst="rect">
            <a:avLst/>
          </a:prstGeom>
          <a:noFill/>
        </p:spPr>
        <p:txBody>
          <a:bodyPr wrap="square" lIns="0" rIns="0" tIns="0" bIns="0">
            <a:spAutoFit/>
          </a:bodyPr>
          <a:lstStyle/>
          <a:p>
            <a:pPr algn="l">
              <a:spcBef>
                <a:spcPts val="0"/>
              </a:spcBef>
              <a:spcAft>
                <a:spcPts val="0"/>
              </a:spcAft>
            </a:pPr>
            <a:r>
              <a:rPr sz="850" b="0" i="0">
                <a:solidFill>
                  <a:srgbClr val="8A939E"/>
                </a:solidFill>
                <a:latin typeface="Helvetica Neue"/>
              </a:rPr>
              <a:t>Strata Civic Solutions  ·  Pitch deck v1, 1 September 2026  ·  Draft for joseleos  ·  Confidential</a:t>
            </a:r>
          </a:p>
        </p:txBody>
      </p:sp>
      <p:sp>
        <p:nvSpPr>
          <p:cNvPr id="44" name="TextBox 43"/>
          <p:cNvSpPr txBox="1"/>
          <p:nvPr/>
        </p:nvSpPr>
        <p:spPr>
          <a:xfrm>
            <a:off x="10454335" y="6419088"/>
            <a:ext cx="914400" cy="274320"/>
          </a:xfrm>
          <a:prstGeom prst="rect">
            <a:avLst/>
          </a:prstGeom>
          <a:noFill/>
        </p:spPr>
        <p:txBody>
          <a:bodyPr wrap="square" lIns="0" rIns="0" tIns="0" bIns="0">
            <a:spAutoFit/>
          </a:bodyPr>
          <a:lstStyle/>
          <a:p>
            <a:pPr algn="r">
              <a:spcBef>
                <a:spcPts val="0"/>
              </a:spcBef>
              <a:spcAft>
                <a:spcPts val="0"/>
              </a:spcAft>
            </a:pPr>
            <a:r>
              <a:rPr sz="850" b="0" i="0">
                <a:solidFill>
                  <a:srgbClr val="8A939E"/>
                </a:solidFill>
                <a:latin typeface="Helvetica Neue"/>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10545775" cy="274320"/>
          </a:xfrm>
          <a:prstGeom prst="rect">
            <a:avLst/>
          </a:prstGeom>
          <a:noFill/>
        </p:spPr>
        <p:txBody>
          <a:bodyPr wrap="square" lIns="0" rIns="0" tIns="0" bIns="0">
            <a:spAutoFit/>
          </a:bodyPr>
          <a:lstStyle/>
          <a:p>
            <a:pPr algn="l">
              <a:spcBef>
                <a:spcPts val="0"/>
              </a:spcBef>
              <a:spcAft>
                <a:spcPts val="0"/>
              </a:spcAft>
            </a:pPr>
            <a:r>
              <a:rPr sz="1050" b="1" i="0">
                <a:solidFill>
                  <a:srgbClr val="1F7A6C"/>
                </a:solidFill>
                <a:latin typeface="Helvetica Neue"/>
              </a:rPr>
              <a:t>THE FIELD</a:t>
            </a:r>
          </a:p>
        </p:txBody>
      </p:sp>
      <p:sp>
        <p:nvSpPr>
          <p:cNvPr id="4" name="TextBox 3"/>
          <p:cNvSpPr txBox="1"/>
          <p:nvPr/>
        </p:nvSpPr>
        <p:spPr>
          <a:xfrm>
            <a:off x="822960" y="914400"/>
            <a:ext cx="10545775" cy="950976"/>
          </a:xfrm>
          <a:prstGeom prst="rect">
            <a:avLst/>
          </a:prstGeom>
          <a:noFill/>
        </p:spPr>
        <p:txBody>
          <a:bodyPr wrap="square" lIns="0" rIns="0" tIns="0" bIns="0">
            <a:spAutoFit/>
          </a:bodyPr>
          <a:lstStyle/>
          <a:p>
            <a:pPr algn="l">
              <a:lnSpc>
                <a:spcPct val="106000"/>
              </a:lnSpc>
              <a:spcBef>
                <a:spcPts val="0"/>
              </a:spcBef>
              <a:spcAft>
                <a:spcPts val="0"/>
              </a:spcAft>
            </a:pPr>
            <a:r>
              <a:rPr sz="3000" b="1" i="0">
                <a:solidFill>
                  <a:srgbClr val="16202E"/>
                </a:solidFill>
                <a:latin typeface="Helvetica Neue"/>
              </a:rPr>
              <a:t>Everyone else built AI for the people who prepare the meeting.</a:t>
            </a:r>
          </a:p>
        </p:txBody>
      </p:sp>
      <p:sp>
        <p:nvSpPr>
          <p:cNvPr id="5" name="TextBox 4"/>
          <p:cNvSpPr txBox="1"/>
          <p:nvPr/>
        </p:nvSpPr>
        <p:spPr>
          <a:xfrm>
            <a:off x="822960" y="1901952"/>
            <a:ext cx="9509760" cy="548640"/>
          </a:xfrm>
          <a:prstGeom prst="rect">
            <a:avLst/>
          </a:prstGeom>
          <a:noFill/>
        </p:spPr>
        <p:txBody>
          <a:bodyPr wrap="square" lIns="0" rIns="0" tIns="0" bIns="0">
            <a:spAutoFit/>
          </a:bodyPr>
          <a:lstStyle/>
          <a:p>
            <a:pPr algn="l">
              <a:lnSpc>
                <a:spcPct val="132000"/>
              </a:lnSpc>
              <a:spcBef>
                <a:spcPts val="0"/>
              </a:spcBef>
              <a:spcAft>
                <a:spcPts val="0"/>
              </a:spcAft>
            </a:pPr>
            <a:r>
              <a:rPr sz="1450" b="0" i="0">
                <a:solidFill>
                  <a:srgbClr val="414D5C"/>
                </a:solidFill>
                <a:latin typeface="Helvetica Neue"/>
              </a:rPr>
              <a:t>Full disclosure — the category is young but no longer empty.</a:t>
            </a:r>
          </a:p>
        </p:txBody>
      </p:sp>
      <p:sp>
        <p:nvSpPr>
          <p:cNvPr id="6" name="Rectangle 5"/>
          <p:cNvSpPr/>
          <p:nvPr/>
        </p:nvSpPr>
        <p:spPr>
          <a:xfrm>
            <a:off x="822960" y="2354580"/>
            <a:ext cx="10545775" cy="12700"/>
          </a:xfrm>
          <a:prstGeom prst="rect">
            <a:avLst/>
          </a:prstGeom>
          <a:solidFill>
            <a:srgbClr val="D7D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738628"/>
            <a:ext cx="1472184" cy="219456"/>
          </a:xfrm>
          <a:prstGeom prst="rect">
            <a:avLst/>
          </a:prstGeom>
          <a:noFill/>
        </p:spPr>
        <p:txBody>
          <a:bodyPr wrap="square" lIns="0" rIns="0" tIns="0" bIns="0">
            <a:spAutoFit/>
          </a:bodyPr>
          <a:lstStyle/>
          <a:p>
            <a:pPr algn="l">
              <a:spcBef>
                <a:spcPts val="0"/>
              </a:spcBef>
              <a:spcAft>
                <a:spcPts val="0"/>
              </a:spcAft>
            </a:pPr>
            <a:r>
              <a:rPr sz="950" b="1" i="0">
                <a:solidFill>
                  <a:srgbClr val="1F7A6C"/>
                </a:solidFill>
                <a:latin typeface="Helvetica Neue"/>
              </a:rPr>
              <a:t>VENDOR</a:t>
            </a:r>
          </a:p>
        </p:txBody>
      </p:sp>
      <p:sp>
        <p:nvSpPr>
          <p:cNvPr id="8" name="TextBox 7"/>
          <p:cNvSpPr txBox="1"/>
          <p:nvPr/>
        </p:nvSpPr>
        <p:spPr>
          <a:xfrm>
            <a:off x="2423160" y="2738628"/>
            <a:ext cx="2203704" cy="219456"/>
          </a:xfrm>
          <a:prstGeom prst="rect">
            <a:avLst/>
          </a:prstGeom>
          <a:noFill/>
        </p:spPr>
        <p:txBody>
          <a:bodyPr wrap="square" lIns="0" rIns="0" tIns="0" bIns="0">
            <a:spAutoFit/>
          </a:bodyPr>
          <a:lstStyle/>
          <a:p>
            <a:pPr algn="l">
              <a:spcBef>
                <a:spcPts val="0"/>
              </a:spcBef>
              <a:spcAft>
                <a:spcPts val="0"/>
              </a:spcAft>
            </a:pPr>
            <a:r>
              <a:rPr sz="950" b="1" i="0">
                <a:solidFill>
                  <a:srgbClr val="1F7A6C"/>
                </a:solidFill>
                <a:latin typeface="Helvetica Neue"/>
              </a:rPr>
              <a:t>PRIMARY BUYER</a:t>
            </a:r>
          </a:p>
        </p:txBody>
      </p:sp>
      <p:sp>
        <p:nvSpPr>
          <p:cNvPr id="9" name="TextBox 8"/>
          <p:cNvSpPr txBox="1"/>
          <p:nvPr/>
        </p:nvSpPr>
        <p:spPr>
          <a:xfrm>
            <a:off x="4754880" y="2738628"/>
            <a:ext cx="2752344" cy="219456"/>
          </a:xfrm>
          <a:prstGeom prst="rect">
            <a:avLst/>
          </a:prstGeom>
          <a:noFill/>
        </p:spPr>
        <p:txBody>
          <a:bodyPr wrap="square" lIns="0" rIns="0" tIns="0" bIns="0">
            <a:spAutoFit/>
          </a:bodyPr>
          <a:lstStyle/>
          <a:p>
            <a:pPr algn="l">
              <a:spcBef>
                <a:spcPts val="0"/>
              </a:spcBef>
              <a:spcAft>
                <a:spcPts val="0"/>
              </a:spcAft>
            </a:pPr>
            <a:r>
              <a:rPr sz="950" b="1" i="0">
                <a:solidFill>
                  <a:srgbClr val="1F7A6C"/>
                </a:solidFill>
                <a:latin typeface="Helvetica Neue"/>
              </a:rPr>
              <a:t>CORE JOB</a:t>
            </a:r>
          </a:p>
        </p:txBody>
      </p:sp>
      <p:sp>
        <p:nvSpPr>
          <p:cNvPr id="10" name="TextBox 9"/>
          <p:cNvSpPr txBox="1"/>
          <p:nvPr/>
        </p:nvSpPr>
        <p:spPr>
          <a:xfrm>
            <a:off x="7635240" y="2738628"/>
            <a:ext cx="2249424" cy="219456"/>
          </a:xfrm>
          <a:prstGeom prst="rect">
            <a:avLst/>
          </a:prstGeom>
          <a:noFill/>
        </p:spPr>
        <p:txBody>
          <a:bodyPr wrap="square" lIns="0" rIns="0" tIns="0" bIns="0">
            <a:spAutoFit/>
          </a:bodyPr>
          <a:lstStyle/>
          <a:p>
            <a:pPr algn="l">
              <a:spcBef>
                <a:spcPts val="0"/>
              </a:spcBef>
              <a:spcAft>
                <a:spcPts val="0"/>
              </a:spcAft>
            </a:pPr>
            <a:r>
              <a:rPr sz="950" b="1" i="0">
                <a:solidFill>
                  <a:srgbClr val="1F7A6C"/>
                </a:solidFill>
                <a:latin typeface="Helvetica Neue"/>
              </a:rPr>
              <a:t>SCALE SIGNAL</a:t>
            </a:r>
          </a:p>
        </p:txBody>
      </p:sp>
      <p:sp>
        <p:nvSpPr>
          <p:cNvPr id="11" name="TextBox 10"/>
          <p:cNvSpPr txBox="1"/>
          <p:nvPr/>
        </p:nvSpPr>
        <p:spPr>
          <a:xfrm>
            <a:off x="10012680" y="2738628"/>
            <a:ext cx="1197864" cy="219456"/>
          </a:xfrm>
          <a:prstGeom prst="rect">
            <a:avLst/>
          </a:prstGeom>
          <a:noFill/>
        </p:spPr>
        <p:txBody>
          <a:bodyPr wrap="square" lIns="0" rIns="0" tIns="0" bIns="0">
            <a:spAutoFit/>
          </a:bodyPr>
          <a:lstStyle/>
          <a:p>
            <a:pPr algn="l">
              <a:spcBef>
                <a:spcPts val="0"/>
              </a:spcBef>
              <a:spcAft>
                <a:spcPts val="0"/>
              </a:spcAft>
            </a:pPr>
            <a:r>
              <a:rPr sz="950" b="1" i="0">
                <a:solidFill>
                  <a:srgbClr val="1F7A6C"/>
                </a:solidFill>
                <a:latin typeface="Helvetica Neue"/>
              </a:rPr>
              <a:t>OVERLAP</a:t>
            </a:r>
          </a:p>
        </p:txBody>
      </p:sp>
      <p:sp>
        <p:nvSpPr>
          <p:cNvPr id="12" name="Rectangle 11"/>
          <p:cNvSpPr/>
          <p:nvPr/>
        </p:nvSpPr>
        <p:spPr>
          <a:xfrm>
            <a:off x="822960" y="3012948"/>
            <a:ext cx="10515600" cy="15875"/>
          </a:xfrm>
          <a:prstGeom prst="rect">
            <a:avLst/>
          </a:prstGeom>
          <a:solidFill>
            <a:srgbClr val="1F7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131820"/>
            <a:ext cx="1472184" cy="310896"/>
          </a:xfrm>
          <a:prstGeom prst="rect">
            <a:avLst/>
          </a:prstGeom>
          <a:noFill/>
        </p:spPr>
        <p:txBody>
          <a:bodyPr wrap="square" lIns="0" rIns="0" tIns="0" bIns="0">
            <a:spAutoFit/>
          </a:bodyPr>
          <a:lstStyle/>
          <a:p>
            <a:pPr algn="l">
              <a:lnSpc>
                <a:spcPct val="120000"/>
              </a:lnSpc>
              <a:spcBef>
                <a:spcPts val="0"/>
              </a:spcBef>
              <a:spcAft>
                <a:spcPts val="0"/>
              </a:spcAft>
            </a:pPr>
            <a:r>
              <a:rPr sz="1050" b="1" i="0">
                <a:solidFill>
                  <a:srgbClr val="1F7A6C"/>
                </a:solidFill>
                <a:latin typeface="Helvetica Neue"/>
              </a:rPr>
              <a:t>Strata</a:t>
            </a:r>
          </a:p>
        </p:txBody>
      </p:sp>
      <p:sp>
        <p:nvSpPr>
          <p:cNvPr id="14" name="TextBox 13"/>
          <p:cNvSpPr txBox="1"/>
          <p:nvPr/>
        </p:nvSpPr>
        <p:spPr>
          <a:xfrm>
            <a:off x="2423160" y="3131820"/>
            <a:ext cx="2203704" cy="310896"/>
          </a:xfrm>
          <a:prstGeom prst="rect">
            <a:avLst/>
          </a:prstGeom>
          <a:noFill/>
        </p:spPr>
        <p:txBody>
          <a:bodyPr wrap="square" lIns="0" rIns="0" tIns="0" bIns="0">
            <a:spAutoFit/>
          </a:bodyPr>
          <a:lstStyle/>
          <a:p>
            <a:pPr algn="l">
              <a:lnSpc>
                <a:spcPct val="120000"/>
              </a:lnSpc>
              <a:spcBef>
                <a:spcPts val="0"/>
              </a:spcBef>
              <a:spcAft>
                <a:spcPts val="0"/>
              </a:spcAft>
            </a:pPr>
            <a:r>
              <a:rPr sz="1050" b="0" i="0">
                <a:solidFill>
                  <a:srgbClr val="414D5C"/>
                </a:solidFill>
                <a:latin typeface="Helvetica Neue"/>
              </a:rPr>
              <a:t>Elected &amp; appointed officials</a:t>
            </a:r>
          </a:p>
        </p:txBody>
      </p:sp>
      <p:sp>
        <p:nvSpPr>
          <p:cNvPr id="15" name="TextBox 14"/>
          <p:cNvSpPr txBox="1"/>
          <p:nvPr/>
        </p:nvSpPr>
        <p:spPr>
          <a:xfrm>
            <a:off x="4754880" y="3131820"/>
            <a:ext cx="2752344" cy="310896"/>
          </a:xfrm>
          <a:prstGeom prst="rect">
            <a:avLst/>
          </a:prstGeom>
          <a:noFill/>
        </p:spPr>
        <p:txBody>
          <a:bodyPr wrap="square" lIns="0" rIns="0" tIns="0" bIns="0">
            <a:spAutoFit/>
          </a:bodyPr>
          <a:lstStyle/>
          <a:p>
            <a:pPr algn="l">
              <a:lnSpc>
                <a:spcPct val="120000"/>
              </a:lnSpc>
              <a:spcBef>
                <a:spcPts val="0"/>
              </a:spcBef>
              <a:spcAft>
                <a:spcPts val="0"/>
              </a:spcAft>
            </a:pPr>
            <a:r>
              <a:rPr sz="1050" b="0" i="0">
                <a:solidFill>
                  <a:srgbClr val="414D5C"/>
                </a:solidFill>
                <a:latin typeface="Helvetica Neue"/>
              </a:rPr>
              <a:t>Prep before a vote, cited answers</a:t>
            </a:r>
          </a:p>
        </p:txBody>
      </p:sp>
      <p:sp>
        <p:nvSpPr>
          <p:cNvPr id="16" name="TextBox 15"/>
          <p:cNvSpPr txBox="1"/>
          <p:nvPr/>
        </p:nvSpPr>
        <p:spPr>
          <a:xfrm>
            <a:off x="7635240" y="3131820"/>
            <a:ext cx="2249424" cy="310896"/>
          </a:xfrm>
          <a:prstGeom prst="rect">
            <a:avLst/>
          </a:prstGeom>
          <a:noFill/>
        </p:spPr>
        <p:txBody>
          <a:bodyPr wrap="square" lIns="0" rIns="0" tIns="0" bIns="0">
            <a:spAutoFit/>
          </a:bodyPr>
          <a:lstStyle/>
          <a:p>
            <a:pPr algn="l">
              <a:lnSpc>
                <a:spcPct val="120000"/>
              </a:lnSpc>
              <a:spcBef>
                <a:spcPts val="0"/>
              </a:spcBef>
              <a:spcAft>
                <a:spcPts val="0"/>
              </a:spcAft>
            </a:pPr>
            <a:r>
              <a:rPr sz="1050" b="0" i="0">
                <a:solidFill>
                  <a:srgbClr val="414D5C"/>
                </a:solidFill>
                <a:latin typeface="Helvetica Neue"/>
              </a:rPr>
              <a:t>1 demo city, pre-revenue</a:t>
            </a:r>
          </a:p>
        </p:txBody>
      </p:sp>
      <p:sp>
        <p:nvSpPr>
          <p:cNvPr id="17" name="TextBox 16"/>
          <p:cNvSpPr txBox="1"/>
          <p:nvPr/>
        </p:nvSpPr>
        <p:spPr>
          <a:xfrm>
            <a:off x="10012680" y="3131820"/>
            <a:ext cx="1197864" cy="310896"/>
          </a:xfrm>
          <a:prstGeom prst="rect">
            <a:avLst/>
          </a:prstGeom>
          <a:noFill/>
        </p:spPr>
        <p:txBody>
          <a:bodyPr wrap="square" lIns="0" rIns="0" tIns="0" bIns="0">
            <a:spAutoFit/>
          </a:bodyPr>
          <a:lstStyle/>
          <a:p>
            <a:pPr algn="l">
              <a:lnSpc>
                <a:spcPct val="120000"/>
              </a:lnSpc>
              <a:spcBef>
                <a:spcPts val="0"/>
              </a:spcBef>
              <a:spcAft>
                <a:spcPts val="0"/>
              </a:spcAft>
            </a:pPr>
            <a:r>
              <a:rPr sz="1050" b="0" i="0">
                <a:solidFill>
                  <a:srgbClr val="1F7A6C"/>
                </a:solidFill>
                <a:latin typeface="Helvetica Neue"/>
              </a:rPr>
              <a:t>—</a:t>
            </a:r>
          </a:p>
        </p:txBody>
      </p:sp>
      <p:sp>
        <p:nvSpPr>
          <p:cNvPr id="18" name="Rectangle 17"/>
          <p:cNvSpPr/>
          <p:nvPr/>
        </p:nvSpPr>
        <p:spPr>
          <a:xfrm>
            <a:off x="822960" y="3351276"/>
            <a:ext cx="10515600" cy="9525"/>
          </a:xfrm>
          <a:prstGeom prst="rect">
            <a:avLst/>
          </a:prstGeom>
          <a:solidFill>
            <a:srgbClr val="D7D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442716"/>
            <a:ext cx="1472184" cy="310896"/>
          </a:xfrm>
          <a:prstGeom prst="rect">
            <a:avLst/>
          </a:prstGeom>
          <a:noFill/>
        </p:spPr>
        <p:txBody>
          <a:bodyPr wrap="square" lIns="0" rIns="0" tIns="0" bIns="0">
            <a:spAutoFit/>
          </a:bodyPr>
          <a:lstStyle/>
          <a:p>
            <a:pPr algn="l">
              <a:lnSpc>
                <a:spcPct val="120000"/>
              </a:lnSpc>
              <a:spcBef>
                <a:spcPts val="0"/>
              </a:spcBef>
              <a:spcAft>
                <a:spcPts val="0"/>
              </a:spcAft>
            </a:pPr>
            <a:r>
              <a:rPr sz="1050" b="1" i="0">
                <a:solidFill>
                  <a:srgbClr val="16202E"/>
                </a:solidFill>
                <a:latin typeface="Helvetica Neue"/>
              </a:rPr>
              <a:t>Ordinal AI</a:t>
            </a:r>
          </a:p>
        </p:txBody>
      </p:sp>
      <p:sp>
        <p:nvSpPr>
          <p:cNvPr id="20" name="TextBox 19"/>
          <p:cNvSpPr txBox="1"/>
          <p:nvPr/>
        </p:nvSpPr>
        <p:spPr>
          <a:xfrm>
            <a:off x="2423160" y="3442716"/>
            <a:ext cx="2203704" cy="310896"/>
          </a:xfrm>
          <a:prstGeom prst="rect">
            <a:avLst/>
          </a:prstGeom>
          <a:noFill/>
        </p:spPr>
        <p:txBody>
          <a:bodyPr wrap="square" lIns="0" rIns="0" tIns="0" bIns="0">
            <a:spAutoFit/>
          </a:bodyPr>
          <a:lstStyle/>
          <a:p>
            <a:pPr algn="l">
              <a:lnSpc>
                <a:spcPct val="120000"/>
              </a:lnSpc>
              <a:spcBef>
                <a:spcPts val="0"/>
              </a:spcBef>
              <a:spcAft>
                <a:spcPts val="0"/>
              </a:spcAft>
            </a:pPr>
            <a:r>
              <a:rPr sz="1050" b="0" i="0">
                <a:solidFill>
                  <a:srgbClr val="414D5C"/>
                </a:solidFill>
                <a:latin typeface="Helvetica Neue"/>
              </a:rPr>
              <a:t>Officials + staff, multi-dept</a:t>
            </a:r>
          </a:p>
        </p:txBody>
      </p:sp>
      <p:sp>
        <p:nvSpPr>
          <p:cNvPr id="21" name="TextBox 20"/>
          <p:cNvSpPr txBox="1"/>
          <p:nvPr/>
        </p:nvSpPr>
        <p:spPr>
          <a:xfrm>
            <a:off x="4754880" y="3442716"/>
            <a:ext cx="2752344" cy="310896"/>
          </a:xfrm>
          <a:prstGeom prst="rect">
            <a:avLst/>
          </a:prstGeom>
          <a:noFill/>
        </p:spPr>
        <p:txBody>
          <a:bodyPr wrap="square" lIns="0" rIns="0" tIns="0" bIns="0">
            <a:spAutoFit/>
          </a:bodyPr>
          <a:lstStyle/>
          <a:p>
            <a:pPr algn="l">
              <a:lnSpc>
                <a:spcPct val="120000"/>
              </a:lnSpc>
              <a:spcBef>
                <a:spcPts val="0"/>
              </a:spcBef>
              <a:spcAft>
                <a:spcPts val="0"/>
              </a:spcAft>
            </a:pPr>
            <a:r>
              <a:rPr sz="1050" b="0" i="0">
                <a:solidFill>
                  <a:srgbClr val="414D5C"/>
                </a:solidFill>
                <a:latin typeface="Helvetica Neue"/>
              </a:rPr>
              <a:t>Research, live meeting Q&amp;A, public chatbot</a:t>
            </a:r>
          </a:p>
        </p:txBody>
      </p:sp>
      <p:sp>
        <p:nvSpPr>
          <p:cNvPr id="22" name="TextBox 21"/>
          <p:cNvSpPr txBox="1"/>
          <p:nvPr/>
        </p:nvSpPr>
        <p:spPr>
          <a:xfrm>
            <a:off x="7635240" y="3442716"/>
            <a:ext cx="2249424" cy="310896"/>
          </a:xfrm>
          <a:prstGeom prst="rect">
            <a:avLst/>
          </a:prstGeom>
          <a:noFill/>
        </p:spPr>
        <p:txBody>
          <a:bodyPr wrap="square" lIns="0" rIns="0" tIns="0" bIns="0">
            <a:spAutoFit/>
          </a:bodyPr>
          <a:lstStyle/>
          <a:p>
            <a:pPr algn="l">
              <a:lnSpc>
                <a:spcPct val="120000"/>
              </a:lnSpc>
              <a:spcBef>
                <a:spcPts val="0"/>
              </a:spcBef>
              <a:spcAft>
                <a:spcPts val="0"/>
              </a:spcAft>
            </a:pPr>
            <a:r>
              <a:rPr sz="1050" b="0" i="0">
                <a:solidFill>
                  <a:srgbClr val="414D5C"/>
                </a:solidFill>
                <a:latin typeface="Helvetica Neue"/>
              </a:rPr>
              <a:t>$1M seed; 7+ live cities</a:t>
            </a:r>
          </a:p>
        </p:txBody>
      </p:sp>
      <p:sp>
        <p:nvSpPr>
          <p:cNvPr id="23" name="TextBox 22"/>
          <p:cNvSpPr txBox="1"/>
          <p:nvPr/>
        </p:nvSpPr>
        <p:spPr>
          <a:xfrm>
            <a:off x="10012680" y="3442716"/>
            <a:ext cx="1197864" cy="310896"/>
          </a:xfrm>
          <a:prstGeom prst="rect">
            <a:avLst/>
          </a:prstGeom>
          <a:noFill/>
        </p:spPr>
        <p:txBody>
          <a:bodyPr wrap="square" lIns="0" rIns="0" tIns="0" bIns="0">
            <a:spAutoFit/>
          </a:bodyPr>
          <a:lstStyle/>
          <a:p>
            <a:pPr algn="l">
              <a:lnSpc>
                <a:spcPct val="120000"/>
              </a:lnSpc>
              <a:spcBef>
                <a:spcPts val="0"/>
              </a:spcBef>
              <a:spcAft>
                <a:spcPts val="0"/>
              </a:spcAft>
            </a:pPr>
            <a:r>
              <a:rPr sz="1050" b="0" i="0">
                <a:solidFill>
                  <a:srgbClr val="414D5C"/>
                </a:solidFill>
                <a:latin typeface="Helvetica Neue"/>
              </a:rPr>
              <a:t>High</a:t>
            </a:r>
          </a:p>
        </p:txBody>
      </p:sp>
      <p:sp>
        <p:nvSpPr>
          <p:cNvPr id="24" name="Rectangle 23"/>
          <p:cNvSpPr/>
          <p:nvPr/>
        </p:nvSpPr>
        <p:spPr>
          <a:xfrm>
            <a:off x="822960" y="3662172"/>
            <a:ext cx="10515600" cy="9525"/>
          </a:xfrm>
          <a:prstGeom prst="rect">
            <a:avLst/>
          </a:prstGeom>
          <a:solidFill>
            <a:srgbClr val="D7D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60" y="3753612"/>
            <a:ext cx="1472184" cy="310896"/>
          </a:xfrm>
          <a:prstGeom prst="rect">
            <a:avLst/>
          </a:prstGeom>
          <a:noFill/>
        </p:spPr>
        <p:txBody>
          <a:bodyPr wrap="square" lIns="0" rIns="0" tIns="0" bIns="0">
            <a:spAutoFit/>
          </a:bodyPr>
          <a:lstStyle/>
          <a:p>
            <a:pPr algn="l">
              <a:lnSpc>
                <a:spcPct val="120000"/>
              </a:lnSpc>
              <a:spcBef>
                <a:spcPts val="0"/>
              </a:spcBef>
              <a:spcAft>
                <a:spcPts val="0"/>
              </a:spcAft>
            </a:pPr>
            <a:r>
              <a:rPr sz="1050" b="1" i="0">
                <a:solidFill>
                  <a:srgbClr val="16202E"/>
                </a:solidFill>
                <a:latin typeface="Helvetica Neue"/>
              </a:rPr>
              <a:t>CivicSummary</a:t>
            </a:r>
          </a:p>
        </p:txBody>
      </p:sp>
      <p:sp>
        <p:nvSpPr>
          <p:cNvPr id="26" name="TextBox 25"/>
          <p:cNvSpPr txBox="1"/>
          <p:nvPr/>
        </p:nvSpPr>
        <p:spPr>
          <a:xfrm>
            <a:off x="2423160" y="3753612"/>
            <a:ext cx="2203704" cy="310896"/>
          </a:xfrm>
          <a:prstGeom prst="rect">
            <a:avLst/>
          </a:prstGeom>
          <a:noFill/>
        </p:spPr>
        <p:txBody>
          <a:bodyPr wrap="square" lIns="0" rIns="0" tIns="0" bIns="0">
            <a:spAutoFit/>
          </a:bodyPr>
          <a:lstStyle/>
          <a:p>
            <a:pPr algn="l">
              <a:lnSpc>
                <a:spcPct val="120000"/>
              </a:lnSpc>
              <a:spcBef>
                <a:spcPts val="0"/>
              </a:spcBef>
              <a:spcAft>
                <a:spcPts val="0"/>
              </a:spcAft>
            </a:pPr>
            <a:r>
              <a:rPr sz="1050" b="0" i="0">
                <a:solidFill>
                  <a:srgbClr val="414D5C"/>
                </a:solidFill>
                <a:latin typeface="Helvetica Neue"/>
              </a:rPr>
              <a:t>Public + officials</a:t>
            </a:r>
          </a:p>
        </p:txBody>
      </p:sp>
      <p:sp>
        <p:nvSpPr>
          <p:cNvPr id="27" name="TextBox 26"/>
          <p:cNvSpPr txBox="1"/>
          <p:nvPr/>
        </p:nvSpPr>
        <p:spPr>
          <a:xfrm>
            <a:off x="4754880" y="3753612"/>
            <a:ext cx="2752344" cy="310896"/>
          </a:xfrm>
          <a:prstGeom prst="rect">
            <a:avLst/>
          </a:prstGeom>
          <a:noFill/>
        </p:spPr>
        <p:txBody>
          <a:bodyPr wrap="square" lIns="0" rIns="0" tIns="0" bIns="0">
            <a:spAutoFit/>
          </a:bodyPr>
          <a:lstStyle/>
          <a:p>
            <a:pPr algn="l">
              <a:lnSpc>
                <a:spcPct val="120000"/>
              </a:lnSpc>
              <a:spcBef>
                <a:spcPts val="0"/>
              </a:spcBef>
              <a:spcAft>
                <a:spcPts val="0"/>
              </a:spcAft>
            </a:pPr>
            <a:r>
              <a:rPr sz="1050" b="0" i="0">
                <a:solidFill>
                  <a:srgbClr val="414D5C"/>
                </a:solidFill>
                <a:latin typeface="Helvetica Neue"/>
              </a:rPr>
              <a:t>Summaries + follow-through tracking</a:t>
            </a:r>
          </a:p>
        </p:txBody>
      </p:sp>
      <p:sp>
        <p:nvSpPr>
          <p:cNvPr id="28" name="TextBox 27"/>
          <p:cNvSpPr txBox="1"/>
          <p:nvPr/>
        </p:nvSpPr>
        <p:spPr>
          <a:xfrm>
            <a:off x="7635240" y="3753612"/>
            <a:ext cx="2249424" cy="310896"/>
          </a:xfrm>
          <a:prstGeom prst="rect">
            <a:avLst/>
          </a:prstGeom>
          <a:noFill/>
        </p:spPr>
        <p:txBody>
          <a:bodyPr wrap="square" lIns="0" rIns="0" tIns="0" bIns="0">
            <a:spAutoFit/>
          </a:bodyPr>
          <a:lstStyle/>
          <a:p>
            <a:pPr algn="l">
              <a:lnSpc>
                <a:spcPct val="120000"/>
              </a:lnSpc>
              <a:spcBef>
                <a:spcPts val="0"/>
              </a:spcBef>
              <a:spcAft>
                <a:spcPts val="0"/>
              </a:spcAft>
            </a:pPr>
            <a:r>
              <a:rPr sz="1050" b="0" i="0">
                <a:solidFill>
                  <a:srgbClr val="414D5C"/>
                </a:solidFill>
                <a:latin typeface="Helvetica Neue"/>
              </a:rPr>
              <a:t>Early pilots (West Hollywood)</a:t>
            </a:r>
          </a:p>
        </p:txBody>
      </p:sp>
      <p:sp>
        <p:nvSpPr>
          <p:cNvPr id="29" name="TextBox 28"/>
          <p:cNvSpPr txBox="1"/>
          <p:nvPr/>
        </p:nvSpPr>
        <p:spPr>
          <a:xfrm>
            <a:off x="10012680" y="3753612"/>
            <a:ext cx="1197864" cy="310896"/>
          </a:xfrm>
          <a:prstGeom prst="rect">
            <a:avLst/>
          </a:prstGeom>
          <a:noFill/>
        </p:spPr>
        <p:txBody>
          <a:bodyPr wrap="square" lIns="0" rIns="0" tIns="0" bIns="0">
            <a:spAutoFit/>
          </a:bodyPr>
          <a:lstStyle/>
          <a:p>
            <a:pPr algn="l">
              <a:lnSpc>
                <a:spcPct val="120000"/>
              </a:lnSpc>
              <a:spcBef>
                <a:spcPts val="0"/>
              </a:spcBef>
              <a:spcAft>
                <a:spcPts val="0"/>
              </a:spcAft>
            </a:pPr>
            <a:r>
              <a:rPr sz="1050" b="0" i="0">
                <a:solidFill>
                  <a:srgbClr val="414D5C"/>
                </a:solidFill>
                <a:latin typeface="Helvetica Neue"/>
              </a:rPr>
              <a:t>Medium</a:t>
            </a:r>
          </a:p>
        </p:txBody>
      </p:sp>
      <p:sp>
        <p:nvSpPr>
          <p:cNvPr id="30" name="Rectangle 29"/>
          <p:cNvSpPr/>
          <p:nvPr/>
        </p:nvSpPr>
        <p:spPr>
          <a:xfrm>
            <a:off x="822960" y="3973068"/>
            <a:ext cx="10515600" cy="9525"/>
          </a:xfrm>
          <a:prstGeom prst="rect">
            <a:avLst/>
          </a:prstGeom>
          <a:solidFill>
            <a:srgbClr val="D7D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2960" y="4064508"/>
            <a:ext cx="1472184" cy="310896"/>
          </a:xfrm>
          <a:prstGeom prst="rect">
            <a:avLst/>
          </a:prstGeom>
          <a:noFill/>
        </p:spPr>
        <p:txBody>
          <a:bodyPr wrap="square" lIns="0" rIns="0" tIns="0" bIns="0">
            <a:spAutoFit/>
          </a:bodyPr>
          <a:lstStyle/>
          <a:p>
            <a:pPr algn="l">
              <a:lnSpc>
                <a:spcPct val="120000"/>
              </a:lnSpc>
              <a:spcBef>
                <a:spcPts val="0"/>
              </a:spcBef>
              <a:spcAft>
                <a:spcPts val="0"/>
              </a:spcAft>
            </a:pPr>
            <a:r>
              <a:rPr sz="1050" b="1" i="0">
                <a:solidFill>
                  <a:srgbClr val="16202E"/>
                </a:solidFill>
                <a:latin typeface="Helvetica Neue"/>
              </a:rPr>
              <a:t>Aware</a:t>
            </a:r>
          </a:p>
        </p:txBody>
      </p:sp>
      <p:sp>
        <p:nvSpPr>
          <p:cNvPr id="32" name="TextBox 31"/>
          <p:cNvSpPr txBox="1"/>
          <p:nvPr/>
        </p:nvSpPr>
        <p:spPr>
          <a:xfrm>
            <a:off x="2423160" y="4064508"/>
            <a:ext cx="2203704" cy="310896"/>
          </a:xfrm>
          <a:prstGeom prst="rect">
            <a:avLst/>
          </a:prstGeom>
          <a:noFill/>
        </p:spPr>
        <p:txBody>
          <a:bodyPr wrap="square" lIns="0" rIns="0" tIns="0" bIns="0">
            <a:spAutoFit/>
          </a:bodyPr>
          <a:lstStyle/>
          <a:p>
            <a:pPr algn="l">
              <a:lnSpc>
                <a:spcPct val="120000"/>
              </a:lnSpc>
              <a:spcBef>
                <a:spcPts val="0"/>
              </a:spcBef>
              <a:spcAft>
                <a:spcPts val="0"/>
              </a:spcAft>
            </a:pPr>
            <a:r>
              <a:rPr sz="1050" b="0" i="0">
                <a:solidFill>
                  <a:srgbClr val="414D5C"/>
                </a:solidFill>
                <a:latin typeface="Helvetica Neue"/>
              </a:rPr>
              <a:t>Public, press, residents</a:t>
            </a:r>
          </a:p>
        </p:txBody>
      </p:sp>
      <p:sp>
        <p:nvSpPr>
          <p:cNvPr id="33" name="TextBox 32"/>
          <p:cNvSpPr txBox="1"/>
          <p:nvPr/>
        </p:nvSpPr>
        <p:spPr>
          <a:xfrm>
            <a:off x="4754880" y="4064508"/>
            <a:ext cx="2752344" cy="310896"/>
          </a:xfrm>
          <a:prstGeom prst="rect">
            <a:avLst/>
          </a:prstGeom>
          <a:noFill/>
        </p:spPr>
        <p:txBody>
          <a:bodyPr wrap="square" lIns="0" rIns="0" tIns="0" bIns="0">
            <a:spAutoFit/>
          </a:bodyPr>
          <a:lstStyle/>
          <a:p>
            <a:pPr algn="l">
              <a:lnSpc>
                <a:spcPct val="120000"/>
              </a:lnSpc>
              <a:spcBef>
                <a:spcPts val="0"/>
              </a:spcBef>
              <a:spcAft>
                <a:spcPts val="0"/>
              </a:spcAft>
            </a:pPr>
            <a:r>
              <a:rPr sz="1050" b="0" i="0">
                <a:solidFill>
                  <a:srgbClr val="414D5C"/>
                </a:solidFill>
                <a:latin typeface="Helvetica Neue"/>
              </a:rPr>
              <a:t>Post-meeting summaries, news digest</a:t>
            </a:r>
          </a:p>
        </p:txBody>
      </p:sp>
      <p:sp>
        <p:nvSpPr>
          <p:cNvPr id="34" name="TextBox 33"/>
          <p:cNvSpPr txBox="1"/>
          <p:nvPr/>
        </p:nvSpPr>
        <p:spPr>
          <a:xfrm>
            <a:off x="7635240" y="4064508"/>
            <a:ext cx="2249424" cy="310896"/>
          </a:xfrm>
          <a:prstGeom prst="rect">
            <a:avLst/>
          </a:prstGeom>
          <a:noFill/>
        </p:spPr>
        <p:txBody>
          <a:bodyPr wrap="square" lIns="0" rIns="0" tIns="0" bIns="0">
            <a:spAutoFit/>
          </a:bodyPr>
          <a:lstStyle/>
          <a:p>
            <a:pPr algn="l">
              <a:lnSpc>
                <a:spcPct val="120000"/>
              </a:lnSpc>
              <a:spcBef>
                <a:spcPts val="0"/>
              </a:spcBef>
              <a:spcAft>
                <a:spcPts val="0"/>
              </a:spcAft>
            </a:pPr>
            <a:r>
              <a:rPr sz="1050" b="0" i="0">
                <a:solidFill>
                  <a:srgbClr val="414D5C"/>
                </a:solidFill>
                <a:latin typeface="Helvetica Neue"/>
              </a:rPr>
              <a:t>3,800+ cities claimed; thin usage</a:t>
            </a:r>
          </a:p>
        </p:txBody>
      </p:sp>
      <p:sp>
        <p:nvSpPr>
          <p:cNvPr id="35" name="TextBox 34"/>
          <p:cNvSpPr txBox="1"/>
          <p:nvPr/>
        </p:nvSpPr>
        <p:spPr>
          <a:xfrm>
            <a:off x="10012680" y="4064508"/>
            <a:ext cx="1197864" cy="310896"/>
          </a:xfrm>
          <a:prstGeom prst="rect">
            <a:avLst/>
          </a:prstGeom>
          <a:noFill/>
        </p:spPr>
        <p:txBody>
          <a:bodyPr wrap="square" lIns="0" rIns="0" tIns="0" bIns="0">
            <a:spAutoFit/>
          </a:bodyPr>
          <a:lstStyle/>
          <a:p>
            <a:pPr algn="l">
              <a:lnSpc>
                <a:spcPct val="120000"/>
              </a:lnSpc>
              <a:spcBef>
                <a:spcPts val="0"/>
              </a:spcBef>
              <a:spcAft>
                <a:spcPts val="0"/>
              </a:spcAft>
            </a:pPr>
            <a:r>
              <a:rPr sz="1050" b="0" i="0">
                <a:solidFill>
                  <a:srgbClr val="414D5C"/>
                </a:solidFill>
                <a:latin typeface="Helvetica Neue"/>
              </a:rPr>
              <a:t>Low–Med</a:t>
            </a:r>
          </a:p>
        </p:txBody>
      </p:sp>
      <p:sp>
        <p:nvSpPr>
          <p:cNvPr id="36" name="Rectangle 35"/>
          <p:cNvSpPr/>
          <p:nvPr/>
        </p:nvSpPr>
        <p:spPr>
          <a:xfrm>
            <a:off x="822960" y="4283964"/>
            <a:ext cx="10515600" cy="9525"/>
          </a:xfrm>
          <a:prstGeom prst="rect">
            <a:avLst/>
          </a:prstGeom>
          <a:solidFill>
            <a:srgbClr val="D7D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22960" y="4375404"/>
            <a:ext cx="1472184" cy="310896"/>
          </a:xfrm>
          <a:prstGeom prst="rect">
            <a:avLst/>
          </a:prstGeom>
          <a:noFill/>
        </p:spPr>
        <p:txBody>
          <a:bodyPr wrap="square" lIns="0" rIns="0" tIns="0" bIns="0">
            <a:spAutoFit/>
          </a:bodyPr>
          <a:lstStyle/>
          <a:p>
            <a:pPr algn="l">
              <a:lnSpc>
                <a:spcPct val="120000"/>
              </a:lnSpc>
              <a:spcBef>
                <a:spcPts val="0"/>
              </a:spcBef>
              <a:spcAft>
                <a:spcPts val="0"/>
              </a:spcAft>
            </a:pPr>
            <a:r>
              <a:rPr sz="1050" b="1" i="0">
                <a:solidFill>
                  <a:srgbClr val="16202E"/>
                </a:solidFill>
                <a:latin typeface="Helvetica Neue"/>
              </a:rPr>
              <a:t>CivicPlus</a:t>
            </a:r>
          </a:p>
        </p:txBody>
      </p:sp>
      <p:sp>
        <p:nvSpPr>
          <p:cNvPr id="38" name="TextBox 37"/>
          <p:cNvSpPr txBox="1"/>
          <p:nvPr/>
        </p:nvSpPr>
        <p:spPr>
          <a:xfrm>
            <a:off x="2423160" y="4375404"/>
            <a:ext cx="2203704" cy="310896"/>
          </a:xfrm>
          <a:prstGeom prst="rect">
            <a:avLst/>
          </a:prstGeom>
          <a:noFill/>
        </p:spPr>
        <p:txBody>
          <a:bodyPr wrap="square" lIns="0" rIns="0" tIns="0" bIns="0">
            <a:spAutoFit/>
          </a:bodyPr>
          <a:lstStyle/>
          <a:p>
            <a:pPr algn="l">
              <a:lnSpc>
                <a:spcPct val="120000"/>
              </a:lnSpc>
              <a:spcBef>
                <a:spcPts val="0"/>
              </a:spcBef>
              <a:spcAft>
                <a:spcPts val="0"/>
              </a:spcAft>
            </a:pPr>
            <a:r>
              <a:rPr sz="1050" b="0" i="0">
                <a:solidFill>
                  <a:srgbClr val="414D5C"/>
                </a:solidFill>
                <a:latin typeface="Helvetica Neue"/>
              </a:rPr>
              <a:t>City staff</a:t>
            </a:r>
          </a:p>
        </p:txBody>
      </p:sp>
      <p:sp>
        <p:nvSpPr>
          <p:cNvPr id="39" name="TextBox 38"/>
          <p:cNvSpPr txBox="1"/>
          <p:nvPr/>
        </p:nvSpPr>
        <p:spPr>
          <a:xfrm>
            <a:off x="4754880" y="4375404"/>
            <a:ext cx="2752344" cy="310896"/>
          </a:xfrm>
          <a:prstGeom prst="rect">
            <a:avLst/>
          </a:prstGeom>
          <a:noFill/>
        </p:spPr>
        <p:txBody>
          <a:bodyPr wrap="square" lIns="0" rIns="0" tIns="0" bIns="0">
            <a:spAutoFit/>
          </a:bodyPr>
          <a:lstStyle/>
          <a:p>
            <a:pPr algn="l">
              <a:lnSpc>
                <a:spcPct val="120000"/>
              </a:lnSpc>
              <a:spcBef>
                <a:spcPts val="0"/>
              </a:spcBef>
              <a:spcAft>
                <a:spcPts val="0"/>
              </a:spcAft>
            </a:pPr>
            <a:r>
              <a:rPr sz="1050" b="0" i="0">
                <a:solidFill>
                  <a:srgbClr val="414D5C"/>
                </a:solidFill>
                <a:latin typeface="Helvetica Neue"/>
              </a:rPr>
              <a:t>AI-assisted agenda &amp; minutes drafting</a:t>
            </a:r>
          </a:p>
        </p:txBody>
      </p:sp>
      <p:sp>
        <p:nvSpPr>
          <p:cNvPr id="40" name="TextBox 39"/>
          <p:cNvSpPr txBox="1"/>
          <p:nvPr/>
        </p:nvSpPr>
        <p:spPr>
          <a:xfrm>
            <a:off x="7635240" y="4375404"/>
            <a:ext cx="2249424" cy="310896"/>
          </a:xfrm>
          <a:prstGeom prst="rect">
            <a:avLst/>
          </a:prstGeom>
          <a:noFill/>
        </p:spPr>
        <p:txBody>
          <a:bodyPr wrap="square" lIns="0" rIns="0" tIns="0" bIns="0">
            <a:spAutoFit/>
          </a:bodyPr>
          <a:lstStyle/>
          <a:p>
            <a:pPr algn="l">
              <a:lnSpc>
                <a:spcPct val="120000"/>
              </a:lnSpc>
              <a:spcBef>
                <a:spcPts val="0"/>
              </a:spcBef>
              <a:spcAft>
                <a:spcPts val="0"/>
              </a:spcAft>
            </a:pPr>
            <a:r>
              <a:rPr sz="1050" b="0" i="0">
                <a:solidFill>
                  <a:srgbClr val="414D5C"/>
                </a:solidFill>
                <a:latin typeface="Helvetica Neue"/>
              </a:rPr>
              <a:t>Large installed base; AI as upsell</a:t>
            </a:r>
          </a:p>
        </p:txBody>
      </p:sp>
      <p:sp>
        <p:nvSpPr>
          <p:cNvPr id="41" name="TextBox 40"/>
          <p:cNvSpPr txBox="1"/>
          <p:nvPr/>
        </p:nvSpPr>
        <p:spPr>
          <a:xfrm>
            <a:off x="10012680" y="4375404"/>
            <a:ext cx="1197864" cy="310896"/>
          </a:xfrm>
          <a:prstGeom prst="rect">
            <a:avLst/>
          </a:prstGeom>
          <a:noFill/>
        </p:spPr>
        <p:txBody>
          <a:bodyPr wrap="square" lIns="0" rIns="0" tIns="0" bIns="0">
            <a:spAutoFit/>
          </a:bodyPr>
          <a:lstStyle/>
          <a:p>
            <a:pPr algn="l">
              <a:lnSpc>
                <a:spcPct val="120000"/>
              </a:lnSpc>
              <a:spcBef>
                <a:spcPts val="0"/>
              </a:spcBef>
              <a:spcAft>
                <a:spcPts val="0"/>
              </a:spcAft>
            </a:pPr>
            <a:r>
              <a:rPr sz="1050" b="0" i="0">
                <a:solidFill>
                  <a:srgbClr val="414D5C"/>
                </a:solidFill>
                <a:latin typeface="Helvetica Neue"/>
              </a:rPr>
              <a:t>Med–High</a:t>
            </a:r>
          </a:p>
        </p:txBody>
      </p:sp>
      <p:sp>
        <p:nvSpPr>
          <p:cNvPr id="42" name="Rectangle 41"/>
          <p:cNvSpPr/>
          <p:nvPr/>
        </p:nvSpPr>
        <p:spPr>
          <a:xfrm>
            <a:off x="822960" y="4594860"/>
            <a:ext cx="10515600" cy="9525"/>
          </a:xfrm>
          <a:prstGeom prst="rect">
            <a:avLst/>
          </a:prstGeom>
          <a:solidFill>
            <a:srgbClr val="D7D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22960" y="4686300"/>
            <a:ext cx="1472184" cy="310896"/>
          </a:xfrm>
          <a:prstGeom prst="rect">
            <a:avLst/>
          </a:prstGeom>
          <a:noFill/>
        </p:spPr>
        <p:txBody>
          <a:bodyPr wrap="square" lIns="0" rIns="0" tIns="0" bIns="0">
            <a:spAutoFit/>
          </a:bodyPr>
          <a:lstStyle/>
          <a:p>
            <a:pPr algn="l">
              <a:lnSpc>
                <a:spcPct val="120000"/>
              </a:lnSpc>
              <a:spcBef>
                <a:spcPts val="0"/>
              </a:spcBef>
              <a:spcAft>
                <a:spcPts val="0"/>
              </a:spcAft>
            </a:pPr>
            <a:r>
              <a:rPr sz="1050" b="1" i="0">
                <a:solidFill>
                  <a:srgbClr val="16202E"/>
                </a:solidFill>
                <a:latin typeface="Helvetica Neue"/>
              </a:rPr>
              <a:t>Granicus</a:t>
            </a:r>
          </a:p>
        </p:txBody>
      </p:sp>
      <p:sp>
        <p:nvSpPr>
          <p:cNvPr id="44" name="TextBox 43"/>
          <p:cNvSpPr txBox="1"/>
          <p:nvPr/>
        </p:nvSpPr>
        <p:spPr>
          <a:xfrm>
            <a:off x="2423160" y="4686300"/>
            <a:ext cx="2203704" cy="310896"/>
          </a:xfrm>
          <a:prstGeom prst="rect">
            <a:avLst/>
          </a:prstGeom>
          <a:noFill/>
        </p:spPr>
        <p:txBody>
          <a:bodyPr wrap="square" lIns="0" rIns="0" tIns="0" bIns="0">
            <a:spAutoFit/>
          </a:bodyPr>
          <a:lstStyle/>
          <a:p>
            <a:pPr algn="l">
              <a:lnSpc>
                <a:spcPct val="120000"/>
              </a:lnSpc>
              <a:spcBef>
                <a:spcPts val="0"/>
              </a:spcBef>
              <a:spcAft>
                <a:spcPts val="0"/>
              </a:spcAft>
            </a:pPr>
            <a:r>
              <a:rPr sz="1050" b="0" i="0">
                <a:solidFill>
                  <a:srgbClr val="414D5C"/>
                </a:solidFill>
                <a:latin typeface="Helvetica Neue"/>
              </a:rPr>
              <a:t>City staff, larger governments</a:t>
            </a:r>
          </a:p>
        </p:txBody>
      </p:sp>
      <p:sp>
        <p:nvSpPr>
          <p:cNvPr id="45" name="TextBox 44"/>
          <p:cNvSpPr txBox="1"/>
          <p:nvPr/>
        </p:nvSpPr>
        <p:spPr>
          <a:xfrm>
            <a:off x="4754880" y="4686300"/>
            <a:ext cx="2752344" cy="310896"/>
          </a:xfrm>
          <a:prstGeom prst="rect">
            <a:avLst/>
          </a:prstGeom>
          <a:noFill/>
        </p:spPr>
        <p:txBody>
          <a:bodyPr wrap="square" lIns="0" rIns="0" tIns="0" bIns="0">
            <a:spAutoFit/>
          </a:bodyPr>
          <a:lstStyle/>
          <a:p>
            <a:pPr algn="l">
              <a:lnSpc>
                <a:spcPct val="120000"/>
              </a:lnSpc>
              <a:spcBef>
                <a:spcPts val="0"/>
              </a:spcBef>
              <a:spcAft>
                <a:spcPts val="0"/>
              </a:spcAft>
            </a:pPr>
            <a:r>
              <a:rPr sz="1050" b="0" i="0">
                <a:solidFill>
                  <a:srgbClr val="414D5C"/>
                </a:solidFill>
                <a:latin typeface="Helvetica Neue"/>
              </a:rPr>
              <a:t>Records &amp; comms summarization</a:t>
            </a:r>
          </a:p>
        </p:txBody>
      </p:sp>
      <p:sp>
        <p:nvSpPr>
          <p:cNvPr id="46" name="TextBox 45"/>
          <p:cNvSpPr txBox="1"/>
          <p:nvPr/>
        </p:nvSpPr>
        <p:spPr>
          <a:xfrm>
            <a:off x="7635240" y="4686300"/>
            <a:ext cx="2249424" cy="310896"/>
          </a:xfrm>
          <a:prstGeom prst="rect">
            <a:avLst/>
          </a:prstGeom>
          <a:noFill/>
        </p:spPr>
        <p:txBody>
          <a:bodyPr wrap="square" lIns="0" rIns="0" tIns="0" bIns="0">
            <a:spAutoFit/>
          </a:bodyPr>
          <a:lstStyle/>
          <a:p>
            <a:pPr algn="l">
              <a:lnSpc>
                <a:spcPct val="120000"/>
              </a:lnSpc>
              <a:spcBef>
                <a:spcPts val="0"/>
              </a:spcBef>
              <a:spcAft>
                <a:spcPts val="0"/>
              </a:spcAft>
            </a:pPr>
            <a:r>
              <a:rPr sz="1050" b="0" i="0">
                <a:solidFill>
                  <a:srgbClr val="414D5C"/>
                </a:solidFill>
                <a:latin typeface="Helvetica Neue"/>
              </a:rPr>
              <a:t>Entrenched enterprise incumbent</a:t>
            </a:r>
          </a:p>
        </p:txBody>
      </p:sp>
      <p:sp>
        <p:nvSpPr>
          <p:cNvPr id="47" name="TextBox 46"/>
          <p:cNvSpPr txBox="1"/>
          <p:nvPr/>
        </p:nvSpPr>
        <p:spPr>
          <a:xfrm>
            <a:off x="10012680" y="4686300"/>
            <a:ext cx="1197864" cy="310896"/>
          </a:xfrm>
          <a:prstGeom prst="rect">
            <a:avLst/>
          </a:prstGeom>
          <a:noFill/>
        </p:spPr>
        <p:txBody>
          <a:bodyPr wrap="square" lIns="0" rIns="0" tIns="0" bIns="0">
            <a:spAutoFit/>
          </a:bodyPr>
          <a:lstStyle/>
          <a:p>
            <a:pPr algn="l">
              <a:lnSpc>
                <a:spcPct val="120000"/>
              </a:lnSpc>
              <a:spcBef>
                <a:spcPts val="0"/>
              </a:spcBef>
              <a:spcAft>
                <a:spcPts val="0"/>
              </a:spcAft>
            </a:pPr>
            <a:r>
              <a:rPr sz="1050" b="0" i="0">
                <a:solidFill>
                  <a:srgbClr val="414D5C"/>
                </a:solidFill>
                <a:latin typeface="Helvetica Neue"/>
              </a:rPr>
              <a:t>Medium</a:t>
            </a:r>
          </a:p>
        </p:txBody>
      </p:sp>
      <p:sp>
        <p:nvSpPr>
          <p:cNvPr id="48" name="Rectangle 47"/>
          <p:cNvSpPr/>
          <p:nvPr/>
        </p:nvSpPr>
        <p:spPr>
          <a:xfrm>
            <a:off x="822960" y="4905756"/>
            <a:ext cx="10515600" cy="9525"/>
          </a:xfrm>
          <a:prstGeom prst="rect">
            <a:avLst/>
          </a:prstGeom>
          <a:solidFill>
            <a:srgbClr val="D7D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22960" y="4997196"/>
            <a:ext cx="1472184" cy="310896"/>
          </a:xfrm>
          <a:prstGeom prst="rect">
            <a:avLst/>
          </a:prstGeom>
          <a:noFill/>
        </p:spPr>
        <p:txBody>
          <a:bodyPr wrap="square" lIns="0" rIns="0" tIns="0" bIns="0">
            <a:spAutoFit/>
          </a:bodyPr>
          <a:lstStyle/>
          <a:p>
            <a:pPr algn="l">
              <a:lnSpc>
                <a:spcPct val="120000"/>
              </a:lnSpc>
              <a:spcBef>
                <a:spcPts val="0"/>
              </a:spcBef>
              <a:spcAft>
                <a:spcPts val="0"/>
              </a:spcAft>
            </a:pPr>
            <a:r>
              <a:rPr sz="1050" b="1" i="0">
                <a:solidFill>
                  <a:srgbClr val="16202E"/>
                </a:solidFill>
                <a:latin typeface="Helvetica Neue"/>
              </a:rPr>
              <a:t>OpenGov</a:t>
            </a:r>
          </a:p>
        </p:txBody>
      </p:sp>
      <p:sp>
        <p:nvSpPr>
          <p:cNvPr id="50" name="TextBox 49"/>
          <p:cNvSpPr txBox="1"/>
          <p:nvPr/>
        </p:nvSpPr>
        <p:spPr>
          <a:xfrm>
            <a:off x="2423160" y="4997196"/>
            <a:ext cx="2203704" cy="310896"/>
          </a:xfrm>
          <a:prstGeom prst="rect">
            <a:avLst/>
          </a:prstGeom>
          <a:noFill/>
        </p:spPr>
        <p:txBody>
          <a:bodyPr wrap="square" lIns="0" rIns="0" tIns="0" bIns="0">
            <a:spAutoFit/>
          </a:bodyPr>
          <a:lstStyle/>
          <a:p>
            <a:pPr algn="l">
              <a:lnSpc>
                <a:spcPct val="120000"/>
              </a:lnSpc>
              <a:spcBef>
                <a:spcPts val="0"/>
              </a:spcBef>
              <a:spcAft>
                <a:spcPts val="0"/>
              </a:spcAft>
            </a:pPr>
            <a:r>
              <a:rPr sz="1050" b="0" i="0">
                <a:solidFill>
                  <a:srgbClr val="414D5C"/>
                </a:solidFill>
                <a:latin typeface="Helvetica Neue"/>
              </a:rPr>
              <a:t>Finance &amp; budget staff</a:t>
            </a:r>
          </a:p>
        </p:txBody>
      </p:sp>
      <p:sp>
        <p:nvSpPr>
          <p:cNvPr id="51" name="TextBox 50"/>
          <p:cNvSpPr txBox="1"/>
          <p:nvPr/>
        </p:nvSpPr>
        <p:spPr>
          <a:xfrm>
            <a:off x="4754880" y="4997196"/>
            <a:ext cx="2752344" cy="310896"/>
          </a:xfrm>
          <a:prstGeom prst="rect">
            <a:avLst/>
          </a:prstGeom>
          <a:noFill/>
        </p:spPr>
        <p:txBody>
          <a:bodyPr wrap="square" lIns="0" rIns="0" tIns="0" bIns="0">
            <a:spAutoFit/>
          </a:bodyPr>
          <a:lstStyle/>
          <a:p>
            <a:pPr algn="l">
              <a:lnSpc>
                <a:spcPct val="120000"/>
              </a:lnSpc>
              <a:spcBef>
                <a:spcPts val="0"/>
              </a:spcBef>
              <a:spcAft>
                <a:spcPts val="0"/>
              </a:spcAft>
            </a:pPr>
            <a:r>
              <a:rPr sz="1050" b="0" i="0">
                <a:solidFill>
                  <a:srgbClr val="414D5C"/>
                </a:solidFill>
                <a:latin typeface="Helvetica Neue"/>
              </a:rPr>
              <a:t>Budgeting, ERP, performance reporting</a:t>
            </a:r>
          </a:p>
        </p:txBody>
      </p:sp>
      <p:sp>
        <p:nvSpPr>
          <p:cNvPr id="52" name="TextBox 51"/>
          <p:cNvSpPr txBox="1"/>
          <p:nvPr/>
        </p:nvSpPr>
        <p:spPr>
          <a:xfrm>
            <a:off x="7635240" y="4997196"/>
            <a:ext cx="2249424" cy="310896"/>
          </a:xfrm>
          <a:prstGeom prst="rect">
            <a:avLst/>
          </a:prstGeom>
          <a:noFill/>
        </p:spPr>
        <p:txBody>
          <a:bodyPr wrap="square" lIns="0" rIns="0" tIns="0" bIns="0">
            <a:spAutoFit/>
          </a:bodyPr>
          <a:lstStyle/>
          <a:p>
            <a:pPr algn="l">
              <a:lnSpc>
                <a:spcPct val="120000"/>
              </a:lnSpc>
              <a:spcBef>
                <a:spcPts val="0"/>
              </a:spcBef>
              <a:spcAft>
                <a:spcPts val="0"/>
              </a:spcAft>
            </a:pPr>
            <a:r>
              <a:rPr sz="1050" b="0" i="0">
                <a:solidFill>
                  <a:srgbClr val="414D5C"/>
                </a:solidFill>
                <a:latin typeface="Helvetica Neue"/>
              </a:rPr>
              <a:t>Well-funded incumbent</a:t>
            </a:r>
          </a:p>
        </p:txBody>
      </p:sp>
      <p:sp>
        <p:nvSpPr>
          <p:cNvPr id="53" name="TextBox 52"/>
          <p:cNvSpPr txBox="1"/>
          <p:nvPr/>
        </p:nvSpPr>
        <p:spPr>
          <a:xfrm>
            <a:off x="10012680" y="4997196"/>
            <a:ext cx="1197864" cy="310896"/>
          </a:xfrm>
          <a:prstGeom prst="rect">
            <a:avLst/>
          </a:prstGeom>
          <a:noFill/>
        </p:spPr>
        <p:txBody>
          <a:bodyPr wrap="square" lIns="0" rIns="0" tIns="0" bIns="0">
            <a:spAutoFit/>
          </a:bodyPr>
          <a:lstStyle/>
          <a:p>
            <a:pPr algn="l">
              <a:lnSpc>
                <a:spcPct val="120000"/>
              </a:lnSpc>
              <a:spcBef>
                <a:spcPts val="0"/>
              </a:spcBef>
              <a:spcAft>
                <a:spcPts val="0"/>
              </a:spcAft>
            </a:pPr>
            <a:r>
              <a:rPr sz="1050" b="0" i="0">
                <a:solidFill>
                  <a:srgbClr val="414D5C"/>
                </a:solidFill>
                <a:latin typeface="Helvetica Neue"/>
              </a:rPr>
              <a:t>Low</a:t>
            </a:r>
          </a:p>
        </p:txBody>
      </p:sp>
      <p:sp>
        <p:nvSpPr>
          <p:cNvPr id="54" name="Rectangle 53"/>
          <p:cNvSpPr/>
          <p:nvPr/>
        </p:nvSpPr>
        <p:spPr>
          <a:xfrm>
            <a:off x="822960" y="5216652"/>
            <a:ext cx="10515600" cy="9525"/>
          </a:xfrm>
          <a:prstGeom prst="rect">
            <a:avLst/>
          </a:prstGeom>
          <a:solidFill>
            <a:srgbClr val="D7D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22960" y="5308092"/>
            <a:ext cx="1472184" cy="310896"/>
          </a:xfrm>
          <a:prstGeom prst="rect">
            <a:avLst/>
          </a:prstGeom>
          <a:noFill/>
        </p:spPr>
        <p:txBody>
          <a:bodyPr wrap="square" lIns="0" rIns="0" tIns="0" bIns="0">
            <a:spAutoFit/>
          </a:bodyPr>
          <a:lstStyle/>
          <a:p>
            <a:pPr algn="l">
              <a:lnSpc>
                <a:spcPct val="120000"/>
              </a:lnSpc>
              <a:spcBef>
                <a:spcPts val="0"/>
              </a:spcBef>
              <a:spcAft>
                <a:spcPts val="0"/>
              </a:spcAft>
            </a:pPr>
            <a:r>
              <a:rPr sz="1050" b="1" i="0">
                <a:solidFill>
                  <a:srgbClr val="B3382E"/>
                </a:solidFill>
                <a:latin typeface="Helvetica Neue"/>
              </a:rPr>
              <a:t>Ctrl+F</a:t>
            </a:r>
          </a:p>
        </p:txBody>
      </p:sp>
      <p:sp>
        <p:nvSpPr>
          <p:cNvPr id="56" name="TextBox 55"/>
          <p:cNvSpPr txBox="1"/>
          <p:nvPr/>
        </p:nvSpPr>
        <p:spPr>
          <a:xfrm>
            <a:off x="2423160" y="5308092"/>
            <a:ext cx="2203704" cy="310896"/>
          </a:xfrm>
          <a:prstGeom prst="rect">
            <a:avLst/>
          </a:prstGeom>
          <a:noFill/>
        </p:spPr>
        <p:txBody>
          <a:bodyPr wrap="square" lIns="0" rIns="0" tIns="0" bIns="0">
            <a:spAutoFit/>
          </a:bodyPr>
          <a:lstStyle/>
          <a:p>
            <a:pPr algn="l">
              <a:lnSpc>
                <a:spcPct val="120000"/>
              </a:lnSpc>
              <a:spcBef>
                <a:spcPts val="0"/>
              </a:spcBef>
              <a:spcAft>
                <a:spcPts val="0"/>
              </a:spcAft>
            </a:pPr>
            <a:r>
              <a:rPr sz="1050" b="0" i="0">
                <a:solidFill>
                  <a:srgbClr val="414D5C"/>
                </a:solidFill>
                <a:latin typeface="Helvetica Neue"/>
              </a:rPr>
              <a:t>Everyone, today</a:t>
            </a:r>
          </a:p>
        </p:txBody>
      </p:sp>
      <p:sp>
        <p:nvSpPr>
          <p:cNvPr id="57" name="TextBox 56"/>
          <p:cNvSpPr txBox="1"/>
          <p:nvPr/>
        </p:nvSpPr>
        <p:spPr>
          <a:xfrm>
            <a:off x="4754880" y="5308092"/>
            <a:ext cx="2752344" cy="310896"/>
          </a:xfrm>
          <a:prstGeom prst="rect">
            <a:avLst/>
          </a:prstGeom>
          <a:noFill/>
        </p:spPr>
        <p:txBody>
          <a:bodyPr wrap="square" lIns="0" rIns="0" tIns="0" bIns="0">
            <a:spAutoFit/>
          </a:bodyPr>
          <a:lstStyle/>
          <a:p>
            <a:pPr algn="l">
              <a:lnSpc>
                <a:spcPct val="120000"/>
              </a:lnSpc>
              <a:spcBef>
                <a:spcPts val="0"/>
              </a:spcBef>
              <a:spcAft>
                <a:spcPts val="0"/>
              </a:spcAft>
            </a:pPr>
            <a:r>
              <a:rPr sz="1050" b="0" i="0">
                <a:solidFill>
                  <a:srgbClr val="414D5C"/>
                </a:solidFill>
                <a:latin typeface="Helvetica Neue"/>
              </a:rPr>
              <a:t>Find the word, hope it is the right one</a:t>
            </a:r>
          </a:p>
        </p:txBody>
      </p:sp>
      <p:sp>
        <p:nvSpPr>
          <p:cNvPr id="58" name="TextBox 57"/>
          <p:cNvSpPr txBox="1"/>
          <p:nvPr/>
        </p:nvSpPr>
        <p:spPr>
          <a:xfrm>
            <a:off x="7635240" y="5308092"/>
            <a:ext cx="2249424" cy="310896"/>
          </a:xfrm>
          <a:prstGeom prst="rect">
            <a:avLst/>
          </a:prstGeom>
          <a:noFill/>
        </p:spPr>
        <p:txBody>
          <a:bodyPr wrap="square" lIns="0" rIns="0" tIns="0" bIns="0">
            <a:spAutoFit/>
          </a:bodyPr>
          <a:lstStyle/>
          <a:p>
            <a:pPr algn="l">
              <a:lnSpc>
                <a:spcPct val="120000"/>
              </a:lnSpc>
              <a:spcBef>
                <a:spcPts val="0"/>
              </a:spcBef>
              <a:spcAft>
                <a:spcPts val="0"/>
              </a:spcAft>
            </a:pPr>
            <a:r>
              <a:rPr sz="1050" b="0" i="0">
                <a:solidFill>
                  <a:srgbClr val="414D5C"/>
                </a:solidFill>
                <a:latin typeface="Helvetica Neue"/>
              </a:rPr>
              <a:t>Free. Universally deployed.</a:t>
            </a:r>
          </a:p>
        </p:txBody>
      </p:sp>
      <p:sp>
        <p:nvSpPr>
          <p:cNvPr id="59" name="TextBox 58"/>
          <p:cNvSpPr txBox="1"/>
          <p:nvPr/>
        </p:nvSpPr>
        <p:spPr>
          <a:xfrm>
            <a:off x="10012680" y="5308092"/>
            <a:ext cx="1197864" cy="310896"/>
          </a:xfrm>
          <a:prstGeom prst="rect">
            <a:avLst/>
          </a:prstGeom>
          <a:noFill/>
        </p:spPr>
        <p:txBody>
          <a:bodyPr wrap="square" lIns="0" rIns="0" tIns="0" bIns="0">
            <a:spAutoFit/>
          </a:bodyPr>
          <a:lstStyle/>
          <a:p>
            <a:pPr algn="l">
              <a:lnSpc>
                <a:spcPct val="120000"/>
              </a:lnSpc>
              <a:spcBef>
                <a:spcPts val="0"/>
              </a:spcBef>
              <a:spcAft>
                <a:spcPts val="0"/>
              </a:spcAft>
            </a:pPr>
            <a:r>
              <a:rPr sz="1050" b="0" i="0">
                <a:solidFill>
                  <a:srgbClr val="B3382E"/>
                </a:solidFill>
                <a:latin typeface="Helvetica Neue"/>
              </a:rPr>
              <a:t>The one to beat</a:t>
            </a:r>
          </a:p>
        </p:txBody>
      </p:sp>
      <p:sp>
        <p:nvSpPr>
          <p:cNvPr id="60" name="TextBox 59"/>
          <p:cNvSpPr txBox="1"/>
          <p:nvPr/>
        </p:nvSpPr>
        <p:spPr>
          <a:xfrm>
            <a:off x="822960" y="6053328"/>
            <a:ext cx="10332720" cy="274320"/>
          </a:xfrm>
          <a:prstGeom prst="rect">
            <a:avLst/>
          </a:prstGeom>
          <a:noFill/>
        </p:spPr>
        <p:txBody>
          <a:bodyPr wrap="square" lIns="0" rIns="0" tIns="0" bIns="0">
            <a:spAutoFit/>
          </a:bodyPr>
          <a:lstStyle/>
          <a:p>
            <a:pPr algn="l">
              <a:lnSpc>
                <a:spcPct val="125000"/>
              </a:lnSpc>
              <a:spcBef>
                <a:spcPts val="0"/>
              </a:spcBef>
              <a:spcAft>
                <a:spcPts val="0"/>
              </a:spcAft>
            </a:pPr>
            <a:r>
              <a:rPr sz="900" b="0" i="0">
                <a:solidFill>
                  <a:srgbClr val="8A939E"/>
                </a:solidFill>
                <a:latin typeface="Helvetica Neue"/>
              </a:rPr>
              <a:t>Source:  Strata market &amp; competitive research, 30 Aug 2026, §5 — sources cited inline in that brief.</a:t>
            </a:r>
          </a:p>
        </p:txBody>
      </p:sp>
      <p:sp>
        <p:nvSpPr>
          <p:cNvPr id="61" name="TextBox 60"/>
          <p:cNvSpPr txBox="1"/>
          <p:nvPr/>
        </p:nvSpPr>
        <p:spPr>
          <a:xfrm>
            <a:off x="822960" y="6419088"/>
            <a:ext cx="8778240" cy="274320"/>
          </a:xfrm>
          <a:prstGeom prst="rect">
            <a:avLst/>
          </a:prstGeom>
          <a:noFill/>
        </p:spPr>
        <p:txBody>
          <a:bodyPr wrap="square" lIns="0" rIns="0" tIns="0" bIns="0">
            <a:spAutoFit/>
          </a:bodyPr>
          <a:lstStyle/>
          <a:p>
            <a:pPr algn="l">
              <a:spcBef>
                <a:spcPts val="0"/>
              </a:spcBef>
              <a:spcAft>
                <a:spcPts val="0"/>
              </a:spcAft>
            </a:pPr>
            <a:r>
              <a:rPr sz="850" b="0" i="0">
                <a:solidFill>
                  <a:srgbClr val="8A939E"/>
                </a:solidFill>
                <a:latin typeface="Helvetica Neue"/>
              </a:rPr>
              <a:t>Strata Civic Solutions  ·  Pitch deck v1, 1 September 2026  ·  Draft for joseleos  ·  Confidential</a:t>
            </a:r>
          </a:p>
        </p:txBody>
      </p:sp>
      <p:sp>
        <p:nvSpPr>
          <p:cNvPr id="62" name="TextBox 61"/>
          <p:cNvSpPr txBox="1"/>
          <p:nvPr/>
        </p:nvSpPr>
        <p:spPr>
          <a:xfrm>
            <a:off x="10454335" y="6419088"/>
            <a:ext cx="914400" cy="274320"/>
          </a:xfrm>
          <a:prstGeom prst="rect">
            <a:avLst/>
          </a:prstGeom>
          <a:noFill/>
        </p:spPr>
        <p:txBody>
          <a:bodyPr wrap="square" lIns="0" rIns="0" tIns="0" bIns="0">
            <a:spAutoFit/>
          </a:bodyPr>
          <a:lstStyle/>
          <a:p>
            <a:pPr algn="r">
              <a:spcBef>
                <a:spcPts val="0"/>
              </a:spcBef>
              <a:spcAft>
                <a:spcPts val="0"/>
              </a:spcAft>
            </a:pPr>
            <a:r>
              <a:rPr sz="850" b="0" i="0">
                <a:solidFill>
                  <a:srgbClr val="8A939E"/>
                </a:solidFill>
                <a:latin typeface="Helvetica Neue"/>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10545775" cy="274320"/>
          </a:xfrm>
          <a:prstGeom prst="rect">
            <a:avLst/>
          </a:prstGeom>
          <a:noFill/>
        </p:spPr>
        <p:txBody>
          <a:bodyPr wrap="square" lIns="0" rIns="0" tIns="0" bIns="0">
            <a:spAutoFit/>
          </a:bodyPr>
          <a:lstStyle/>
          <a:p>
            <a:pPr algn="l">
              <a:spcBef>
                <a:spcPts val="0"/>
              </a:spcBef>
              <a:spcAft>
                <a:spcPts val="0"/>
              </a:spcAft>
            </a:pPr>
            <a:r>
              <a:rPr sz="1050" b="1" i="0">
                <a:solidFill>
                  <a:srgbClr val="1F7A6C"/>
                </a:solidFill>
                <a:latin typeface="Helvetica Neue"/>
              </a:rPr>
              <a:t>BUSINESS MODEL</a:t>
            </a:r>
          </a:p>
        </p:txBody>
      </p:sp>
      <p:sp>
        <p:nvSpPr>
          <p:cNvPr id="4" name="TextBox 3"/>
          <p:cNvSpPr txBox="1"/>
          <p:nvPr/>
        </p:nvSpPr>
        <p:spPr>
          <a:xfrm>
            <a:off x="822960" y="914400"/>
            <a:ext cx="10545775" cy="475488"/>
          </a:xfrm>
          <a:prstGeom prst="rect">
            <a:avLst/>
          </a:prstGeom>
          <a:noFill/>
        </p:spPr>
        <p:txBody>
          <a:bodyPr wrap="square" lIns="0" rIns="0" tIns="0" bIns="0">
            <a:spAutoFit/>
          </a:bodyPr>
          <a:lstStyle/>
          <a:p>
            <a:pPr algn="l">
              <a:lnSpc>
                <a:spcPct val="106000"/>
              </a:lnSpc>
              <a:spcBef>
                <a:spcPts val="0"/>
              </a:spcBef>
              <a:spcAft>
                <a:spcPts val="0"/>
              </a:spcAft>
            </a:pPr>
            <a:r>
              <a:rPr sz="3000" b="1" i="0">
                <a:solidFill>
                  <a:srgbClr val="16202E"/>
                </a:solidFill>
                <a:latin typeface="Helvetica Neue"/>
              </a:rPr>
              <a:t>$3,600 to $18,000 a year. 89% gross margin.</a:t>
            </a:r>
          </a:p>
        </p:txBody>
      </p:sp>
      <p:sp>
        <p:nvSpPr>
          <p:cNvPr id="5" name="TextBox 4"/>
          <p:cNvSpPr txBox="1"/>
          <p:nvPr/>
        </p:nvSpPr>
        <p:spPr>
          <a:xfrm>
            <a:off x="822960" y="1481328"/>
            <a:ext cx="9509760" cy="548640"/>
          </a:xfrm>
          <a:prstGeom prst="rect">
            <a:avLst/>
          </a:prstGeom>
          <a:noFill/>
        </p:spPr>
        <p:txBody>
          <a:bodyPr wrap="square" lIns="0" rIns="0" tIns="0" bIns="0">
            <a:spAutoFit/>
          </a:bodyPr>
          <a:lstStyle/>
          <a:p>
            <a:pPr algn="l">
              <a:lnSpc>
                <a:spcPct val="132000"/>
              </a:lnSpc>
              <a:spcBef>
                <a:spcPts val="0"/>
              </a:spcBef>
              <a:spcAft>
                <a:spcPts val="0"/>
              </a:spcAft>
            </a:pPr>
            <a:r>
              <a:rPr sz="1450" b="0" i="0">
                <a:solidFill>
                  <a:srgbClr val="414D5C"/>
                </a:solidFill>
                <a:latin typeface="Helvetica Neue"/>
              </a:rPr>
              <a:t>Population-tiered annual subscription. No per-seat fees — the category norm, and the reason a whole council and every board volunteer can use it on one contract.</a:t>
            </a:r>
          </a:p>
        </p:txBody>
      </p:sp>
      <p:sp>
        <p:nvSpPr>
          <p:cNvPr id="6" name="Rectangle 5"/>
          <p:cNvSpPr/>
          <p:nvPr/>
        </p:nvSpPr>
        <p:spPr>
          <a:xfrm>
            <a:off x="822960" y="2148840"/>
            <a:ext cx="10545775" cy="12700"/>
          </a:xfrm>
          <a:prstGeom prst="rect">
            <a:avLst/>
          </a:prstGeom>
          <a:solidFill>
            <a:srgbClr val="D7D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2532888"/>
            <a:ext cx="2240280" cy="1691640"/>
          </a:xfrm>
          <a:prstGeom prst="rect">
            <a:avLst/>
          </a:prstGeom>
          <a:solidFill>
            <a:srgbClr val="FFFFFF"/>
          </a:solidFill>
          <a:ln w="9525">
            <a:solidFill>
              <a:srgbClr val="D7DC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42416" y="2770632"/>
            <a:ext cx="1828800" cy="1280160"/>
          </a:xfrm>
          <a:prstGeom prst="rect">
            <a:avLst/>
          </a:prstGeom>
          <a:noFill/>
        </p:spPr>
        <p:txBody>
          <a:bodyPr wrap="square" lIns="0" rIns="0" tIns="0" bIns="0">
            <a:spAutoFit/>
          </a:bodyPr>
          <a:lstStyle/>
          <a:p>
            <a:pPr algn="l">
              <a:spcBef>
                <a:spcPts val="0"/>
              </a:spcBef>
              <a:spcAft>
                <a:spcPts val="0"/>
              </a:spcAft>
            </a:pPr>
            <a:r>
              <a:rPr sz="1000" b="1" i="0">
                <a:solidFill>
                  <a:srgbClr val="1F7A6C"/>
                </a:solidFill>
                <a:latin typeface="Helvetica Neue"/>
              </a:rPr>
              <a:t>STARTER</a:t>
            </a:r>
          </a:p>
          <a:p>
            <a:pPr>
              <a:spcBef>
                <a:spcPts val="500"/>
              </a:spcBef>
              <a:spcAft>
                <a:spcPts val="0"/>
              </a:spcAft>
            </a:pPr>
            <a:r>
              <a:rPr sz="2700" b="1" i="0">
                <a:solidFill>
                  <a:srgbClr val="16202E"/>
                </a:solidFill>
                <a:latin typeface="Helvetica Neue"/>
              </a:rPr>
              <a:t>$3,600</a:t>
            </a:r>
          </a:p>
          <a:p>
            <a:pPr>
              <a:lnSpc>
                <a:spcPct val="128000"/>
              </a:lnSpc>
              <a:spcBef>
                <a:spcPts val="700"/>
              </a:spcBef>
              <a:spcAft>
                <a:spcPts val="0"/>
              </a:spcAft>
            </a:pPr>
            <a:r>
              <a:rPr sz="1150" b="0" i="0">
                <a:solidFill>
                  <a:srgbClr val="414D5C"/>
                </a:solidFill>
                <a:latin typeface="Helvetica Neue"/>
              </a:rPr>
              <a:t>Smallest cities. Under 10,000.</a:t>
            </a:r>
          </a:p>
        </p:txBody>
      </p:sp>
      <p:sp>
        <p:nvSpPr>
          <p:cNvPr id="9" name="Rectangle 8"/>
          <p:cNvSpPr/>
          <p:nvPr/>
        </p:nvSpPr>
        <p:spPr>
          <a:xfrm>
            <a:off x="3246120" y="2532888"/>
            <a:ext cx="2240280" cy="1691640"/>
          </a:xfrm>
          <a:prstGeom prst="rect">
            <a:avLst/>
          </a:prstGeom>
          <a:solidFill>
            <a:srgbClr val="E2EEEB"/>
          </a:solidFill>
          <a:ln w="9525">
            <a:solidFill>
              <a:srgbClr val="1F7A6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65576" y="2770632"/>
            <a:ext cx="1828800" cy="1280160"/>
          </a:xfrm>
          <a:prstGeom prst="rect">
            <a:avLst/>
          </a:prstGeom>
          <a:noFill/>
        </p:spPr>
        <p:txBody>
          <a:bodyPr wrap="square" lIns="0" rIns="0" tIns="0" bIns="0">
            <a:spAutoFit/>
          </a:bodyPr>
          <a:lstStyle/>
          <a:p>
            <a:pPr algn="l">
              <a:spcBef>
                <a:spcPts val="0"/>
              </a:spcBef>
              <a:spcAft>
                <a:spcPts val="0"/>
              </a:spcAft>
            </a:pPr>
            <a:r>
              <a:rPr sz="1000" b="1" i="0">
                <a:solidFill>
                  <a:srgbClr val="1F7A6C"/>
                </a:solidFill>
                <a:latin typeface="Helvetica Neue"/>
              </a:rPr>
              <a:t>CORE</a:t>
            </a:r>
          </a:p>
          <a:p>
            <a:pPr>
              <a:spcBef>
                <a:spcPts val="500"/>
              </a:spcBef>
              <a:spcAft>
                <a:spcPts val="0"/>
              </a:spcAft>
            </a:pPr>
            <a:r>
              <a:rPr sz="2700" b="1" i="0">
                <a:solidFill>
                  <a:srgbClr val="16202E"/>
                </a:solidFill>
                <a:latin typeface="Helvetica Neue"/>
              </a:rPr>
              <a:t>$9,600</a:t>
            </a:r>
          </a:p>
          <a:p>
            <a:pPr>
              <a:lnSpc>
                <a:spcPct val="128000"/>
              </a:lnSpc>
              <a:spcBef>
                <a:spcPts val="700"/>
              </a:spcBef>
              <a:spcAft>
                <a:spcPts val="0"/>
              </a:spcAft>
            </a:pPr>
            <a:r>
              <a:rPr sz="1150" b="0" i="0">
                <a:solidFill>
                  <a:srgbClr val="414D5C"/>
                </a:solidFill>
                <a:latin typeface="Helvetica Neue"/>
              </a:rPr>
              <a:t>The modeled ACV. Cities 10,000–50,000 — our beachhead tier.</a:t>
            </a:r>
          </a:p>
        </p:txBody>
      </p:sp>
      <p:sp>
        <p:nvSpPr>
          <p:cNvPr id="11" name="Rectangle 10"/>
          <p:cNvSpPr/>
          <p:nvPr/>
        </p:nvSpPr>
        <p:spPr>
          <a:xfrm>
            <a:off x="5669280" y="2532888"/>
            <a:ext cx="2240280" cy="1691640"/>
          </a:xfrm>
          <a:prstGeom prst="rect">
            <a:avLst/>
          </a:prstGeom>
          <a:solidFill>
            <a:srgbClr val="FFFFFF"/>
          </a:solidFill>
          <a:ln w="9525">
            <a:solidFill>
              <a:srgbClr val="D7DC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888736" y="2770632"/>
            <a:ext cx="1828800" cy="1280160"/>
          </a:xfrm>
          <a:prstGeom prst="rect">
            <a:avLst/>
          </a:prstGeom>
          <a:noFill/>
        </p:spPr>
        <p:txBody>
          <a:bodyPr wrap="square" lIns="0" rIns="0" tIns="0" bIns="0">
            <a:spAutoFit/>
          </a:bodyPr>
          <a:lstStyle/>
          <a:p>
            <a:pPr algn="l">
              <a:spcBef>
                <a:spcPts val="0"/>
              </a:spcBef>
              <a:spcAft>
                <a:spcPts val="0"/>
              </a:spcAft>
            </a:pPr>
            <a:r>
              <a:rPr sz="1000" b="1" i="0">
                <a:solidFill>
                  <a:srgbClr val="1F7A6C"/>
                </a:solidFill>
                <a:latin typeface="Helvetica Neue"/>
              </a:rPr>
              <a:t>GROWTH</a:t>
            </a:r>
          </a:p>
          <a:p>
            <a:pPr>
              <a:spcBef>
                <a:spcPts val="500"/>
              </a:spcBef>
              <a:spcAft>
                <a:spcPts val="0"/>
              </a:spcAft>
            </a:pPr>
            <a:r>
              <a:rPr sz="2700" b="1" i="0">
                <a:solidFill>
                  <a:srgbClr val="16202E"/>
                </a:solidFill>
                <a:latin typeface="Helvetica Neue"/>
              </a:rPr>
              <a:t>$18,000</a:t>
            </a:r>
          </a:p>
          <a:p>
            <a:pPr>
              <a:lnSpc>
                <a:spcPct val="128000"/>
              </a:lnSpc>
              <a:spcBef>
                <a:spcPts val="700"/>
              </a:spcBef>
              <a:spcAft>
                <a:spcPts val="0"/>
              </a:spcAft>
            </a:pPr>
            <a:r>
              <a:rPr sz="1150" b="0" i="0">
                <a:solidFill>
                  <a:srgbClr val="414D5C"/>
                </a:solidFill>
                <a:latin typeface="Helvetica Neue"/>
              </a:rPr>
              <a:t>Larger cities, more boards, more packet volume.</a:t>
            </a:r>
          </a:p>
        </p:txBody>
      </p:sp>
      <p:sp>
        <p:nvSpPr>
          <p:cNvPr id="13" name="Rectangle 12"/>
          <p:cNvSpPr/>
          <p:nvPr/>
        </p:nvSpPr>
        <p:spPr>
          <a:xfrm>
            <a:off x="8183880" y="2532888"/>
            <a:ext cx="2971800" cy="1691640"/>
          </a:xfrm>
          <a:prstGeom prst="rect">
            <a:avLst/>
          </a:prstGeom>
          <a:solidFill>
            <a:srgbClr val="16202E"/>
          </a:solidFill>
          <a:ln w="9525">
            <a:solidFill>
              <a:srgbClr val="162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80" y="2770632"/>
            <a:ext cx="2560320" cy="1280160"/>
          </a:xfrm>
          <a:prstGeom prst="rect">
            <a:avLst/>
          </a:prstGeom>
          <a:noFill/>
        </p:spPr>
        <p:txBody>
          <a:bodyPr wrap="square" lIns="0" rIns="0" tIns="0" bIns="0">
            <a:spAutoFit/>
          </a:bodyPr>
          <a:lstStyle/>
          <a:p>
            <a:pPr algn="l">
              <a:spcBef>
                <a:spcPts val="0"/>
              </a:spcBef>
              <a:spcAft>
                <a:spcPts val="0"/>
              </a:spcAft>
            </a:pPr>
            <a:r>
              <a:rPr sz="1000" b="1" i="0">
                <a:solidFill>
                  <a:srgbClr val="1F7A6C"/>
                </a:solidFill>
                <a:latin typeface="Helvetica Neue"/>
              </a:rPr>
              <a:t>GROSS MARGIN</a:t>
            </a:r>
          </a:p>
          <a:p>
            <a:pPr>
              <a:spcBef>
                <a:spcPts val="300"/>
              </a:spcBef>
              <a:spcAft>
                <a:spcPts val="0"/>
              </a:spcAft>
            </a:pPr>
            <a:r>
              <a:rPr sz="3400" b="1" i="0">
                <a:solidFill>
                  <a:srgbClr val="FFFFFF"/>
                </a:solidFill>
                <a:latin typeface="Helvetica Neue"/>
              </a:rPr>
              <a:t>89%</a:t>
            </a:r>
          </a:p>
          <a:p>
            <a:pPr>
              <a:lnSpc>
                <a:spcPct val="128000"/>
              </a:lnSpc>
              <a:spcBef>
                <a:spcPts val="600"/>
              </a:spcBef>
              <a:spcAft>
                <a:spcPts val="0"/>
              </a:spcAft>
            </a:pPr>
            <a:r>
              <a:rPr sz="1050" b="0" i="0">
                <a:solidFill>
                  <a:srgbClr val="B6C1C8"/>
                </a:solidFill>
                <a:latin typeface="Helvetica Neue"/>
              </a:rPr>
              <a:t>COGS is ≈$75/city/month — inference and retrieval. It scales with packet volume, not seats.</a:t>
            </a:r>
          </a:p>
        </p:txBody>
      </p:sp>
      <p:sp>
        <p:nvSpPr>
          <p:cNvPr id="15" name="TextBox 14"/>
          <p:cNvSpPr txBox="1"/>
          <p:nvPr/>
        </p:nvSpPr>
        <p:spPr>
          <a:xfrm>
            <a:off x="822960" y="4471416"/>
            <a:ext cx="4937760" cy="365760"/>
          </a:xfrm>
          <a:prstGeom prst="rect">
            <a:avLst/>
          </a:prstGeom>
          <a:noFill/>
        </p:spPr>
        <p:txBody>
          <a:bodyPr wrap="square" lIns="0" rIns="0" tIns="0" bIns="0">
            <a:spAutoFit/>
          </a:bodyPr>
          <a:lstStyle/>
          <a:p>
            <a:pPr algn="l">
              <a:lnSpc>
                <a:spcPct val="125000"/>
              </a:lnSpc>
              <a:spcBef>
                <a:spcPts val="0"/>
              </a:spcBef>
            </a:pPr>
            <a:r>
              <a:rPr sz="1350" b="1">
                <a:solidFill>
                  <a:srgbClr val="16202E"/>
                </a:solidFill>
                <a:latin typeface="Helvetica Neue"/>
              </a:rPr>
              <a:t>Annual invoice, ACH or check. </a:t>
            </a:r>
            <a:r>
              <a:rPr sz="1350">
                <a:solidFill>
                  <a:srgbClr val="414D5C"/>
                </a:solidFill>
                <a:latin typeface="Helvetica Neue"/>
              </a:rPr>
              <a:t>Onboarding $500–1,500, waived for pilots.</a:t>
            </a:r>
          </a:p>
          <a:p>
            <a:pPr>
              <a:lnSpc>
                <a:spcPct val="125000"/>
              </a:lnSpc>
              <a:spcBef>
                <a:spcPts val="1300"/>
              </a:spcBef>
            </a:pPr>
            <a:r>
              <a:rPr sz="1350" b="1">
                <a:solidFill>
                  <a:srgbClr val="16202E"/>
                </a:solidFill>
                <a:latin typeface="Helvetica Neue"/>
              </a:rPr>
              <a:t>Usage bundled. </a:t>
            </a:r>
            <a:r>
              <a:rPr sz="1350">
                <a:solidFill>
                  <a:srgbClr val="414D5C"/>
                </a:solidFill>
                <a:latin typeface="Helvetica Neue"/>
              </a:rPr>
              <a:t>An official who uses it twice a week costs the same as one who uses it twice a year.</a:t>
            </a:r>
          </a:p>
        </p:txBody>
      </p:sp>
      <p:sp>
        <p:nvSpPr>
          <p:cNvPr id="16" name="TextBox 15"/>
          <p:cNvSpPr txBox="1"/>
          <p:nvPr/>
        </p:nvSpPr>
        <p:spPr>
          <a:xfrm>
            <a:off x="6172200" y="4471416"/>
            <a:ext cx="4937760" cy="365760"/>
          </a:xfrm>
          <a:prstGeom prst="rect">
            <a:avLst/>
          </a:prstGeom>
          <a:noFill/>
        </p:spPr>
        <p:txBody>
          <a:bodyPr wrap="square" lIns="0" rIns="0" tIns="0" bIns="0">
            <a:spAutoFit/>
          </a:bodyPr>
          <a:lstStyle/>
          <a:p>
            <a:pPr algn="l">
              <a:lnSpc>
                <a:spcPct val="125000"/>
              </a:lnSpc>
              <a:spcBef>
                <a:spcPts val="0"/>
              </a:spcBef>
            </a:pPr>
            <a:r>
              <a:rPr sz="1350" b="1">
                <a:solidFill>
                  <a:srgbClr val="16202E"/>
                </a:solidFill>
                <a:latin typeface="Helvetica Neue"/>
              </a:rPr>
              <a:t>ACV is capped by design. </a:t>
            </a:r>
            <a:r>
              <a:rPr sz="1350">
                <a:solidFill>
                  <a:srgbClr val="414D5C"/>
                </a:solidFill>
                <a:latin typeface="Helvetica Neue"/>
              </a:rPr>
              <a:t>Everything stays under the $50k bid threshold, which is what makes the 4–8 week cycle possible.</a:t>
            </a:r>
          </a:p>
          <a:p>
            <a:pPr>
              <a:lnSpc>
                <a:spcPct val="125000"/>
              </a:lnSpc>
              <a:spcBef>
                <a:spcPts val="1300"/>
              </a:spcBef>
            </a:pPr>
            <a:r>
              <a:rPr sz="1350" b="1">
                <a:solidFill>
                  <a:srgbClr val="16202E"/>
                </a:solidFill>
                <a:latin typeface="Helvetica Neue"/>
              </a:rPr>
              <a:t>Retention is budget-line retention. </a:t>
            </a:r>
            <a:r>
              <a:rPr sz="1350">
                <a:solidFill>
                  <a:srgbClr val="414D5C"/>
                </a:solidFill>
                <a:latin typeface="Helvetica Neue"/>
              </a:rPr>
              <a:t>Model uses 0.6%/mo logo churn ≈93%/yr; the 90–95% public-sector figure is vendor-reported, low-confidence.</a:t>
            </a:r>
          </a:p>
        </p:txBody>
      </p:sp>
      <p:sp>
        <p:nvSpPr>
          <p:cNvPr id="17" name="TextBox 16"/>
          <p:cNvSpPr txBox="1"/>
          <p:nvPr/>
        </p:nvSpPr>
        <p:spPr>
          <a:xfrm>
            <a:off x="822960" y="6053328"/>
            <a:ext cx="10332720" cy="274320"/>
          </a:xfrm>
          <a:prstGeom prst="rect">
            <a:avLst/>
          </a:prstGeom>
          <a:noFill/>
        </p:spPr>
        <p:txBody>
          <a:bodyPr wrap="square" lIns="0" rIns="0" tIns="0" bIns="0">
            <a:spAutoFit/>
          </a:bodyPr>
          <a:lstStyle/>
          <a:p>
            <a:pPr algn="l">
              <a:lnSpc>
                <a:spcPct val="125000"/>
              </a:lnSpc>
              <a:spcBef>
                <a:spcPts val="0"/>
              </a:spcBef>
              <a:spcAft>
                <a:spcPts val="0"/>
              </a:spcAft>
            </a:pPr>
            <a:r>
              <a:rPr sz="900" b="0" i="0">
                <a:solidFill>
                  <a:srgbClr val="8A939E"/>
                </a:solidFill>
                <a:latin typeface="Helvetica Neue"/>
              </a:rPr>
              <a:t>Source:  product/finance/strata/MODEL.md (engine v1, base case); GTM pricing table §4.</a:t>
            </a:r>
          </a:p>
        </p:txBody>
      </p:sp>
      <p:sp>
        <p:nvSpPr>
          <p:cNvPr id="18" name="TextBox 17"/>
          <p:cNvSpPr txBox="1"/>
          <p:nvPr/>
        </p:nvSpPr>
        <p:spPr>
          <a:xfrm>
            <a:off x="822960" y="6419088"/>
            <a:ext cx="8778240" cy="274320"/>
          </a:xfrm>
          <a:prstGeom prst="rect">
            <a:avLst/>
          </a:prstGeom>
          <a:noFill/>
        </p:spPr>
        <p:txBody>
          <a:bodyPr wrap="square" lIns="0" rIns="0" tIns="0" bIns="0">
            <a:spAutoFit/>
          </a:bodyPr>
          <a:lstStyle/>
          <a:p>
            <a:pPr algn="l">
              <a:spcBef>
                <a:spcPts val="0"/>
              </a:spcBef>
              <a:spcAft>
                <a:spcPts val="0"/>
              </a:spcAft>
            </a:pPr>
            <a:r>
              <a:rPr sz="850" b="0" i="0">
                <a:solidFill>
                  <a:srgbClr val="8A939E"/>
                </a:solidFill>
                <a:latin typeface="Helvetica Neue"/>
              </a:rPr>
              <a:t>Strata Civic Solutions  ·  Pitch deck v1, 1 September 2026  ·  Draft for joseleos  ·  Confidential</a:t>
            </a:r>
          </a:p>
        </p:txBody>
      </p:sp>
      <p:sp>
        <p:nvSpPr>
          <p:cNvPr id="19" name="TextBox 18"/>
          <p:cNvSpPr txBox="1"/>
          <p:nvPr/>
        </p:nvSpPr>
        <p:spPr>
          <a:xfrm>
            <a:off x="10454335" y="6419088"/>
            <a:ext cx="914400" cy="274320"/>
          </a:xfrm>
          <a:prstGeom prst="rect">
            <a:avLst/>
          </a:prstGeom>
          <a:noFill/>
        </p:spPr>
        <p:txBody>
          <a:bodyPr wrap="square" lIns="0" rIns="0" tIns="0" bIns="0">
            <a:spAutoFit/>
          </a:bodyPr>
          <a:lstStyle/>
          <a:p>
            <a:pPr algn="r">
              <a:spcBef>
                <a:spcPts val="0"/>
              </a:spcBef>
              <a:spcAft>
                <a:spcPts val="0"/>
              </a:spcAft>
            </a:pPr>
            <a:r>
              <a:rPr sz="850" b="0" i="0">
                <a:solidFill>
                  <a:srgbClr val="8A939E"/>
                </a:solidFill>
                <a:latin typeface="Helvetica Neue"/>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10545775" cy="274320"/>
          </a:xfrm>
          <a:prstGeom prst="rect">
            <a:avLst/>
          </a:prstGeom>
          <a:noFill/>
        </p:spPr>
        <p:txBody>
          <a:bodyPr wrap="square" lIns="0" rIns="0" tIns="0" bIns="0">
            <a:spAutoFit/>
          </a:bodyPr>
          <a:lstStyle/>
          <a:p>
            <a:pPr algn="l">
              <a:spcBef>
                <a:spcPts val="0"/>
              </a:spcBef>
              <a:spcAft>
                <a:spcPts val="0"/>
              </a:spcAft>
            </a:pPr>
            <a:r>
              <a:rPr sz="1050" b="1" i="0">
                <a:solidFill>
                  <a:srgbClr val="1F7A6C"/>
                </a:solidFill>
                <a:latin typeface="Helvetica Neue"/>
              </a:rPr>
              <a:t>MARKET</a:t>
            </a:r>
          </a:p>
        </p:txBody>
      </p:sp>
      <p:sp>
        <p:nvSpPr>
          <p:cNvPr id="4" name="TextBox 3"/>
          <p:cNvSpPr txBox="1"/>
          <p:nvPr/>
        </p:nvSpPr>
        <p:spPr>
          <a:xfrm>
            <a:off x="822960" y="914400"/>
            <a:ext cx="10545775" cy="950976"/>
          </a:xfrm>
          <a:prstGeom prst="rect">
            <a:avLst/>
          </a:prstGeom>
          <a:noFill/>
        </p:spPr>
        <p:txBody>
          <a:bodyPr wrap="square" lIns="0" rIns="0" tIns="0" bIns="0">
            <a:spAutoFit/>
          </a:bodyPr>
          <a:lstStyle/>
          <a:p>
            <a:pPr algn="l">
              <a:lnSpc>
                <a:spcPct val="106000"/>
              </a:lnSpc>
              <a:spcBef>
                <a:spcPts val="0"/>
              </a:spcBef>
              <a:spcAft>
                <a:spcPts val="0"/>
              </a:spcAft>
            </a:pPr>
            <a:r>
              <a:rPr sz="3000" b="1" i="0">
                <a:solidFill>
                  <a:srgbClr val="16202E"/>
                </a:solidFill>
                <a:latin typeface="Helvetica Neue"/>
              </a:rPr>
              <a:t>230 Texas cities in our tier. We counted them one at a time.</a:t>
            </a:r>
          </a:p>
        </p:txBody>
      </p:sp>
      <p:sp>
        <p:nvSpPr>
          <p:cNvPr id="5" name="TextBox 4"/>
          <p:cNvSpPr txBox="1"/>
          <p:nvPr/>
        </p:nvSpPr>
        <p:spPr>
          <a:xfrm>
            <a:off x="822960" y="1901952"/>
            <a:ext cx="9509760" cy="548640"/>
          </a:xfrm>
          <a:prstGeom prst="rect">
            <a:avLst/>
          </a:prstGeom>
          <a:noFill/>
        </p:spPr>
        <p:txBody>
          <a:bodyPr wrap="square" lIns="0" rIns="0" tIns="0" bIns="0">
            <a:spAutoFit/>
          </a:bodyPr>
          <a:lstStyle/>
          <a:p>
            <a:pPr algn="l">
              <a:lnSpc>
                <a:spcPct val="132000"/>
              </a:lnSpc>
              <a:spcBef>
                <a:spcPts val="0"/>
              </a:spcBef>
              <a:spcAft>
                <a:spcPts val="0"/>
              </a:spcAft>
            </a:pPr>
            <a:r>
              <a:rPr sz="1450" b="0" i="0">
                <a:solidFill>
                  <a:srgbClr val="414D5C"/>
                </a:solidFill>
                <a:latin typeface="Helvetica Neue"/>
              </a:rPr>
              <a:t>Bottom-up only. The national number is shown for context and is deliberately not modeled.</a:t>
            </a:r>
          </a:p>
        </p:txBody>
      </p:sp>
      <p:sp>
        <p:nvSpPr>
          <p:cNvPr id="6" name="Rectangle 5"/>
          <p:cNvSpPr/>
          <p:nvPr/>
        </p:nvSpPr>
        <p:spPr>
          <a:xfrm>
            <a:off x="822960" y="2354580"/>
            <a:ext cx="10545775" cy="12700"/>
          </a:xfrm>
          <a:prstGeom prst="rect">
            <a:avLst/>
          </a:prstGeom>
          <a:solidFill>
            <a:srgbClr val="D7D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2738628"/>
            <a:ext cx="3474720" cy="566928"/>
          </a:xfrm>
          <a:prstGeom prst="rect">
            <a:avLst/>
          </a:prstGeom>
          <a:solidFill>
            <a:srgbClr val="1F7A6C"/>
          </a:solidFill>
          <a:ln w="9525">
            <a:solidFill>
              <a:srgbClr val="1F7A6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42416" y="2884932"/>
            <a:ext cx="3090672" cy="365760"/>
          </a:xfrm>
          <a:prstGeom prst="rect">
            <a:avLst/>
          </a:prstGeom>
          <a:noFill/>
        </p:spPr>
        <p:txBody>
          <a:bodyPr wrap="square" lIns="0" rIns="0" tIns="0" bIns="0">
            <a:spAutoFit/>
          </a:bodyPr>
          <a:lstStyle/>
          <a:p>
            <a:pPr algn="l">
              <a:spcBef>
                <a:spcPts val="0"/>
              </a:spcBef>
              <a:spcAft>
                <a:spcPts val="0"/>
              </a:spcAft>
            </a:pPr>
            <a:r>
              <a:rPr sz="1300" b="1" i="0">
                <a:solidFill>
                  <a:srgbClr val="FFFFFF"/>
                </a:solidFill>
                <a:latin typeface="Helvetica Neue"/>
              </a:rPr>
              <a:t>230  ·  Texas cities, 10k–50k pop.</a:t>
            </a:r>
          </a:p>
        </p:txBody>
      </p:sp>
      <p:sp>
        <p:nvSpPr>
          <p:cNvPr id="9" name="TextBox 8"/>
          <p:cNvSpPr txBox="1"/>
          <p:nvPr/>
        </p:nvSpPr>
        <p:spPr>
          <a:xfrm>
            <a:off x="8595360" y="2884932"/>
            <a:ext cx="2560320" cy="365760"/>
          </a:xfrm>
          <a:prstGeom prst="rect">
            <a:avLst/>
          </a:prstGeom>
          <a:noFill/>
        </p:spPr>
        <p:txBody>
          <a:bodyPr wrap="square" lIns="0" rIns="0" tIns="0" bIns="0">
            <a:spAutoFit/>
          </a:bodyPr>
          <a:lstStyle/>
          <a:p>
            <a:pPr algn="l">
              <a:spcBef>
                <a:spcPts val="0"/>
              </a:spcBef>
              <a:spcAft>
                <a:spcPts val="0"/>
              </a:spcAft>
            </a:pPr>
            <a:r>
              <a:rPr sz="1250" b="1" i="0">
                <a:solidFill>
                  <a:srgbClr val="16202E"/>
                </a:solidFill>
                <a:latin typeface="Helvetica Neue"/>
              </a:rPr>
              <a:t>× $9,600 Core  =  ≈ $2.2M SAM</a:t>
            </a:r>
          </a:p>
        </p:txBody>
      </p:sp>
      <p:sp>
        <p:nvSpPr>
          <p:cNvPr id="10" name="Rectangle 9"/>
          <p:cNvSpPr/>
          <p:nvPr/>
        </p:nvSpPr>
        <p:spPr>
          <a:xfrm>
            <a:off x="822960" y="3470148"/>
            <a:ext cx="5120640" cy="566928"/>
          </a:xfrm>
          <a:prstGeom prst="rect">
            <a:avLst/>
          </a:prstGeom>
          <a:solidFill>
            <a:srgbClr val="6E9E97"/>
          </a:solidFill>
          <a:ln w="9525">
            <a:solidFill>
              <a:srgbClr val="6E9E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2416" y="3616452"/>
            <a:ext cx="4736592" cy="365760"/>
          </a:xfrm>
          <a:prstGeom prst="rect">
            <a:avLst/>
          </a:prstGeom>
          <a:noFill/>
        </p:spPr>
        <p:txBody>
          <a:bodyPr wrap="square" lIns="0" rIns="0" tIns="0" bIns="0">
            <a:spAutoFit/>
          </a:bodyPr>
          <a:lstStyle/>
          <a:p>
            <a:pPr algn="l">
              <a:spcBef>
                <a:spcPts val="0"/>
              </a:spcBef>
              <a:spcAft>
                <a:spcPts val="0"/>
              </a:spcAft>
            </a:pPr>
            <a:r>
              <a:rPr sz="1300" b="1" i="0">
                <a:solidFill>
                  <a:srgbClr val="16202E"/>
                </a:solidFill>
                <a:latin typeface="Helvetica Neue"/>
              </a:rPr>
              <a:t>1,224  ·  Texas municipalities, all sizes</a:t>
            </a:r>
          </a:p>
        </p:txBody>
      </p:sp>
      <p:sp>
        <p:nvSpPr>
          <p:cNvPr id="12" name="TextBox 11"/>
          <p:cNvSpPr txBox="1"/>
          <p:nvPr/>
        </p:nvSpPr>
        <p:spPr>
          <a:xfrm>
            <a:off x="8595360" y="3616452"/>
            <a:ext cx="2560320" cy="365760"/>
          </a:xfrm>
          <a:prstGeom prst="rect">
            <a:avLst/>
          </a:prstGeom>
          <a:noFill/>
        </p:spPr>
        <p:txBody>
          <a:bodyPr wrap="square" lIns="0" rIns="0" tIns="0" bIns="0">
            <a:spAutoFit/>
          </a:bodyPr>
          <a:lstStyle/>
          <a:p>
            <a:pPr algn="l">
              <a:spcBef>
                <a:spcPts val="0"/>
              </a:spcBef>
              <a:spcAft>
                <a:spcPts val="0"/>
              </a:spcAft>
            </a:pPr>
            <a:r>
              <a:rPr sz="1250" b="0" i="0">
                <a:solidFill>
                  <a:srgbClr val="8A939E"/>
                </a:solidFill>
                <a:latin typeface="Helvetica Neue"/>
              </a:rPr>
              <a:t>The state expansion path, unmodeled</a:t>
            </a:r>
          </a:p>
        </p:txBody>
      </p:sp>
      <p:sp>
        <p:nvSpPr>
          <p:cNvPr id="13" name="Rectangle 12"/>
          <p:cNvSpPr/>
          <p:nvPr/>
        </p:nvSpPr>
        <p:spPr>
          <a:xfrm>
            <a:off x="822960" y="4201668"/>
            <a:ext cx="7406640" cy="566928"/>
          </a:xfrm>
          <a:prstGeom prst="rect">
            <a:avLst/>
          </a:prstGeom>
          <a:solidFill>
            <a:srgbClr val="C3D8D3"/>
          </a:solidFill>
          <a:ln w="9525">
            <a:solidFill>
              <a:srgbClr val="C3D8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4347972"/>
            <a:ext cx="7022592" cy="365760"/>
          </a:xfrm>
          <a:prstGeom prst="rect">
            <a:avLst/>
          </a:prstGeom>
          <a:noFill/>
        </p:spPr>
        <p:txBody>
          <a:bodyPr wrap="square" lIns="0" rIns="0" tIns="0" bIns="0">
            <a:spAutoFit/>
          </a:bodyPr>
          <a:lstStyle/>
          <a:p>
            <a:pPr algn="l">
              <a:spcBef>
                <a:spcPts val="0"/>
              </a:spcBef>
              <a:spcAft>
                <a:spcPts val="0"/>
              </a:spcAft>
            </a:pPr>
            <a:r>
              <a:rPr sz="1300" b="1" i="0">
                <a:solidFill>
                  <a:srgbClr val="16202E"/>
                </a:solidFill>
                <a:latin typeface="Helvetica Neue"/>
              </a:rPr>
              <a:t>19,519  ·  U.S. municipalities (+16,360 towns)</a:t>
            </a:r>
          </a:p>
        </p:txBody>
      </p:sp>
      <p:sp>
        <p:nvSpPr>
          <p:cNvPr id="15" name="TextBox 14"/>
          <p:cNvSpPr txBox="1"/>
          <p:nvPr/>
        </p:nvSpPr>
        <p:spPr>
          <a:xfrm>
            <a:off x="8595360" y="4347972"/>
            <a:ext cx="2560320" cy="365760"/>
          </a:xfrm>
          <a:prstGeom prst="rect">
            <a:avLst/>
          </a:prstGeom>
          <a:noFill/>
        </p:spPr>
        <p:txBody>
          <a:bodyPr wrap="square" lIns="0" rIns="0" tIns="0" bIns="0">
            <a:spAutoFit/>
          </a:bodyPr>
          <a:lstStyle/>
          <a:p>
            <a:pPr algn="l">
              <a:spcBef>
                <a:spcPts val="0"/>
              </a:spcBef>
              <a:spcAft>
                <a:spcPts val="0"/>
              </a:spcAft>
            </a:pPr>
            <a:r>
              <a:rPr sz="1250" b="0" i="0">
                <a:solidFill>
                  <a:srgbClr val="8A939E"/>
                </a:solidFill>
                <a:latin typeface="Helvetica Neue"/>
              </a:rPr>
              <a:t>Context only. We do not claim it.</a:t>
            </a:r>
          </a:p>
        </p:txBody>
      </p:sp>
      <p:sp>
        <p:nvSpPr>
          <p:cNvPr id="16" name="TextBox 15"/>
          <p:cNvSpPr txBox="1"/>
          <p:nvPr/>
        </p:nvSpPr>
        <p:spPr>
          <a:xfrm>
            <a:off x="822960" y="5170932"/>
            <a:ext cx="10241280" cy="1097280"/>
          </a:xfrm>
          <a:prstGeom prst="rect">
            <a:avLst/>
          </a:prstGeom>
          <a:noFill/>
        </p:spPr>
        <p:txBody>
          <a:bodyPr wrap="square" lIns="0" rIns="0" tIns="0" bIns="0">
            <a:spAutoFit/>
          </a:bodyPr>
          <a:lstStyle/>
          <a:p>
            <a:pPr algn="l">
              <a:spcBef>
                <a:spcPts val="0"/>
              </a:spcBef>
              <a:spcAft>
                <a:spcPts val="0"/>
              </a:spcAft>
            </a:pPr>
            <a:r>
              <a:rPr sz="1600" b="1" i="0">
                <a:solidFill>
                  <a:srgbClr val="16202E"/>
                </a:solidFill>
                <a:latin typeface="Helvetica Neue"/>
              </a:rPr>
              <a:t>A $2.2M beachhead is a small number and we are not going to dress it up.</a:t>
            </a:r>
          </a:p>
          <a:p>
            <a:pPr>
              <a:lnSpc>
                <a:spcPct val="135000"/>
              </a:lnSpc>
              <a:spcBef>
                <a:spcPts val="900"/>
              </a:spcBef>
              <a:spcAft>
                <a:spcPts val="0"/>
              </a:spcAft>
            </a:pPr>
            <a:r>
              <a:rPr sz="1350" b="0" i="0">
                <a:solidFill>
                  <a:srgbClr val="414D5C"/>
                </a:solidFill>
                <a:latin typeface="Helvetica Neue"/>
              </a:rPr>
              <a:t>It is the number we can defend, city by city, against a published population table. If a fund needs a national TAM underwritten today, this is the wrong stage of this company.</a:t>
            </a:r>
          </a:p>
        </p:txBody>
      </p:sp>
      <p:sp>
        <p:nvSpPr>
          <p:cNvPr id="17" name="TextBox 16"/>
          <p:cNvSpPr txBox="1"/>
          <p:nvPr/>
        </p:nvSpPr>
        <p:spPr>
          <a:xfrm>
            <a:off x="822960" y="6053328"/>
            <a:ext cx="10332720" cy="274320"/>
          </a:xfrm>
          <a:prstGeom prst="rect">
            <a:avLst/>
          </a:prstGeom>
          <a:noFill/>
        </p:spPr>
        <p:txBody>
          <a:bodyPr wrap="square" lIns="0" rIns="0" tIns="0" bIns="0">
            <a:spAutoFit/>
          </a:bodyPr>
          <a:lstStyle/>
          <a:p>
            <a:pPr algn="l">
              <a:lnSpc>
                <a:spcPct val="125000"/>
              </a:lnSpc>
              <a:spcBef>
                <a:spcPts val="0"/>
              </a:spcBef>
              <a:spcAft>
                <a:spcPts val="0"/>
              </a:spcAft>
            </a:pPr>
            <a:r>
              <a:rPr sz="900" b="0" i="0">
                <a:solidFill>
                  <a:srgbClr val="8A939E"/>
                </a:solidFill>
                <a:latin typeface="Helvetica Neue"/>
              </a:rPr>
              <a:t>Source:  research/spaces/GOVTECH_MUNICIPAL.md (TX counts); U.S. Census / National League of Cities via Strata research brief §4.1.</a:t>
            </a:r>
          </a:p>
        </p:txBody>
      </p:sp>
      <p:sp>
        <p:nvSpPr>
          <p:cNvPr id="18" name="TextBox 17"/>
          <p:cNvSpPr txBox="1"/>
          <p:nvPr/>
        </p:nvSpPr>
        <p:spPr>
          <a:xfrm>
            <a:off x="822960" y="6419088"/>
            <a:ext cx="8778240" cy="274320"/>
          </a:xfrm>
          <a:prstGeom prst="rect">
            <a:avLst/>
          </a:prstGeom>
          <a:noFill/>
        </p:spPr>
        <p:txBody>
          <a:bodyPr wrap="square" lIns="0" rIns="0" tIns="0" bIns="0">
            <a:spAutoFit/>
          </a:bodyPr>
          <a:lstStyle/>
          <a:p>
            <a:pPr algn="l">
              <a:spcBef>
                <a:spcPts val="0"/>
              </a:spcBef>
              <a:spcAft>
                <a:spcPts val="0"/>
              </a:spcAft>
            </a:pPr>
            <a:r>
              <a:rPr sz="850" b="0" i="0">
                <a:solidFill>
                  <a:srgbClr val="8A939E"/>
                </a:solidFill>
                <a:latin typeface="Helvetica Neue"/>
              </a:rPr>
              <a:t>Strata Civic Solutions  ·  Pitch deck v1, 1 September 2026  ·  Draft for joseleos  ·  Confidential</a:t>
            </a:r>
          </a:p>
        </p:txBody>
      </p:sp>
      <p:sp>
        <p:nvSpPr>
          <p:cNvPr id="19" name="TextBox 18"/>
          <p:cNvSpPr txBox="1"/>
          <p:nvPr/>
        </p:nvSpPr>
        <p:spPr>
          <a:xfrm>
            <a:off x="10454335" y="6419088"/>
            <a:ext cx="914400" cy="274320"/>
          </a:xfrm>
          <a:prstGeom prst="rect">
            <a:avLst/>
          </a:prstGeom>
          <a:noFill/>
        </p:spPr>
        <p:txBody>
          <a:bodyPr wrap="square" lIns="0" rIns="0" tIns="0" bIns="0">
            <a:spAutoFit/>
          </a:bodyPr>
          <a:lstStyle/>
          <a:p>
            <a:pPr algn="r">
              <a:spcBef>
                <a:spcPts val="0"/>
              </a:spcBef>
              <a:spcAft>
                <a:spcPts val="0"/>
              </a:spcAft>
            </a:pPr>
            <a:r>
              <a:rPr sz="850" b="0" i="0">
                <a:solidFill>
                  <a:srgbClr val="8A939E"/>
                </a:solidFill>
                <a:latin typeface="Helvetica Neue"/>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10545775" cy="274320"/>
          </a:xfrm>
          <a:prstGeom prst="rect">
            <a:avLst/>
          </a:prstGeom>
          <a:noFill/>
        </p:spPr>
        <p:txBody>
          <a:bodyPr wrap="square" lIns="0" rIns="0" tIns="0" bIns="0">
            <a:spAutoFit/>
          </a:bodyPr>
          <a:lstStyle/>
          <a:p>
            <a:pPr algn="l">
              <a:spcBef>
                <a:spcPts val="0"/>
              </a:spcBef>
              <a:spcAft>
                <a:spcPts val="0"/>
              </a:spcAft>
            </a:pPr>
            <a:r>
              <a:rPr sz="1050" b="1" i="0">
                <a:solidFill>
                  <a:srgbClr val="1F7A6C"/>
                </a:solidFill>
                <a:latin typeface="Helvetica Neue"/>
              </a:rPr>
              <a:t>THE PLAN</a:t>
            </a:r>
          </a:p>
        </p:txBody>
      </p:sp>
      <p:sp>
        <p:nvSpPr>
          <p:cNvPr id="4" name="TextBox 3"/>
          <p:cNvSpPr txBox="1"/>
          <p:nvPr/>
        </p:nvSpPr>
        <p:spPr>
          <a:xfrm>
            <a:off x="822960" y="914400"/>
            <a:ext cx="10545775" cy="950976"/>
          </a:xfrm>
          <a:prstGeom prst="rect">
            <a:avLst/>
          </a:prstGeom>
          <a:noFill/>
        </p:spPr>
        <p:txBody>
          <a:bodyPr wrap="square" lIns="0" rIns="0" tIns="0" bIns="0">
            <a:spAutoFit/>
          </a:bodyPr>
          <a:lstStyle/>
          <a:p>
            <a:pPr algn="l">
              <a:lnSpc>
                <a:spcPct val="106000"/>
              </a:lnSpc>
              <a:spcBef>
                <a:spcPts val="0"/>
              </a:spcBef>
              <a:spcAft>
                <a:spcPts val="0"/>
              </a:spcAft>
            </a:pPr>
            <a:r>
              <a:rPr sz="3000" b="1" i="0">
                <a:solidFill>
                  <a:srgbClr val="16202E"/>
                </a:solidFill>
                <a:latin typeface="Helvetica Neue"/>
              </a:rPr>
              <a:t>Thirty-one cities and break-even in month 19 — on founder effort alone.</a:t>
            </a:r>
          </a:p>
        </p:txBody>
      </p:sp>
      <p:sp>
        <p:nvSpPr>
          <p:cNvPr id="5" name="TextBox 4"/>
          <p:cNvSpPr txBox="1"/>
          <p:nvPr/>
        </p:nvSpPr>
        <p:spPr>
          <a:xfrm>
            <a:off x="822960" y="1901952"/>
            <a:ext cx="9509760" cy="548640"/>
          </a:xfrm>
          <a:prstGeom prst="rect">
            <a:avLst/>
          </a:prstGeom>
          <a:noFill/>
        </p:spPr>
        <p:txBody>
          <a:bodyPr wrap="square" lIns="0" rIns="0" tIns="0" bIns="0">
            <a:spAutoFit/>
          </a:bodyPr>
          <a:lstStyle/>
          <a:p>
            <a:pPr algn="l">
              <a:lnSpc>
                <a:spcPct val="132000"/>
              </a:lnSpc>
              <a:spcBef>
                <a:spcPts val="0"/>
              </a:spcBef>
              <a:spcAft>
                <a:spcPts val="0"/>
              </a:spcAft>
            </a:pPr>
            <a:r>
              <a:rPr sz="1450" b="0" i="0">
                <a:solidFill>
                  <a:srgbClr val="414D5C"/>
                </a:solidFill>
                <a:latin typeface="Helvetica Neue"/>
              </a:rPr>
              <a:t>Base case from the accepted three-year model. Founder pay is deferred and no financing appears in any scenario.</a:t>
            </a:r>
          </a:p>
        </p:txBody>
      </p:sp>
      <p:sp>
        <p:nvSpPr>
          <p:cNvPr id="6" name="Rectangle 5"/>
          <p:cNvSpPr/>
          <p:nvPr/>
        </p:nvSpPr>
        <p:spPr>
          <a:xfrm>
            <a:off x="822960" y="2569464"/>
            <a:ext cx="10545775" cy="12700"/>
          </a:xfrm>
          <a:prstGeom prst="rect">
            <a:avLst/>
          </a:prstGeom>
          <a:solidFill>
            <a:srgbClr val="D7D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953512"/>
            <a:ext cx="2249424" cy="219456"/>
          </a:xfrm>
          <a:prstGeom prst="rect">
            <a:avLst/>
          </a:prstGeom>
          <a:noFill/>
        </p:spPr>
        <p:txBody>
          <a:bodyPr wrap="square" lIns="0" rIns="0" tIns="0" bIns="0">
            <a:spAutoFit/>
          </a:bodyPr>
          <a:lstStyle/>
          <a:p>
            <a:pPr algn="l">
              <a:spcBef>
                <a:spcPts val="0"/>
              </a:spcBef>
              <a:spcAft>
                <a:spcPts val="0"/>
              </a:spcAft>
            </a:pPr>
            <a:r>
              <a:rPr sz="950" b="1" i="0">
                <a:solidFill>
                  <a:srgbClr val="1F7A6C"/>
                </a:solidFill>
                <a:latin typeface="Helvetica Neue"/>
              </a:rPr>
              <a:t/>
            </a:r>
          </a:p>
        </p:txBody>
      </p:sp>
      <p:sp>
        <p:nvSpPr>
          <p:cNvPr id="8" name="TextBox 7"/>
          <p:cNvSpPr txBox="1"/>
          <p:nvPr/>
        </p:nvSpPr>
        <p:spPr>
          <a:xfrm>
            <a:off x="3200400" y="2953512"/>
            <a:ext cx="1975104" cy="219456"/>
          </a:xfrm>
          <a:prstGeom prst="rect">
            <a:avLst/>
          </a:prstGeom>
          <a:noFill/>
        </p:spPr>
        <p:txBody>
          <a:bodyPr wrap="square" lIns="0" rIns="0" tIns="0" bIns="0">
            <a:spAutoFit/>
          </a:bodyPr>
          <a:lstStyle/>
          <a:p>
            <a:pPr algn="l">
              <a:spcBef>
                <a:spcPts val="0"/>
              </a:spcBef>
              <a:spcAft>
                <a:spcPts val="0"/>
              </a:spcAft>
            </a:pPr>
            <a:r>
              <a:rPr sz="950" b="1" i="0">
                <a:solidFill>
                  <a:srgbClr val="1F7A6C"/>
                </a:solidFill>
                <a:latin typeface="Helvetica Neue"/>
              </a:rPr>
              <a:t>PAYING CITIES (END)</a:t>
            </a:r>
          </a:p>
        </p:txBody>
      </p:sp>
      <p:sp>
        <p:nvSpPr>
          <p:cNvPr id="9" name="TextBox 8"/>
          <p:cNvSpPr txBox="1"/>
          <p:nvPr/>
        </p:nvSpPr>
        <p:spPr>
          <a:xfrm>
            <a:off x="5303520" y="2953512"/>
            <a:ext cx="1883664" cy="219456"/>
          </a:xfrm>
          <a:prstGeom prst="rect">
            <a:avLst/>
          </a:prstGeom>
          <a:noFill/>
        </p:spPr>
        <p:txBody>
          <a:bodyPr wrap="square" lIns="0" rIns="0" tIns="0" bIns="0">
            <a:spAutoFit/>
          </a:bodyPr>
          <a:lstStyle/>
          <a:p>
            <a:pPr algn="l">
              <a:spcBef>
                <a:spcPts val="0"/>
              </a:spcBef>
              <a:spcAft>
                <a:spcPts val="0"/>
              </a:spcAft>
            </a:pPr>
            <a:r>
              <a:rPr sz="950" b="1" i="0">
                <a:solidFill>
                  <a:srgbClr val="1F7A6C"/>
                </a:solidFill>
                <a:latin typeface="Helvetica Neue"/>
              </a:rPr>
              <a:t>REVENUE</a:t>
            </a:r>
          </a:p>
        </p:txBody>
      </p:sp>
      <p:sp>
        <p:nvSpPr>
          <p:cNvPr id="10" name="TextBox 9"/>
          <p:cNvSpPr txBox="1"/>
          <p:nvPr/>
        </p:nvSpPr>
        <p:spPr>
          <a:xfrm>
            <a:off x="7315200" y="2953512"/>
            <a:ext cx="1975104" cy="219456"/>
          </a:xfrm>
          <a:prstGeom prst="rect">
            <a:avLst/>
          </a:prstGeom>
          <a:noFill/>
        </p:spPr>
        <p:txBody>
          <a:bodyPr wrap="square" lIns="0" rIns="0" tIns="0" bIns="0">
            <a:spAutoFit/>
          </a:bodyPr>
          <a:lstStyle/>
          <a:p>
            <a:pPr algn="l">
              <a:spcBef>
                <a:spcPts val="0"/>
              </a:spcBef>
              <a:spcAft>
                <a:spcPts val="0"/>
              </a:spcAft>
            </a:pPr>
            <a:r>
              <a:rPr sz="950" b="1" i="0">
                <a:solidFill>
                  <a:srgbClr val="1F7A6C"/>
                </a:solidFill>
                <a:latin typeface="Helvetica Neue"/>
              </a:rPr>
              <a:t>OPERATING INCOME</a:t>
            </a:r>
          </a:p>
        </p:txBody>
      </p:sp>
      <p:sp>
        <p:nvSpPr>
          <p:cNvPr id="11" name="TextBox 10"/>
          <p:cNvSpPr txBox="1"/>
          <p:nvPr/>
        </p:nvSpPr>
        <p:spPr>
          <a:xfrm>
            <a:off x="9418320" y="2953512"/>
            <a:ext cx="1609344" cy="219456"/>
          </a:xfrm>
          <a:prstGeom prst="rect">
            <a:avLst/>
          </a:prstGeom>
          <a:noFill/>
        </p:spPr>
        <p:txBody>
          <a:bodyPr wrap="square" lIns="0" rIns="0" tIns="0" bIns="0">
            <a:spAutoFit/>
          </a:bodyPr>
          <a:lstStyle/>
          <a:p>
            <a:pPr algn="l">
              <a:spcBef>
                <a:spcPts val="0"/>
              </a:spcBef>
              <a:spcAft>
                <a:spcPts val="0"/>
              </a:spcAft>
            </a:pPr>
            <a:r>
              <a:rPr sz="950" b="1" i="0">
                <a:solidFill>
                  <a:srgbClr val="1F7A6C"/>
                </a:solidFill>
                <a:latin typeface="Helvetica Neue"/>
              </a:rPr>
              <a:t>ENDING CASH</a:t>
            </a:r>
          </a:p>
        </p:txBody>
      </p:sp>
      <p:sp>
        <p:nvSpPr>
          <p:cNvPr id="12" name="Rectangle 11"/>
          <p:cNvSpPr/>
          <p:nvPr/>
        </p:nvSpPr>
        <p:spPr>
          <a:xfrm>
            <a:off x="822960" y="3227832"/>
            <a:ext cx="10332720" cy="15875"/>
          </a:xfrm>
          <a:prstGeom prst="rect">
            <a:avLst/>
          </a:prstGeom>
          <a:solidFill>
            <a:srgbClr val="1F7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346704"/>
            <a:ext cx="2249424" cy="438912"/>
          </a:xfrm>
          <a:prstGeom prst="rect">
            <a:avLst/>
          </a:prstGeom>
          <a:noFill/>
        </p:spPr>
        <p:txBody>
          <a:bodyPr wrap="square" lIns="0" rIns="0" tIns="0" bIns="0">
            <a:spAutoFit/>
          </a:bodyPr>
          <a:lstStyle/>
          <a:p>
            <a:pPr algn="l">
              <a:lnSpc>
                <a:spcPct val="120000"/>
              </a:lnSpc>
              <a:spcBef>
                <a:spcPts val="0"/>
              </a:spcBef>
              <a:spcAft>
                <a:spcPts val="0"/>
              </a:spcAft>
            </a:pPr>
            <a:r>
              <a:rPr sz="1300" b="1" i="0">
                <a:solidFill>
                  <a:srgbClr val="16202E"/>
                </a:solidFill>
                <a:latin typeface="Helvetica Neue"/>
              </a:rPr>
              <a:t>Year 1 (FY27)</a:t>
            </a:r>
          </a:p>
        </p:txBody>
      </p:sp>
      <p:sp>
        <p:nvSpPr>
          <p:cNvPr id="14" name="TextBox 13"/>
          <p:cNvSpPr txBox="1"/>
          <p:nvPr/>
        </p:nvSpPr>
        <p:spPr>
          <a:xfrm>
            <a:off x="3200400" y="3346704"/>
            <a:ext cx="1975104" cy="438912"/>
          </a:xfrm>
          <a:prstGeom prst="rect">
            <a:avLst/>
          </a:prstGeom>
          <a:noFill/>
        </p:spPr>
        <p:txBody>
          <a:bodyPr wrap="square" lIns="0" rIns="0" tIns="0" bIns="0">
            <a:spAutoFit/>
          </a:bodyPr>
          <a:lstStyle/>
          <a:p>
            <a:pPr algn="l">
              <a:lnSpc>
                <a:spcPct val="120000"/>
              </a:lnSpc>
              <a:spcBef>
                <a:spcPts val="0"/>
              </a:spcBef>
              <a:spcAft>
                <a:spcPts val="0"/>
              </a:spcAft>
            </a:pPr>
            <a:r>
              <a:rPr sz="1300" b="0" i="0">
                <a:solidFill>
                  <a:srgbClr val="414D5C"/>
                </a:solidFill>
                <a:latin typeface="Helvetica Neue"/>
              </a:rPr>
              <a:t>5.4</a:t>
            </a:r>
          </a:p>
        </p:txBody>
      </p:sp>
      <p:sp>
        <p:nvSpPr>
          <p:cNvPr id="15" name="TextBox 14"/>
          <p:cNvSpPr txBox="1"/>
          <p:nvPr/>
        </p:nvSpPr>
        <p:spPr>
          <a:xfrm>
            <a:off x="5303520" y="3346704"/>
            <a:ext cx="1883664" cy="438912"/>
          </a:xfrm>
          <a:prstGeom prst="rect">
            <a:avLst/>
          </a:prstGeom>
          <a:noFill/>
        </p:spPr>
        <p:txBody>
          <a:bodyPr wrap="square" lIns="0" rIns="0" tIns="0" bIns="0">
            <a:spAutoFit/>
          </a:bodyPr>
          <a:lstStyle/>
          <a:p>
            <a:pPr algn="l">
              <a:lnSpc>
                <a:spcPct val="120000"/>
              </a:lnSpc>
              <a:spcBef>
                <a:spcPts val="0"/>
              </a:spcBef>
              <a:spcAft>
                <a:spcPts val="0"/>
              </a:spcAft>
            </a:pPr>
            <a:r>
              <a:rPr sz="1300" b="0" i="0">
                <a:solidFill>
                  <a:srgbClr val="414D5C"/>
                </a:solidFill>
                <a:latin typeface="Helvetica Neue"/>
              </a:rPr>
              <a:t>$26,660</a:t>
            </a:r>
          </a:p>
        </p:txBody>
      </p:sp>
      <p:sp>
        <p:nvSpPr>
          <p:cNvPr id="16" name="TextBox 15"/>
          <p:cNvSpPr txBox="1"/>
          <p:nvPr/>
        </p:nvSpPr>
        <p:spPr>
          <a:xfrm>
            <a:off x="7315200" y="3346704"/>
            <a:ext cx="1975104" cy="438912"/>
          </a:xfrm>
          <a:prstGeom prst="rect">
            <a:avLst/>
          </a:prstGeom>
          <a:noFill/>
        </p:spPr>
        <p:txBody>
          <a:bodyPr wrap="square" lIns="0" rIns="0" tIns="0" bIns="0">
            <a:spAutoFit/>
          </a:bodyPr>
          <a:lstStyle/>
          <a:p>
            <a:pPr algn="l">
              <a:lnSpc>
                <a:spcPct val="120000"/>
              </a:lnSpc>
              <a:spcBef>
                <a:spcPts val="0"/>
              </a:spcBef>
              <a:spcAft>
                <a:spcPts val="0"/>
              </a:spcAft>
            </a:pPr>
            <a:r>
              <a:rPr sz="1300" b="0" i="0">
                <a:solidFill>
                  <a:srgbClr val="414D5C"/>
                </a:solidFill>
                <a:latin typeface="Helvetica Neue"/>
              </a:rPr>
              <a:t>−$13,104</a:t>
            </a:r>
          </a:p>
        </p:txBody>
      </p:sp>
      <p:sp>
        <p:nvSpPr>
          <p:cNvPr id="17" name="TextBox 16"/>
          <p:cNvSpPr txBox="1"/>
          <p:nvPr/>
        </p:nvSpPr>
        <p:spPr>
          <a:xfrm>
            <a:off x="9418320" y="3346704"/>
            <a:ext cx="1609344" cy="438912"/>
          </a:xfrm>
          <a:prstGeom prst="rect">
            <a:avLst/>
          </a:prstGeom>
          <a:noFill/>
        </p:spPr>
        <p:txBody>
          <a:bodyPr wrap="square" lIns="0" rIns="0" tIns="0" bIns="0">
            <a:spAutoFit/>
          </a:bodyPr>
          <a:lstStyle/>
          <a:p>
            <a:pPr algn="l">
              <a:lnSpc>
                <a:spcPct val="120000"/>
              </a:lnSpc>
              <a:spcBef>
                <a:spcPts val="0"/>
              </a:spcBef>
              <a:spcAft>
                <a:spcPts val="0"/>
              </a:spcAft>
            </a:pPr>
            <a:r>
              <a:rPr sz="1300" b="0" i="0">
                <a:solidFill>
                  <a:srgbClr val="414D5C"/>
                </a:solidFill>
                <a:latin typeface="Helvetica Neue"/>
              </a:rPr>
              <a:t>−$3,104</a:t>
            </a:r>
          </a:p>
        </p:txBody>
      </p:sp>
      <p:sp>
        <p:nvSpPr>
          <p:cNvPr id="18" name="Rectangle 17"/>
          <p:cNvSpPr/>
          <p:nvPr/>
        </p:nvSpPr>
        <p:spPr>
          <a:xfrm>
            <a:off x="822960" y="3694176"/>
            <a:ext cx="10332720" cy="9525"/>
          </a:xfrm>
          <a:prstGeom prst="rect">
            <a:avLst/>
          </a:prstGeom>
          <a:solidFill>
            <a:srgbClr val="D7D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785616"/>
            <a:ext cx="2249424" cy="438912"/>
          </a:xfrm>
          <a:prstGeom prst="rect">
            <a:avLst/>
          </a:prstGeom>
          <a:noFill/>
        </p:spPr>
        <p:txBody>
          <a:bodyPr wrap="square" lIns="0" rIns="0" tIns="0" bIns="0">
            <a:spAutoFit/>
          </a:bodyPr>
          <a:lstStyle/>
          <a:p>
            <a:pPr algn="l">
              <a:lnSpc>
                <a:spcPct val="120000"/>
              </a:lnSpc>
              <a:spcBef>
                <a:spcPts val="0"/>
              </a:spcBef>
              <a:spcAft>
                <a:spcPts val="0"/>
              </a:spcAft>
            </a:pPr>
            <a:r>
              <a:rPr sz="1300" b="1" i="0">
                <a:solidFill>
                  <a:srgbClr val="16202E"/>
                </a:solidFill>
                <a:latin typeface="Helvetica Neue"/>
              </a:rPr>
              <a:t>Year 2 (FY28)</a:t>
            </a:r>
          </a:p>
        </p:txBody>
      </p:sp>
      <p:sp>
        <p:nvSpPr>
          <p:cNvPr id="20" name="TextBox 19"/>
          <p:cNvSpPr txBox="1"/>
          <p:nvPr/>
        </p:nvSpPr>
        <p:spPr>
          <a:xfrm>
            <a:off x="3200400" y="3785616"/>
            <a:ext cx="1975104" cy="438912"/>
          </a:xfrm>
          <a:prstGeom prst="rect">
            <a:avLst/>
          </a:prstGeom>
          <a:noFill/>
        </p:spPr>
        <p:txBody>
          <a:bodyPr wrap="square" lIns="0" rIns="0" tIns="0" bIns="0">
            <a:spAutoFit/>
          </a:bodyPr>
          <a:lstStyle/>
          <a:p>
            <a:pPr algn="l">
              <a:lnSpc>
                <a:spcPct val="120000"/>
              </a:lnSpc>
              <a:spcBef>
                <a:spcPts val="0"/>
              </a:spcBef>
              <a:spcAft>
                <a:spcPts val="0"/>
              </a:spcAft>
            </a:pPr>
            <a:r>
              <a:rPr sz="1300" b="0" i="0">
                <a:solidFill>
                  <a:srgbClr val="414D5C"/>
                </a:solidFill>
                <a:latin typeface="Helvetica Neue"/>
              </a:rPr>
              <a:t>14.8</a:t>
            </a:r>
          </a:p>
        </p:txBody>
      </p:sp>
      <p:sp>
        <p:nvSpPr>
          <p:cNvPr id="21" name="TextBox 20"/>
          <p:cNvSpPr txBox="1"/>
          <p:nvPr/>
        </p:nvSpPr>
        <p:spPr>
          <a:xfrm>
            <a:off x="5303520" y="3785616"/>
            <a:ext cx="1883664" cy="438912"/>
          </a:xfrm>
          <a:prstGeom prst="rect">
            <a:avLst/>
          </a:prstGeom>
          <a:noFill/>
        </p:spPr>
        <p:txBody>
          <a:bodyPr wrap="square" lIns="0" rIns="0" tIns="0" bIns="0">
            <a:spAutoFit/>
          </a:bodyPr>
          <a:lstStyle/>
          <a:p>
            <a:pPr algn="l">
              <a:lnSpc>
                <a:spcPct val="120000"/>
              </a:lnSpc>
              <a:spcBef>
                <a:spcPts val="0"/>
              </a:spcBef>
              <a:spcAft>
                <a:spcPts val="0"/>
              </a:spcAft>
            </a:pPr>
            <a:r>
              <a:rPr sz="1300" b="0" i="0">
                <a:solidFill>
                  <a:srgbClr val="414D5C"/>
                </a:solidFill>
                <a:latin typeface="Helvetica Neue"/>
              </a:rPr>
              <a:t>$103,894</a:t>
            </a:r>
          </a:p>
        </p:txBody>
      </p:sp>
      <p:sp>
        <p:nvSpPr>
          <p:cNvPr id="22" name="TextBox 21"/>
          <p:cNvSpPr txBox="1"/>
          <p:nvPr/>
        </p:nvSpPr>
        <p:spPr>
          <a:xfrm>
            <a:off x="7315200" y="3785616"/>
            <a:ext cx="1975104" cy="438912"/>
          </a:xfrm>
          <a:prstGeom prst="rect">
            <a:avLst/>
          </a:prstGeom>
          <a:noFill/>
        </p:spPr>
        <p:txBody>
          <a:bodyPr wrap="square" lIns="0" rIns="0" tIns="0" bIns="0">
            <a:spAutoFit/>
          </a:bodyPr>
          <a:lstStyle/>
          <a:p>
            <a:pPr algn="l">
              <a:lnSpc>
                <a:spcPct val="120000"/>
              </a:lnSpc>
              <a:spcBef>
                <a:spcPts val="0"/>
              </a:spcBef>
              <a:spcAft>
                <a:spcPts val="0"/>
              </a:spcAft>
            </a:pPr>
            <a:r>
              <a:rPr sz="1300" b="0" i="0">
                <a:solidFill>
                  <a:srgbClr val="414D5C"/>
                </a:solidFill>
                <a:latin typeface="Helvetica Neue"/>
              </a:rPr>
              <a:t>−$16,398</a:t>
            </a:r>
          </a:p>
        </p:txBody>
      </p:sp>
      <p:sp>
        <p:nvSpPr>
          <p:cNvPr id="23" name="TextBox 22"/>
          <p:cNvSpPr txBox="1"/>
          <p:nvPr/>
        </p:nvSpPr>
        <p:spPr>
          <a:xfrm>
            <a:off x="9418320" y="3785616"/>
            <a:ext cx="1609344" cy="438912"/>
          </a:xfrm>
          <a:prstGeom prst="rect">
            <a:avLst/>
          </a:prstGeom>
          <a:noFill/>
        </p:spPr>
        <p:txBody>
          <a:bodyPr wrap="square" lIns="0" rIns="0" tIns="0" bIns="0">
            <a:spAutoFit/>
          </a:bodyPr>
          <a:lstStyle/>
          <a:p>
            <a:pPr algn="l">
              <a:lnSpc>
                <a:spcPct val="120000"/>
              </a:lnSpc>
              <a:spcBef>
                <a:spcPts val="0"/>
              </a:spcBef>
              <a:spcAft>
                <a:spcPts val="0"/>
              </a:spcAft>
            </a:pPr>
            <a:r>
              <a:rPr sz="1300" b="0" i="0">
                <a:solidFill>
                  <a:srgbClr val="414D5C"/>
                </a:solidFill>
                <a:latin typeface="Helvetica Neue"/>
              </a:rPr>
              <a:t>−$19,502</a:t>
            </a:r>
          </a:p>
        </p:txBody>
      </p:sp>
      <p:sp>
        <p:nvSpPr>
          <p:cNvPr id="24" name="Rectangle 23"/>
          <p:cNvSpPr/>
          <p:nvPr/>
        </p:nvSpPr>
        <p:spPr>
          <a:xfrm>
            <a:off x="822960" y="4133088"/>
            <a:ext cx="10332720" cy="9525"/>
          </a:xfrm>
          <a:prstGeom prst="rect">
            <a:avLst/>
          </a:prstGeom>
          <a:solidFill>
            <a:srgbClr val="D7D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60" y="4224528"/>
            <a:ext cx="2249424" cy="438912"/>
          </a:xfrm>
          <a:prstGeom prst="rect">
            <a:avLst/>
          </a:prstGeom>
          <a:noFill/>
        </p:spPr>
        <p:txBody>
          <a:bodyPr wrap="square" lIns="0" rIns="0" tIns="0" bIns="0">
            <a:spAutoFit/>
          </a:bodyPr>
          <a:lstStyle/>
          <a:p>
            <a:pPr algn="l">
              <a:lnSpc>
                <a:spcPct val="120000"/>
              </a:lnSpc>
              <a:spcBef>
                <a:spcPts val="0"/>
              </a:spcBef>
              <a:spcAft>
                <a:spcPts val="0"/>
              </a:spcAft>
            </a:pPr>
            <a:r>
              <a:rPr sz="1300" b="1" i="0">
                <a:solidFill>
                  <a:srgbClr val="16202E"/>
                </a:solidFill>
                <a:latin typeface="Helvetica Neue"/>
              </a:rPr>
              <a:t>Year 3 (FY29)</a:t>
            </a:r>
          </a:p>
        </p:txBody>
      </p:sp>
      <p:sp>
        <p:nvSpPr>
          <p:cNvPr id="26" name="TextBox 25"/>
          <p:cNvSpPr txBox="1"/>
          <p:nvPr/>
        </p:nvSpPr>
        <p:spPr>
          <a:xfrm>
            <a:off x="3200400" y="4224528"/>
            <a:ext cx="1975104" cy="438912"/>
          </a:xfrm>
          <a:prstGeom prst="rect">
            <a:avLst/>
          </a:prstGeom>
          <a:noFill/>
        </p:spPr>
        <p:txBody>
          <a:bodyPr wrap="square" lIns="0" rIns="0" tIns="0" bIns="0">
            <a:spAutoFit/>
          </a:bodyPr>
          <a:lstStyle/>
          <a:p>
            <a:pPr algn="l">
              <a:lnSpc>
                <a:spcPct val="120000"/>
              </a:lnSpc>
              <a:spcBef>
                <a:spcPts val="0"/>
              </a:spcBef>
              <a:spcAft>
                <a:spcPts val="0"/>
              </a:spcAft>
            </a:pPr>
            <a:r>
              <a:rPr sz="1300" b="0" i="0">
                <a:solidFill>
                  <a:srgbClr val="414D5C"/>
                </a:solidFill>
                <a:latin typeface="Helvetica Neue"/>
              </a:rPr>
              <a:t>31.2</a:t>
            </a:r>
          </a:p>
        </p:txBody>
      </p:sp>
      <p:sp>
        <p:nvSpPr>
          <p:cNvPr id="27" name="TextBox 26"/>
          <p:cNvSpPr txBox="1"/>
          <p:nvPr/>
        </p:nvSpPr>
        <p:spPr>
          <a:xfrm>
            <a:off x="5303520" y="4224528"/>
            <a:ext cx="1883664" cy="438912"/>
          </a:xfrm>
          <a:prstGeom prst="rect">
            <a:avLst/>
          </a:prstGeom>
          <a:noFill/>
        </p:spPr>
        <p:txBody>
          <a:bodyPr wrap="square" lIns="0" rIns="0" tIns="0" bIns="0">
            <a:spAutoFit/>
          </a:bodyPr>
          <a:lstStyle/>
          <a:p>
            <a:pPr algn="l">
              <a:lnSpc>
                <a:spcPct val="120000"/>
              </a:lnSpc>
              <a:spcBef>
                <a:spcPts val="0"/>
              </a:spcBef>
              <a:spcAft>
                <a:spcPts val="0"/>
              </a:spcAft>
            </a:pPr>
            <a:r>
              <a:rPr sz="1300" b="0" i="0">
                <a:solidFill>
                  <a:srgbClr val="414D5C"/>
                </a:solidFill>
                <a:latin typeface="Helvetica Neue"/>
              </a:rPr>
              <a:t>$248,290</a:t>
            </a:r>
          </a:p>
        </p:txBody>
      </p:sp>
      <p:sp>
        <p:nvSpPr>
          <p:cNvPr id="28" name="TextBox 27"/>
          <p:cNvSpPr txBox="1"/>
          <p:nvPr/>
        </p:nvSpPr>
        <p:spPr>
          <a:xfrm>
            <a:off x="7315200" y="4224528"/>
            <a:ext cx="1975104" cy="438912"/>
          </a:xfrm>
          <a:prstGeom prst="rect">
            <a:avLst/>
          </a:prstGeom>
          <a:noFill/>
        </p:spPr>
        <p:txBody>
          <a:bodyPr wrap="square" lIns="0" rIns="0" tIns="0" bIns="0">
            <a:spAutoFit/>
          </a:bodyPr>
          <a:lstStyle/>
          <a:p>
            <a:pPr algn="l">
              <a:lnSpc>
                <a:spcPct val="120000"/>
              </a:lnSpc>
              <a:spcBef>
                <a:spcPts val="0"/>
              </a:spcBef>
              <a:spcAft>
                <a:spcPts val="0"/>
              </a:spcAft>
            </a:pPr>
            <a:r>
              <a:rPr sz="1300" b="0" i="0">
                <a:solidFill>
                  <a:srgbClr val="414D5C"/>
                </a:solidFill>
                <a:latin typeface="Helvetica Neue"/>
              </a:rPr>
              <a:t>+$51,103</a:t>
            </a:r>
          </a:p>
        </p:txBody>
      </p:sp>
      <p:sp>
        <p:nvSpPr>
          <p:cNvPr id="29" name="TextBox 28"/>
          <p:cNvSpPr txBox="1"/>
          <p:nvPr/>
        </p:nvSpPr>
        <p:spPr>
          <a:xfrm>
            <a:off x="9418320" y="4224528"/>
            <a:ext cx="1609344" cy="438912"/>
          </a:xfrm>
          <a:prstGeom prst="rect">
            <a:avLst/>
          </a:prstGeom>
          <a:noFill/>
        </p:spPr>
        <p:txBody>
          <a:bodyPr wrap="square" lIns="0" rIns="0" tIns="0" bIns="0">
            <a:spAutoFit/>
          </a:bodyPr>
          <a:lstStyle/>
          <a:p>
            <a:pPr algn="l">
              <a:lnSpc>
                <a:spcPct val="120000"/>
              </a:lnSpc>
              <a:spcBef>
                <a:spcPts val="0"/>
              </a:spcBef>
              <a:spcAft>
                <a:spcPts val="0"/>
              </a:spcAft>
            </a:pPr>
            <a:r>
              <a:rPr sz="1300" b="0" i="0">
                <a:solidFill>
                  <a:srgbClr val="414D5C"/>
                </a:solidFill>
                <a:latin typeface="Helvetica Neue"/>
              </a:rPr>
              <a:t>+$31,600</a:t>
            </a:r>
          </a:p>
        </p:txBody>
      </p:sp>
      <p:sp>
        <p:nvSpPr>
          <p:cNvPr id="30" name="Rectangle 29"/>
          <p:cNvSpPr/>
          <p:nvPr/>
        </p:nvSpPr>
        <p:spPr>
          <a:xfrm>
            <a:off x="822960" y="4645152"/>
            <a:ext cx="3291840" cy="1005840"/>
          </a:xfrm>
          <a:prstGeom prst="rect">
            <a:avLst/>
          </a:prstGeom>
          <a:solidFill>
            <a:srgbClr val="FFFFFF"/>
          </a:solidFill>
          <a:ln w="9525">
            <a:solidFill>
              <a:srgbClr val="D7DC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60704" y="4846320"/>
            <a:ext cx="2834640" cy="914400"/>
          </a:xfrm>
          <a:prstGeom prst="rect">
            <a:avLst/>
          </a:prstGeom>
          <a:noFill/>
        </p:spPr>
        <p:txBody>
          <a:bodyPr wrap="square" lIns="0" rIns="0" tIns="0" bIns="0">
            <a:spAutoFit/>
          </a:bodyPr>
          <a:lstStyle/>
          <a:p>
            <a:pPr algn="l">
              <a:lnSpc>
                <a:spcPct val="100000"/>
              </a:lnSpc>
              <a:spcBef>
                <a:spcPts val="0"/>
              </a:spcBef>
              <a:spcAft>
                <a:spcPts val="0"/>
              </a:spcAft>
            </a:pPr>
            <a:r>
              <a:rPr sz="2600" b="1" i="0">
                <a:solidFill>
                  <a:srgbClr val="1F7A6C"/>
                </a:solidFill>
                <a:latin typeface="Helvetica Neue"/>
              </a:rPr>
              <a:t>Month 19</a:t>
            </a:r>
          </a:p>
          <a:p>
            <a:pPr>
              <a:lnSpc>
                <a:spcPct val="128000"/>
              </a:lnSpc>
              <a:spcBef>
                <a:spcPts val="700"/>
              </a:spcBef>
              <a:spcAft>
                <a:spcPts val="0"/>
              </a:spcAft>
            </a:pPr>
            <a:r>
              <a:rPr sz="1200" b="0" i="0">
                <a:solidFill>
                  <a:srgbClr val="414D5C"/>
                </a:solidFill>
                <a:latin typeface="Helvetica Neue"/>
              </a:rPr>
              <a:t>first month of positive operating income</a:t>
            </a:r>
          </a:p>
        </p:txBody>
      </p:sp>
      <p:sp>
        <p:nvSpPr>
          <p:cNvPr id="32" name="Rectangle 31"/>
          <p:cNvSpPr/>
          <p:nvPr/>
        </p:nvSpPr>
        <p:spPr>
          <a:xfrm>
            <a:off x="4343400" y="4645152"/>
            <a:ext cx="3291840" cy="1005840"/>
          </a:xfrm>
          <a:prstGeom prst="rect">
            <a:avLst/>
          </a:prstGeom>
          <a:solidFill>
            <a:srgbClr val="FFFFFF"/>
          </a:solidFill>
          <a:ln w="9525">
            <a:solidFill>
              <a:srgbClr val="D7DC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81144" y="4846320"/>
            <a:ext cx="2834640" cy="914400"/>
          </a:xfrm>
          <a:prstGeom prst="rect">
            <a:avLst/>
          </a:prstGeom>
          <a:noFill/>
        </p:spPr>
        <p:txBody>
          <a:bodyPr wrap="square" lIns="0" rIns="0" tIns="0" bIns="0">
            <a:spAutoFit/>
          </a:bodyPr>
          <a:lstStyle/>
          <a:p>
            <a:pPr algn="l">
              <a:lnSpc>
                <a:spcPct val="100000"/>
              </a:lnSpc>
              <a:spcBef>
                <a:spcPts val="0"/>
              </a:spcBef>
              <a:spcAft>
                <a:spcPts val="0"/>
              </a:spcAft>
            </a:pPr>
            <a:r>
              <a:rPr sz="2600" b="1" i="0">
                <a:solidFill>
                  <a:srgbClr val="1F7A6C"/>
                </a:solidFill>
                <a:latin typeface="Helvetica Neue"/>
              </a:rPr>
              <a:t>≈$325k</a:t>
            </a:r>
          </a:p>
          <a:p>
            <a:pPr>
              <a:lnSpc>
                <a:spcPct val="128000"/>
              </a:lnSpc>
              <a:spcBef>
                <a:spcPts val="700"/>
              </a:spcBef>
              <a:spcAft>
                <a:spcPts val="0"/>
              </a:spcAft>
            </a:pPr>
            <a:r>
              <a:rPr sz="1200" b="0" i="0">
                <a:solidFill>
                  <a:srgbClr val="414D5C"/>
                </a:solidFill>
                <a:latin typeface="Helvetica Neue"/>
              </a:rPr>
              <a:t>ARR run-rate exiting month 36</a:t>
            </a:r>
          </a:p>
        </p:txBody>
      </p:sp>
      <p:sp>
        <p:nvSpPr>
          <p:cNvPr id="34" name="Rectangle 33"/>
          <p:cNvSpPr/>
          <p:nvPr/>
        </p:nvSpPr>
        <p:spPr>
          <a:xfrm>
            <a:off x="7863840" y="4645152"/>
            <a:ext cx="3291840" cy="1005840"/>
          </a:xfrm>
          <a:prstGeom prst="rect">
            <a:avLst/>
          </a:prstGeom>
          <a:solidFill>
            <a:srgbClr val="FFFFFF"/>
          </a:solidFill>
          <a:ln w="9525">
            <a:solidFill>
              <a:srgbClr val="D7DC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101584" y="4846320"/>
            <a:ext cx="2834640" cy="914400"/>
          </a:xfrm>
          <a:prstGeom prst="rect">
            <a:avLst/>
          </a:prstGeom>
          <a:noFill/>
        </p:spPr>
        <p:txBody>
          <a:bodyPr wrap="square" lIns="0" rIns="0" tIns="0" bIns="0">
            <a:spAutoFit/>
          </a:bodyPr>
          <a:lstStyle/>
          <a:p>
            <a:pPr algn="l">
              <a:lnSpc>
                <a:spcPct val="100000"/>
              </a:lnSpc>
              <a:spcBef>
                <a:spcPts val="0"/>
              </a:spcBef>
              <a:spcAft>
                <a:spcPts val="0"/>
              </a:spcAft>
            </a:pPr>
            <a:r>
              <a:rPr sz="2600" b="1" i="0">
                <a:solidFill>
                  <a:srgbClr val="1F7A6C"/>
                </a:solidFill>
                <a:latin typeface="Helvetica Neue"/>
              </a:rPr>
              <a:t>$1,225</a:t>
            </a:r>
          </a:p>
          <a:p>
            <a:pPr>
              <a:lnSpc>
                <a:spcPct val="128000"/>
              </a:lnSpc>
              <a:spcBef>
                <a:spcPts val="700"/>
              </a:spcBef>
              <a:spcAft>
                <a:spcPts val="0"/>
              </a:spcAft>
            </a:pPr>
            <a:r>
              <a:rPr sz="1200" b="0" i="0">
                <a:solidFill>
                  <a:srgbClr val="414D5C"/>
                </a:solidFill>
                <a:latin typeface="Helvetica Neue"/>
              </a:rPr>
              <a:t>CAC, paid back in 1.7 months</a:t>
            </a:r>
          </a:p>
        </p:txBody>
      </p:sp>
      <p:sp>
        <p:nvSpPr>
          <p:cNvPr id="36" name="TextBox 35"/>
          <p:cNvSpPr txBox="1"/>
          <p:nvPr/>
        </p:nvSpPr>
        <p:spPr>
          <a:xfrm>
            <a:off x="822960" y="5623560"/>
            <a:ext cx="10332720" cy="365760"/>
          </a:xfrm>
          <a:prstGeom prst="rect">
            <a:avLst/>
          </a:prstGeom>
          <a:noFill/>
        </p:spPr>
        <p:txBody>
          <a:bodyPr wrap="square" lIns="0" rIns="0" tIns="0" bIns="0">
            <a:spAutoFit/>
          </a:bodyPr>
          <a:lstStyle/>
          <a:p>
            <a:pPr algn="l">
              <a:lnSpc>
                <a:spcPct val="128000"/>
              </a:lnSpc>
              <a:spcBef>
                <a:spcPts val="0"/>
              </a:spcBef>
              <a:spcAft>
                <a:spcPts val="0"/>
              </a:spcAft>
            </a:pPr>
            <a:r>
              <a:rPr sz="1100" b="1" i="0">
                <a:solidFill>
                  <a:srgbClr val="16202E"/>
                </a:solidFill>
                <a:latin typeface="Helvetica Neue"/>
              </a:rPr>
              <a:t>Five assumptions move this answer:  opening cash ($10k) · new cities/mo (0.35, +5%) · ACV ($9,600 Core) · hire timing (contractor m13, engineer m28) · COGS ($75/city/mo).</a:t>
            </a:r>
          </a:p>
        </p:txBody>
      </p:sp>
      <p:sp>
        <p:nvSpPr>
          <p:cNvPr id="37" name="TextBox 36"/>
          <p:cNvSpPr txBox="1"/>
          <p:nvPr/>
        </p:nvSpPr>
        <p:spPr>
          <a:xfrm>
            <a:off x="822960" y="6053328"/>
            <a:ext cx="10332720" cy="274320"/>
          </a:xfrm>
          <a:prstGeom prst="rect">
            <a:avLst/>
          </a:prstGeom>
          <a:noFill/>
        </p:spPr>
        <p:txBody>
          <a:bodyPr wrap="square" lIns="0" rIns="0" tIns="0" bIns="0">
            <a:spAutoFit/>
          </a:bodyPr>
          <a:lstStyle/>
          <a:p>
            <a:pPr algn="l">
              <a:lnSpc>
                <a:spcPct val="125000"/>
              </a:lnSpc>
              <a:spcBef>
                <a:spcPts val="0"/>
              </a:spcBef>
              <a:spcAft>
                <a:spcPts val="0"/>
              </a:spcAft>
            </a:pPr>
            <a:r>
              <a:rPr sz="900" b="0" i="0">
                <a:solidFill>
                  <a:srgbClr val="8A939E"/>
                </a:solidFill>
                <a:latin typeface="Helvetica Neue"/>
              </a:rPr>
              <a:t>Source:  product/finance/strata/MODEL.md — engine v1, deterministic; upside and downside in the appendix.</a:t>
            </a:r>
          </a:p>
        </p:txBody>
      </p:sp>
      <p:sp>
        <p:nvSpPr>
          <p:cNvPr id="38" name="TextBox 37"/>
          <p:cNvSpPr txBox="1"/>
          <p:nvPr/>
        </p:nvSpPr>
        <p:spPr>
          <a:xfrm>
            <a:off x="822960" y="6419088"/>
            <a:ext cx="8778240" cy="274320"/>
          </a:xfrm>
          <a:prstGeom prst="rect">
            <a:avLst/>
          </a:prstGeom>
          <a:noFill/>
        </p:spPr>
        <p:txBody>
          <a:bodyPr wrap="square" lIns="0" rIns="0" tIns="0" bIns="0">
            <a:spAutoFit/>
          </a:bodyPr>
          <a:lstStyle/>
          <a:p>
            <a:pPr algn="l">
              <a:spcBef>
                <a:spcPts val="0"/>
              </a:spcBef>
              <a:spcAft>
                <a:spcPts val="0"/>
              </a:spcAft>
            </a:pPr>
            <a:r>
              <a:rPr sz="850" b="0" i="0">
                <a:solidFill>
                  <a:srgbClr val="8A939E"/>
                </a:solidFill>
                <a:latin typeface="Helvetica Neue"/>
              </a:rPr>
              <a:t>Strata Civic Solutions  ·  Pitch deck v1, 1 September 2026  ·  Draft for joseleos  ·  Confidential</a:t>
            </a:r>
          </a:p>
        </p:txBody>
      </p:sp>
      <p:sp>
        <p:nvSpPr>
          <p:cNvPr id="39" name="TextBox 38"/>
          <p:cNvSpPr txBox="1"/>
          <p:nvPr/>
        </p:nvSpPr>
        <p:spPr>
          <a:xfrm>
            <a:off x="10454335" y="6419088"/>
            <a:ext cx="914400" cy="274320"/>
          </a:xfrm>
          <a:prstGeom prst="rect">
            <a:avLst/>
          </a:prstGeom>
          <a:noFill/>
        </p:spPr>
        <p:txBody>
          <a:bodyPr wrap="square" lIns="0" rIns="0" tIns="0" bIns="0">
            <a:spAutoFit/>
          </a:bodyPr>
          <a:lstStyle/>
          <a:p>
            <a:pPr algn="r">
              <a:spcBef>
                <a:spcPts val="0"/>
              </a:spcBef>
              <a:spcAft>
                <a:spcPts val="0"/>
              </a:spcAft>
            </a:pPr>
            <a:r>
              <a:rPr sz="850" b="0" i="0">
                <a:solidFill>
                  <a:srgbClr val="8A939E"/>
                </a:solidFill>
                <a:latin typeface="Helvetica Neue"/>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2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10545775" cy="274320"/>
          </a:xfrm>
          <a:prstGeom prst="rect">
            <a:avLst/>
          </a:prstGeom>
          <a:noFill/>
        </p:spPr>
        <p:txBody>
          <a:bodyPr wrap="square" lIns="0" rIns="0" tIns="0" bIns="0">
            <a:spAutoFit/>
          </a:bodyPr>
          <a:lstStyle/>
          <a:p>
            <a:pPr algn="l">
              <a:spcBef>
                <a:spcPts val="0"/>
              </a:spcBef>
              <a:spcAft>
                <a:spcPts val="0"/>
              </a:spcAft>
            </a:pPr>
            <a:r>
              <a:rPr sz="1050" b="1" i="0">
                <a:solidFill>
                  <a:srgbClr val="1F7A6C"/>
                </a:solidFill>
                <a:latin typeface="Helvetica Neue"/>
              </a:rPr>
              <a:t>WHAT KILLS US</a:t>
            </a:r>
          </a:p>
        </p:txBody>
      </p:sp>
      <p:sp>
        <p:nvSpPr>
          <p:cNvPr id="4" name="TextBox 3"/>
          <p:cNvSpPr txBox="1"/>
          <p:nvPr/>
        </p:nvSpPr>
        <p:spPr>
          <a:xfrm>
            <a:off x="822960" y="914400"/>
            <a:ext cx="10545775" cy="950976"/>
          </a:xfrm>
          <a:prstGeom prst="rect">
            <a:avLst/>
          </a:prstGeom>
          <a:noFill/>
        </p:spPr>
        <p:txBody>
          <a:bodyPr wrap="square" lIns="0" rIns="0" tIns="0" bIns="0">
            <a:spAutoFit/>
          </a:bodyPr>
          <a:lstStyle/>
          <a:p>
            <a:pPr algn="l">
              <a:lnSpc>
                <a:spcPct val="106000"/>
              </a:lnSpc>
              <a:spcBef>
                <a:spcPts val="0"/>
              </a:spcBef>
              <a:spcAft>
                <a:spcPts val="0"/>
              </a:spcAft>
            </a:pPr>
            <a:r>
              <a:rPr sz="3000" b="1" i="0">
                <a:solidFill>
                  <a:srgbClr val="FFFFFF"/>
                </a:solidFill>
                <a:latin typeface="Helvetica Neue"/>
              </a:rPr>
              <a:t>The risks, from the one you will ask about to the one that actually ends it.</a:t>
            </a:r>
          </a:p>
        </p:txBody>
      </p:sp>
      <p:sp>
        <p:nvSpPr>
          <p:cNvPr id="5" name="Rectangle 4"/>
          <p:cNvSpPr/>
          <p:nvPr/>
        </p:nvSpPr>
        <p:spPr>
          <a:xfrm>
            <a:off x="822960" y="1901952"/>
            <a:ext cx="10545775" cy="12700"/>
          </a:xfrm>
          <a:prstGeom prst="rect">
            <a:avLst/>
          </a:prstGeom>
          <a:solidFill>
            <a:srgbClr val="3340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2304288"/>
            <a:ext cx="2322576" cy="214884"/>
          </a:xfrm>
          <a:prstGeom prst="rect">
            <a:avLst/>
          </a:prstGeom>
          <a:solidFill>
            <a:srgbClr val="1F7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345436"/>
            <a:ext cx="2322576" cy="182880"/>
          </a:xfrm>
          <a:prstGeom prst="rect">
            <a:avLst/>
          </a:prstGeom>
          <a:noFill/>
        </p:spPr>
        <p:txBody>
          <a:bodyPr wrap="square" lIns="0" rIns="0" tIns="0" bIns="0">
            <a:spAutoFit/>
          </a:bodyPr>
          <a:lstStyle/>
          <a:p>
            <a:pPr algn="ctr">
              <a:spcBef>
                <a:spcPts val="0"/>
              </a:spcBef>
              <a:spcAft>
                <a:spcPts val="0"/>
              </a:spcAft>
            </a:pPr>
            <a:r>
              <a:rPr sz="950" b="1" i="0">
                <a:solidFill>
                  <a:srgbClr val="FFFFFF"/>
                </a:solidFill>
                <a:latin typeface="Helvetica Neue"/>
              </a:rPr>
              <a:t>OUTER — MARKET</a:t>
            </a:r>
          </a:p>
        </p:txBody>
      </p:sp>
      <p:sp>
        <p:nvSpPr>
          <p:cNvPr id="8" name="TextBox 7"/>
          <p:cNvSpPr txBox="1"/>
          <p:nvPr/>
        </p:nvSpPr>
        <p:spPr>
          <a:xfrm>
            <a:off x="3374136" y="2258568"/>
            <a:ext cx="7994599" cy="822960"/>
          </a:xfrm>
          <a:prstGeom prst="rect">
            <a:avLst/>
          </a:prstGeom>
          <a:noFill/>
        </p:spPr>
        <p:txBody>
          <a:bodyPr wrap="square" lIns="0" rIns="0" tIns="0" bIns="0">
            <a:spAutoFit/>
          </a:bodyPr>
          <a:lstStyle/>
          <a:p>
            <a:pPr algn="l">
              <a:lnSpc>
                <a:spcPct val="125000"/>
              </a:lnSpc>
              <a:spcBef>
                <a:spcPts val="0"/>
              </a:spcBef>
              <a:spcAft>
                <a:spcPts val="0"/>
              </a:spcAft>
            </a:pPr>
            <a:r>
              <a:rPr sz="1600" b="1" i="0">
                <a:solidFill>
                  <a:srgbClr val="D8DFE4"/>
                </a:solidFill>
                <a:latin typeface="Helvetica Neue"/>
              </a:rPr>
              <a:t>“Isn't this a feature CivicPlus ships next quarter?”</a:t>
            </a:r>
          </a:p>
          <a:p>
            <a:pPr>
              <a:lnSpc>
                <a:spcPct val="135000"/>
              </a:lnSpc>
              <a:spcBef>
                <a:spcPts val="600"/>
              </a:spcBef>
              <a:spcAft>
                <a:spcPts val="0"/>
              </a:spcAft>
            </a:pPr>
            <a:r>
              <a:rPr sz="1250" b="0" i="0">
                <a:solidFill>
                  <a:srgbClr val="929EA9"/>
                </a:solidFill>
                <a:latin typeface="Helvetica Neue"/>
              </a:rPr>
              <a:t>It already did — for staff. Our user has no seat in those systems and no staff. An incumbent would have to build a different product for a different person and sell it into a body that did not procure it.</a:t>
            </a:r>
          </a:p>
        </p:txBody>
      </p:sp>
      <p:sp>
        <p:nvSpPr>
          <p:cNvPr id="9" name="Rectangle 8"/>
          <p:cNvSpPr/>
          <p:nvPr/>
        </p:nvSpPr>
        <p:spPr>
          <a:xfrm>
            <a:off x="822960" y="3630168"/>
            <a:ext cx="3200400" cy="214884"/>
          </a:xfrm>
          <a:prstGeom prst="rect">
            <a:avLst/>
          </a:prstGeom>
          <a:solidFill>
            <a:srgbClr val="1F7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671316"/>
            <a:ext cx="3200400" cy="182880"/>
          </a:xfrm>
          <a:prstGeom prst="rect">
            <a:avLst/>
          </a:prstGeom>
          <a:noFill/>
        </p:spPr>
        <p:txBody>
          <a:bodyPr wrap="square" lIns="0" rIns="0" tIns="0" bIns="0">
            <a:spAutoFit/>
          </a:bodyPr>
          <a:lstStyle/>
          <a:p>
            <a:pPr algn="ctr">
              <a:spcBef>
                <a:spcPts val="0"/>
              </a:spcBef>
              <a:spcAft>
                <a:spcPts val="0"/>
              </a:spcAft>
            </a:pPr>
            <a:r>
              <a:rPr sz="950" b="1" i="0">
                <a:solidFill>
                  <a:srgbClr val="FFFFFF"/>
                </a:solidFill>
                <a:latin typeface="Helvetica Neue"/>
              </a:rPr>
              <a:t>MIDDLE — COMPETITION</a:t>
            </a:r>
          </a:p>
        </p:txBody>
      </p:sp>
      <p:sp>
        <p:nvSpPr>
          <p:cNvPr id="11" name="TextBox 10"/>
          <p:cNvSpPr txBox="1"/>
          <p:nvPr/>
        </p:nvSpPr>
        <p:spPr>
          <a:xfrm>
            <a:off x="4251960" y="3584448"/>
            <a:ext cx="7116775" cy="822960"/>
          </a:xfrm>
          <a:prstGeom prst="rect">
            <a:avLst/>
          </a:prstGeom>
          <a:noFill/>
        </p:spPr>
        <p:txBody>
          <a:bodyPr wrap="square" lIns="0" rIns="0" tIns="0" bIns="0">
            <a:spAutoFit/>
          </a:bodyPr>
          <a:lstStyle/>
          <a:p>
            <a:pPr algn="l">
              <a:lnSpc>
                <a:spcPct val="125000"/>
              </a:lnSpc>
              <a:spcBef>
                <a:spcPts val="0"/>
              </a:spcBef>
              <a:spcAft>
                <a:spcPts val="0"/>
              </a:spcAft>
            </a:pPr>
            <a:r>
              <a:rPr sz="1600" b="1" i="0">
                <a:solidFill>
                  <a:srgbClr val="D8DFE4"/>
                </a:solidFill>
                <a:latin typeface="Helvetica Neue"/>
              </a:rPr>
              <a:t>Ordinal AI is funded and ahead.</a:t>
            </a:r>
          </a:p>
          <a:p>
            <a:pPr>
              <a:lnSpc>
                <a:spcPct val="135000"/>
              </a:lnSpc>
              <a:spcBef>
                <a:spcPts val="600"/>
              </a:spcBef>
              <a:spcAft>
                <a:spcPts val="0"/>
              </a:spcAft>
            </a:pPr>
            <a:r>
              <a:rPr sz="1250" b="0" i="0">
                <a:solidFill>
                  <a:srgbClr val="929EA9"/>
                </a:solidFill>
                <a:latin typeface="Helvetica Neue"/>
              </a:rPr>
              <a:t>$1M seed, 7+ live cities, and a broader surface: planners, clerks, code enforcement, 311, plus a public chatbot. Broad and shallow. We are narrow and deep on one buyer inside the same building.</a:t>
            </a:r>
          </a:p>
        </p:txBody>
      </p:sp>
      <p:sp>
        <p:nvSpPr>
          <p:cNvPr id="12" name="Rectangle 11"/>
          <p:cNvSpPr/>
          <p:nvPr/>
        </p:nvSpPr>
        <p:spPr>
          <a:xfrm>
            <a:off x="822960" y="4956048"/>
            <a:ext cx="2761488" cy="214884"/>
          </a:xfrm>
          <a:prstGeom prst="rect">
            <a:avLst/>
          </a:prstGeom>
          <a:solidFill>
            <a:srgbClr val="B338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4997196"/>
            <a:ext cx="2761488" cy="182880"/>
          </a:xfrm>
          <a:prstGeom prst="rect">
            <a:avLst/>
          </a:prstGeom>
          <a:noFill/>
        </p:spPr>
        <p:txBody>
          <a:bodyPr wrap="square" lIns="0" rIns="0" tIns="0" bIns="0">
            <a:spAutoFit/>
          </a:bodyPr>
          <a:lstStyle/>
          <a:p>
            <a:pPr algn="ctr">
              <a:spcBef>
                <a:spcPts val="0"/>
              </a:spcBef>
              <a:spcAft>
                <a:spcPts val="0"/>
              </a:spcAft>
            </a:pPr>
            <a:r>
              <a:rPr sz="950" b="1" i="0">
                <a:solidFill>
                  <a:srgbClr val="FFFFFF"/>
                </a:solidFill>
                <a:latin typeface="Helvetica Neue"/>
              </a:rPr>
              <a:t>INNER — EXECUTION</a:t>
            </a:r>
          </a:p>
        </p:txBody>
      </p:sp>
      <p:sp>
        <p:nvSpPr>
          <p:cNvPr id="14" name="TextBox 13"/>
          <p:cNvSpPr txBox="1"/>
          <p:nvPr/>
        </p:nvSpPr>
        <p:spPr>
          <a:xfrm>
            <a:off x="3813048" y="4910328"/>
            <a:ext cx="7555687" cy="822960"/>
          </a:xfrm>
          <a:prstGeom prst="rect">
            <a:avLst/>
          </a:prstGeom>
          <a:noFill/>
        </p:spPr>
        <p:txBody>
          <a:bodyPr wrap="square" lIns="0" rIns="0" tIns="0" bIns="0">
            <a:spAutoFit/>
          </a:bodyPr>
          <a:lstStyle/>
          <a:p>
            <a:pPr algn="l">
              <a:lnSpc>
                <a:spcPct val="125000"/>
              </a:lnSpc>
              <a:spcBef>
                <a:spcPts val="0"/>
              </a:spcBef>
              <a:spcAft>
                <a:spcPts val="0"/>
              </a:spcAft>
            </a:pPr>
            <a:r>
              <a:rPr sz="1600" b="1" i="0">
                <a:solidFill>
                  <a:srgbClr val="FFFFFF"/>
                </a:solidFill>
                <a:latin typeface="Helvetica Neue"/>
              </a:rPr>
              <a:t>One founder, 0.35 cities a month, and a $29,069 cash trough at month 18.</a:t>
            </a:r>
          </a:p>
          <a:p>
            <a:pPr>
              <a:lnSpc>
                <a:spcPct val="135000"/>
              </a:lnSpc>
              <a:spcBef>
                <a:spcPts val="600"/>
              </a:spcBef>
              <a:spcAft>
                <a:spcPts val="0"/>
              </a:spcAft>
            </a:pPr>
            <a:r>
              <a:rPr sz="1250" b="0" i="0">
                <a:solidFill>
                  <a:srgbClr val="C9D1DA"/>
                </a:solidFill>
                <a:latin typeface="Helvetica Neue"/>
              </a:rPr>
              <a:t>This is the one that actually ends it, and it is the reason the ask on the next slide is the size it is. Hire timing is the most sensitive input in the model; an earlier draft that hired an engineer at month 16 sank the base case to −$101k.</a:t>
            </a:r>
          </a:p>
        </p:txBody>
      </p:sp>
      <p:sp>
        <p:nvSpPr>
          <p:cNvPr id="15" name="TextBox 14"/>
          <p:cNvSpPr txBox="1"/>
          <p:nvPr/>
        </p:nvSpPr>
        <p:spPr>
          <a:xfrm>
            <a:off x="822960" y="6053328"/>
            <a:ext cx="10332720" cy="274320"/>
          </a:xfrm>
          <a:prstGeom prst="rect">
            <a:avLst/>
          </a:prstGeom>
          <a:noFill/>
        </p:spPr>
        <p:txBody>
          <a:bodyPr wrap="square" lIns="0" rIns="0" tIns="0" bIns="0">
            <a:spAutoFit/>
          </a:bodyPr>
          <a:lstStyle/>
          <a:p>
            <a:pPr algn="l">
              <a:lnSpc>
                <a:spcPct val="125000"/>
              </a:lnSpc>
              <a:spcBef>
                <a:spcPts val="0"/>
              </a:spcBef>
              <a:spcAft>
                <a:spcPts val="0"/>
              </a:spcAft>
            </a:pPr>
            <a:r>
              <a:rPr sz="900" b="0" i="0">
                <a:solidFill>
                  <a:srgbClr val="6B7786"/>
                </a:solidFill>
                <a:latin typeface="Helvetica Neue"/>
              </a:rPr>
              <a:t>Source:  product/finance/strata/MODEL.md sensitivities; pitch/strata/objections.md.</a:t>
            </a:r>
          </a:p>
        </p:txBody>
      </p:sp>
      <p:sp>
        <p:nvSpPr>
          <p:cNvPr id="16" name="TextBox 15"/>
          <p:cNvSpPr txBox="1"/>
          <p:nvPr/>
        </p:nvSpPr>
        <p:spPr>
          <a:xfrm>
            <a:off x="822960" y="6419088"/>
            <a:ext cx="8778240" cy="274320"/>
          </a:xfrm>
          <a:prstGeom prst="rect">
            <a:avLst/>
          </a:prstGeom>
          <a:noFill/>
        </p:spPr>
        <p:txBody>
          <a:bodyPr wrap="square" lIns="0" rIns="0" tIns="0" bIns="0">
            <a:spAutoFit/>
          </a:bodyPr>
          <a:lstStyle/>
          <a:p>
            <a:pPr algn="l">
              <a:spcBef>
                <a:spcPts val="0"/>
              </a:spcBef>
              <a:spcAft>
                <a:spcPts val="0"/>
              </a:spcAft>
            </a:pPr>
            <a:r>
              <a:rPr sz="850" b="0" i="0">
                <a:solidFill>
                  <a:srgbClr val="6B7786"/>
                </a:solidFill>
                <a:latin typeface="Helvetica Neue"/>
              </a:rPr>
              <a:t>Strata Civic Solutions  ·  Pitch deck v1, 1 September 2026  ·  Draft for joseleos  ·  Confidential</a:t>
            </a:r>
          </a:p>
        </p:txBody>
      </p:sp>
      <p:sp>
        <p:nvSpPr>
          <p:cNvPr id="17" name="TextBox 16"/>
          <p:cNvSpPr txBox="1"/>
          <p:nvPr/>
        </p:nvSpPr>
        <p:spPr>
          <a:xfrm>
            <a:off x="10454335" y="6419088"/>
            <a:ext cx="914400" cy="274320"/>
          </a:xfrm>
          <a:prstGeom prst="rect">
            <a:avLst/>
          </a:prstGeom>
          <a:noFill/>
        </p:spPr>
        <p:txBody>
          <a:bodyPr wrap="square" lIns="0" rIns="0" tIns="0" bIns="0">
            <a:spAutoFit/>
          </a:bodyPr>
          <a:lstStyle/>
          <a:p>
            <a:pPr algn="r">
              <a:spcBef>
                <a:spcPts val="0"/>
              </a:spcBef>
              <a:spcAft>
                <a:spcPts val="0"/>
              </a:spcAft>
            </a:pPr>
            <a:r>
              <a:rPr sz="850" b="0" i="0">
                <a:solidFill>
                  <a:srgbClr val="6B7786"/>
                </a:solidFill>
                <a:latin typeface="Helvetica Neue"/>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2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685800"/>
            <a:ext cx="1234440" cy="38100"/>
          </a:xfrm>
          <a:prstGeom prst="rect">
            <a:avLst/>
          </a:prstGeom>
          <a:solidFill>
            <a:srgbClr val="1F7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22960" y="804672"/>
            <a:ext cx="868680" cy="38100"/>
          </a:xfrm>
          <a:prstGeom prst="rect">
            <a:avLst/>
          </a:prstGeom>
          <a:solidFill>
            <a:srgbClr val="1F7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923544"/>
            <a:ext cx="548640" cy="38100"/>
          </a:xfrm>
          <a:prstGeom prst="rect">
            <a:avLst/>
          </a:prstGeom>
          <a:solidFill>
            <a:srgbClr val="1F7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371600"/>
            <a:ext cx="10058400" cy="1280160"/>
          </a:xfrm>
          <a:prstGeom prst="rect">
            <a:avLst/>
          </a:prstGeom>
          <a:noFill/>
        </p:spPr>
        <p:txBody>
          <a:bodyPr wrap="square" lIns="0" rIns="0" tIns="0" bIns="0">
            <a:spAutoFit/>
          </a:bodyPr>
          <a:lstStyle/>
          <a:p>
            <a:pPr algn="l">
              <a:lnSpc>
                <a:spcPct val="118000"/>
              </a:lnSpc>
              <a:spcBef>
                <a:spcPts val="0"/>
              </a:spcBef>
              <a:spcAft>
                <a:spcPts val="0"/>
              </a:spcAft>
            </a:pPr>
            <a:r>
              <a:rPr sz="3400" b="1" i="0">
                <a:solidFill>
                  <a:srgbClr val="FFFFFF"/>
                </a:solidFill>
                <a:latin typeface="Helvetica Neue"/>
              </a:rPr>
              <a:t>We do not need a round.
We need $40,000 and five pilot cities.</a:t>
            </a:r>
          </a:p>
        </p:txBody>
      </p:sp>
      <p:sp>
        <p:nvSpPr>
          <p:cNvPr id="7" name="TextBox 6"/>
          <p:cNvSpPr txBox="1"/>
          <p:nvPr/>
        </p:nvSpPr>
        <p:spPr>
          <a:xfrm>
            <a:off x="822960" y="2880360"/>
            <a:ext cx="6035040" cy="2743200"/>
          </a:xfrm>
          <a:prstGeom prst="rect">
            <a:avLst/>
          </a:prstGeom>
          <a:noFill/>
        </p:spPr>
        <p:txBody>
          <a:bodyPr wrap="square" lIns="0" rIns="0" tIns="0" bIns="0">
            <a:spAutoFit/>
          </a:bodyPr>
          <a:lstStyle/>
          <a:p>
            <a:pPr algn="l">
              <a:spcBef>
                <a:spcPts val="0"/>
              </a:spcBef>
              <a:spcAft>
                <a:spcPts val="0"/>
              </a:spcAft>
            </a:pPr>
            <a:r>
              <a:rPr sz="1000" b="1" i="0">
                <a:solidFill>
                  <a:srgbClr val="1F7A6C"/>
                </a:solidFill>
                <a:latin typeface="Helvetica Neue"/>
              </a:rPr>
              <a:t>USE OF FUNDS — TRACED TO THE MODEL</a:t>
            </a:r>
          </a:p>
          <a:p>
            <a:pPr>
              <a:lnSpc>
                <a:spcPct val="132000"/>
              </a:lnSpc>
              <a:spcBef>
                <a:spcPts val="900"/>
              </a:spcBef>
            </a:pPr>
            <a:r>
              <a:rPr sz="1350" b="1">
                <a:solidFill>
                  <a:srgbClr val="FFFFFF"/>
                </a:solidFill>
                <a:latin typeface="Helvetica Neue"/>
              </a:rPr>
              <a:t>≈$29k  </a:t>
            </a:r>
            <a:r>
              <a:rPr sz="1300">
                <a:solidFill>
                  <a:srgbClr val="B6C1C8"/>
                </a:solidFill>
                <a:latin typeface="Helvetica Neue"/>
              </a:rPr>
              <a:t>covers the cash trough — the base case bottoms at −$29,069 in month 18</a:t>
            </a:r>
          </a:p>
          <a:p>
            <a:pPr>
              <a:lnSpc>
                <a:spcPct val="132000"/>
              </a:lnSpc>
              <a:spcBef>
                <a:spcPts val="900"/>
              </a:spcBef>
            </a:pPr>
            <a:r>
              <a:rPr sz="1350" b="1">
                <a:solidFill>
                  <a:srgbClr val="FFFFFF"/>
                </a:solidFill>
                <a:latin typeface="Helvetica Neue"/>
              </a:rPr>
              <a:t>$11.7k  </a:t>
            </a:r>
            <a:r>
              <a:rPr sz="1300">
                <a:solidFill>
                  <a:srgbClr val="B6C1C8"/>
                </a:solidFill>
                <a:latin typeface="Helvetica Neue"/>
              </a:rPr>
              <a:t>year-1 sales and marketing: the TML annual conference plus about one regional event a month</a:t>
            </a:r>
          </a:p>
          <a:p>
            <a:pPr>
              <a:lnSpc>
                <a:spcPct val="132000"/>
              </a:lnSpc>
              <a:spcBef>
                <a:spcPts val="900"/>
              </a:spcBef>
            </a:pPr>
            <a:r>
              <a:rPr sz="1350" b="1">
                <a:solidFill>
                  <a:srgbClr val="FFFFFF"/>
                </a:solidFill>
                <a:latin typeface="Helvetica Neue"/>
              </a:rPr>
              <a:t>$6k  </a:t>
            </a:r>
            <a:r>
              <a:rPr sz="1300">
                <a:solidFill>
                  <a:srgbClr val="B6C1C8"/>
                </a:solidFill>
                <a:latin typeface="Helvetica Neue"/>
              </a:rPr>
              <a:t>formation and Texas foreign qualification</a:t>
            </a:r>
          </a:p>
          <a:p>
            <a:pPr>
              <a:lnSpc>
                <a:spcPct val="132000"/>
              </a:lnSpc>
              <a:spcBef>
                <a:spcPts val="900"/>
              </a:spcBef>
            </a:pPr>
            <a:r>
              <a:rPr sz="1350" b="1">
                <a:solidFill>
                  <a:srgbClr val="FFFFFF"/>
                </a:solidFill>
                <a:latin typeface="Helvetica Neue"/>
              </a:rPr>
              <a:t>$10.6k  </a:t>
            </a:r>
            <a:r>
              <a:rPr sz="1300">
                <a:solidFill>
                  <a:srgbClr val="B6C1C8"/>
                </a:solidFill>
                <a:latin typeface="Helvetica Neue"/>
              </a:rPr>
              <a:t>G&amp;A — the $1M GL + cyber certificate cities require before data access, accounting, software</a:t>
            </a:r>
          </a:p>
          <a:p>
            <a:pPr>
              <a:lnSpc>
                <a:spcPct val="130000"/>
              </a:lnSpc>
              <a:spcBef>
                <a:spcPts val="1200"/>
              </a:spcBef>
            </a:pPr>
            <a:r>
              <a:rPr sz="1250">
                <a:solidFill>
                  <a:srgbClr val="1F7A6C"/>
                </a:solidFill>
                <a:latin typeface="Helvetica Neue"/>
              </a:rPr>
              <a:t>What it unlocks:  five pilot cities converting in months 4–9, the first paying cities by month 6, and positive operating income from month 19 without a second raise.</a:t>
            </a:r>
          </a:p>
        </p:txBody>
      </p:sp>
      <p:sp>
        <p:nvSpPr>
          <p:cNvPr id="8" name="Rectangle 7"/>
          <p:cNvSpPr/>
          <p:nvPr/>
        </p:nvSpPr>
        <p:spPr>
          <a:xfrm>
            <a:off x="7269480" y="2880360"/>
            <a:ext cx="3886200" cy="2834640"/>
          </a:xfrm>
          <a:prstGeom prst="rect">
            <a:avLst/>
          </a:prstGeom>
          <a:solidFill>
            <a:srgbClr val="FAEEEC"/>
          </a:solidFill>
          <a:ln w="9525">
            <a:solidFill>
              <a:srgbClr val="E4C4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70648" y="3026664"/>
            <a:ext cx="3483864" cy="2560320"/>
          </a:xfrm>
          <a:prstGeom prst="rect">
            <a:avLst/>
          </a:prstGeom>
          <a:noFill/>
        </p:spPr>
        <p:txBody>
          <a:bodyPr wrap="square" lIns="0" rIns="0" tIns="0" bIns="0">
            <a:spAutoFit/>
          </a:bodyPr>
          <a:lstStyle/>
          <a:p>
            <a:pPr algn="l">
              <a:spcBef>
                <a:spcPts val="0"/>
              </a:spcBef>
              <a:spcAft>
                <a:spcPts val="0"/>
              </a:spcAft>
            </a:pPr>
            <a:r>
              <a:rPr sz="1050" b="1" i="0">
                <a:solidFill>
                  <a:srgbClr val="B3382E"/>
                </a:solidFill>
                <a:latin typeface="Menlo"/>
              </a:rPr>
              <a:t>[ NEEDS JOSELEOS — THE ONE OPEN DECISION ]</a:t>
            </a:r>
          </a:p>
          <a:p>
            <a:pPr>
              <a:lnSpc>
                <a:spcPct val="125000"/>
              </a:lnSpc>
              <a:spcBef>
                <a:spcPts val="700"/>
              </a:spcBef>
              <a:spcAft>
                <a:spcPts val="0"/>
              </a:spcAft>
            </a:pPr>
            <a:r>
              <a:rPr sz="1200" b="0" i="0">
                <a:solidFill>
                  <a:srgbClr val="6E3C37"/>
                </a:solidFill>
                <a:latin typeface="Helvetica Neue"/>
              </a:rPr>
              <a:t>$40k is the only ask the accepted model supports: bootstrapped, no financing in any scenario.</a:t>
            </a:r>
          </a:p>
          <a:p>
            <a:pPr>
              <a:lnSpc>
                <a:spcPct val="125000"/>
              </a:lnSpc>
              <a:spcBef>
                <a:spcPts val="700"/>
              </a:spcBef>
              <a:spcAft>
                <a:spcPts val="0"/>
              </a:spcAft>
            </a:pPr>
            <a:r>
              <a:rPr sz="1200" b="0" i="0">
                <a:solidFill>
                  <a:srgbClr val="6E3C37"/>
                </a:solidFill>
                <a:latin typeface="Helvetica Neue"/>
              </a:rPr>
              <a:t>If you want an institutional round instead, say the number and the model has to be re-run financed before this slide is true.</a:t>
            </a:r>
          </a:p>
          <a:p>
            <a:pPr>
              <a:lnSpc>
                <a:spcPct val="125000"/>
              </a:lnSpc>
              <a:spcBef>
                <a:spcPts val="700"/>
              </a:spcBef>
              <a:spcAft>
                <a:spcPts val="0"/>
              </a:spcAft>
            </a:pPr>
            <a:r>
              <a:rPr sz="1200" b="0" i="0">
                <a:solidFill>
                  <a:srgbClr val="6E3C37"/>
                </a:solidFill>
                <a:latin typeface="Helvetica Neue"/>
              </a:rPr>
              <a:t>If the deck is for pilots and partners rather than capital, the ask becomes five pilot slots and the dollar figure comes off.</a:t>
            </a:r>
          </a:p>
        </p:txBody>
      </p:sp>
      <p:sp>
        <p:nvSpPr>
          <p:cNvPr id="10" name="TextBox 9"/>
          <p:cNvSpPr txBox="1"/>
          <p:nvPr/>
        </p:nvSpPr>
        <p:spPr>
          <a:xfrm>
            <a:off x="822960" y="6053328"/>
            <a:ext cx="10332720" cy="274320"/>
          </a:xfrm>
          <a:prstGeom prst="rect">
            <a:avLst/>
          </a:prstGeom>
          <a:noFill/>
        </p:spPr>
        <p:txBody>
          <a:bodyPr wrap="square" lIns="0" rIns="0" tIns="0" bIns="0">
            <a:spAutoFit/>
          </a:bodyPr>
          <a:lstStyle/>
          <a:p>
            <a:pPr algn="l">
              <a:lnSpc>
                <a:spcPct val="125000"/>
              </a:lnSpc>
              <a:spcBef>
                <a:spcPts val="0"/>
              </a:spcBef>
              <a:spcAft>
                <a:spcPts val="0"/>
              </a:spcAft>
            </a:pPr>
            <a:r>
              <a:rPr sz="900" b="0" i="0">
                <a:solidFill>
                  <a:srgbClr val="6B7786"/>
                </a:solidFill>
                <a:latin typeface="Helvetica Neue"/>
              </a:rPr>
              <a:t>Source:  product/finance/strata/MODEL.md — capital need $29,069 base / $32,738 upside / $31,557 downside; ≈$40k from launch in every scenario.</a:t>
            </a:r>
          </a:p>
        </p:txBody>
      </p:sp>
      <p:sp>
        <p:nvSpPr>
          <p:cNvPr id="11" name="TextBox 10"/>
          <p:cNvSpPr txBox="1"/>
          <p:nvPr/>
        </p:nvSpPr>
        <p:spPr>
          <a:xfrm>
            <a:off x="822960" y="6419088"/>
            <a:ext cx="8778240" cy="274320"/>
          </a:xfrm>
          <a:prstGeom prst="rect">
            <a:avLst/>
          </a:prstGeom>
          <a:noFill/>
        </p:spPr>
        <p:txBody>
          <a:bodyPr wrap="square" lIns="0" rIns="0" tIns="0" bIns="0">
            <a:spAutoFit/>
          </a:bodyPr>
          <a:lstStyle/>
          <a:p>
            <a:pPr algn="l">
              <a:spcBef>
                <a:spcPts val="0"/>
              </a:spcBef>
              <a:spcAft>
                <a:spcPts val="0"/>
              </a:spcAft>
            </a:pPr>
            <a:r>
              <a:rPr sz="850" b="0" i="0">
                <a:solidFill>
                  <a:srgbClr val="6B7786"/>
                </a:solidFill>
                <a:latin typeface="Helvetica Neue"/>
              </a:rPr>
              <a:t>Strata Civic Solutions  ·  Pitch deck v1, 1 September 2026  ·  Draft for joseleos  ·  Confidential</a:t>
            </a:r>
          </a:p>
        </p:txBody>
      </p:sp>
      <p:sp>
        <p:nvSpPr>
          <p:cNvPr id="12" name="TextBox 11"/>
          <p:cNvSpPr txBox="1"/>
          <p:nvPr/>
        </p:nvSpPr>
        <p:spPr>
          <a:xfrm>
            <a:off x="10454335" y="6419088"/>
            <a:ext cx="914400" cy="274320"/>
          </a:xfrm>
          <a:prstGeom prst="rect">
            <a:avLst/>
          </a:prstGeom>
          <a:noFill/>
        </p:spPr>
        <p:txBody>
          <a:bodyPr wrap="square" lIns="0" rIns="0" tIns="0" bIns="0">
            <a:spAutoFit/>
          </a:bodyPr>
          <a:lstStyle/>
          <a:p>
            <a:pPr algn="r">
              <a:spcBef>
                <a:spcPts val="0"/>
              </a:spcBef>
              <a:spcAft>
                <a:spcPts val="0"/>
              </a:spcAft>
            </a:pPr>
            <a:r>
              <a:rPr sz="850" b="0" i="0">
                <a:solidFill>
                  <a:srgbClr val="6B7786"/>
                </a:solidFill>
                <a:latin typeface="Helvetica Neue"/>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10545775" cy="274320"/>
          </a:xfrm>
          <a:prstGeom prst="rect">
            <a:avLst/>
          </a:prstGeom>
          <a:noFill/>
        </p:spPr>
        <p:txBody>
          <a:bodyPr wrap="square" lIns="0" rIns="0" tIns="0" bIns="0">
            <a:spAutoFit/>
          </a:bodyPr>
          <a:lstStyle/>
          <a:p>
            <a:pPr algn="l">
              <a:spcBef>
                <a:spcPts val="0"/>
              </a:spcBef>
              <a:spcAft>
                <a:spcPts val="0"/>
              </a:spcAft>
            </a:pPr>
            <a:r>
              <a:rPr sz="1050" b="1" i="0">
                <a:solidFill>
                  <a:srgbClr val="1F7A6C"/>
                </a:solidFill>
                <a:latin typeface="Helvetica Neue"/>
              </a:rPr>
              <a:t>APPENDIX 1</a:t>
            </a:r>
          </a:p>
        </p:txBody>
      </p:sp>
      <p:sp>
        <p:nvSpPr>
          <p:cNvPr id="4" name="TextBox 3"/>
          <p:cNvSpPr txBox="1"/>
          <p:nvPr/>
        </p:nvSpPr>
        <p:spPr>
          <a:xfrm>
            <a:off x="822960" y="914400"/>
            <a:ext cx="10545775" cy="475488"/>
          </a:xfrm>
          <a:prstGeom prst="rect">
            <a:avLst/>
          </a:prstGeom>
          <a:noFill/>
        </p:spPr>
        <p:txBody>
          <a:bodyPr wrap="square" lIns="0" rIns="0" tIns="0" bIns="0">
            <a:spAutoFit/>
          </a:bodyPr>
          <a:lstStyle/>
          <a:p>
            <a:pPr algn="l">
              <a:lnSpc>
                <a:spcPct val="106000"/>
              </a:lnSpc>
              <a:spcBef>
                <a:spcPts val="0"/>
              </a:spcBef>
              <a:spcAft>
                <a:spcPts val="0"/>
              </a:spcAft>
            </a:pPr>
            <a:r>
              <a:rPr sz="3000" b="1" i="0">
                <a:solidFill>
                  <a:srgbClr val="16202E"/>
                </a:solidFill>
                <a:latin typeface="Helvetica Neue"/>
              </a:rPr>
              <a:t>All three scenarios, side by side.</a:t>
            </a:r>
          </a:p>
        </p:txBody>
      </p:sp>
      <p:sp>
        <p:nvSpPr>
          <p:cNvPr id="5" name="TextBox 4"/>
          <p:cNvSpPr txBox="1"/>
          <p:nvPr/>
        </p:nvSpPr>
        <p:spPr>
          <a:xfrm>
            <a:off x="822960" y="1481328"/>
            <a:ext cx="9509760" cy="548640"/>
          </a:xfrm>
          <a:prstGeom prst="rect">
            <a:avLst/>
          </a:prstGeom>
          <a:noFill/>
        </p:spPr>
        <p:txBody>
          <a:bodyPr wrap="square" lIns="0" rIns="0" tIns="0" bIns="0">
            <a:spAutoFit/>
          </a:bodyPr>
          <a:lstStyle/>
          <a:p>
            <a:pPr algn="l">
              <a:lnSpc>
                <a:spcPct val="132000"/>
              </a:lnSpc>
              <a:spcBef>
                <a:spcPts val="0"/>
              </a:spcBef>
              <a:spcAft>
                <a:spcPts val="0"/>
              </a:spcAft>
            </a:pPr>
            <a:r>
              <a:rPr sz="1450" b="0" i="0">
                <a:solidFill>
                  <a:srgbClr val="414D5C"/>
                </a:solidFill>
                <a:latin typeface="Helvetica Neue"/>
              </a:rPr>
              <a:t>The engine is deterministic; cash and personnel reconcile every period.</a:t>
            </a:r>
          </a:p>
        </p:txBody>
      </p:sp>
      <p:sp>
        <p:nvSpPr>
          <p:cNvPr id="6" name="Rectangle 5"/>
          <p:cNvSpPr/>
          <p:nvPr/>
        </p:nvSpPr>
        <p:spPr>
          <a:xfrm>
            <a:off x="822960" y="1933956"/>
            <a:ext cx="10545775" cy="12700"/>
          </a:xfrm>
          <a:prstGeom prst="rect">
            <a:avLst/>
          </a:prstGeom>
          <a:solidFill>
            <a:srgbClr val="D7D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318004"/>
            <a:ext cx="3072384" cy="219456"/>
          </a:xfrm>
          <a:prstGeom prst="rect">
            <a:avLst/>
          </a:prstGeom>
          <a:noFill/>
        </p:spPr>
        <p:txBody>
          <a:bodyPr wrap="square" lIns="0" rIns="0" tIns="0" bIns="0">
            <a:spAutoFit/>
          </a:bodyPr>
          <a:lstStyle/>
          <a:p>
            <a:pPr algn="l">
              <a:spcBef>
                <a:spcPts val="0"/>
              </a:spcBef>
              <a:spcAft>
                <a:spcPts val="0"/>
              </a:spcAft>
            </a:pPr>
            <a:r>
              <a:rPr sz="950" b="1" i="0">
                <a:solidFill>
                  <a:srgbClr val="1F7A6C"/>
                </a:solidFill>
                <a:latin typeface="Helvetica Neue"/>
              </a:rPr>
              <a:t>METRIC</a:t>
            </a:r>
          </a:p>
        </p:txBody>
      </p:sp>
      <p:sp>
        <p:nvSpPr>
          <p:cNvPr id="8" name="TextBox 7"/>
          <p:cNvSpPr txBox="1"/>
          <p:nvPr/>
        </p:nvSpPr>
        <p:spPr>
          <a:xfrm>
            <a:off x="4023360" y="2318004"/>
            <a:ext cx="2249424" cy="219456"/>
          </a:xfrm>
          <a:prstGeom prst="rect">
            <a:avLst/>
          </a:prstGeom>
          <a:noFill/>
        </p:spPr>
        <p:txBody>
          <a:bodyPr wrap="square" lIns="0" rIns="0" tIns="0" bIns="0">
            <a:spAutoFit/>
          </a:bodyPr>
          <a:lstStyle/>
          <a:p>
            <a:pPr algn="l">
              <a:spcBef>
                <a:spcPts val="0"/>
              </a:spcBef>
              <a:spcAft>
                <a:spcPts val="0"/>
              </a:spcAft>
            </a:pPr>
            <a:r>
              <a:rPr sz="950" b="1" i="0">
                <a:solidFill>
                  <a:srgbClr val="1F7A6C"/>
                </a:solidFill>
                <a:latin typeface="Helvetica Neue"/>
              </a:rPr>
              <a:t>BASE</a:t>
            </a:r>
          </a:p>
        </p:txBody>
      </p:sp>
      <p:sp>
        <p:nvSpPr>
          <p:cNvPr id="9" name="TextBox 8"/>
          <p:cNvSpPr txBox="1"/>
          <p:nvPr/>
        </p:nvSpPr>
        <p:spPr>
          <a:xfrm>
            <a:off x="6400800" y="2318004"/>
            <a:ext cx="2249424" cy="219456"/>
          </a:xfrm>
          <a:prstGeom prst="rect">
            <a:avLst/>
          </a:prstGeom>
          <a:noFill/>
        </p:spPr>
        <p:txBody>
          <a:bodyPr wrap="square" lIns="0" rIns="0" tIns="0" bIns="0">
            <a:spAutoFit/>
          </a:bodyPr>
          <a:lstStyle/>
          <a:p>
            <a:pPr algn="l">
              <a:spcBef>
                <a:spcPts val="0"/>
              </a:spcBef>
              <a:spcAft>
                <a:spcPts val="0"/>
              </a:spcAft>
            </a:pPr>
            <a:r>
              <a:rPr sz="950" b="1" i="0">
                <a:solidFill>
                  <a:srgbClr val="1F7A6C"/>
                </a:solidFill>
                <a:latin typeface="Helvetica Neue"/>
              </a:rPr>
              <a:t>UPSIDE</a:t>
            </a:r>
          </a:p>
        </p:txBody>
      </p:sp>
      <p:sp>
        <p:nvSpPr>
          <p:cNvPr id="10" name="TextBox 9"/>
          <p:cNvSpPr txBox="1"/>
          <p:nvPr/>
        </p:nvSpPr>
        <p:spPr>
          <a:xfrm>
            <a:off x="8778240" y="2318004"/>
            <a:ext cx="2249424" cy="219456"/>
          </a:xfrm>
          <a:prstGeom prst="rect">
            <a:avLst/>
          </a:prstGeom>
          <a:noFill/>
        </p:spPr>
        <p:txBody>
          <a:bodyPr wrap="square" lIns="0" rIns="0" tIns="0" bIns="0">
            <a:spAutoFit/>
          </a:bodyPr>
          <a:lstStyle/>
          <a:p>
            <a:pPr algn="l">
              <a:spcBef>
                <a:spcPts val="0"/>
              </a:spcBef>
              <a:spcAft>
                <a:spcPts val="0"/>
              </a:spcAft>
            </a:pPr>
            <a:r>
              <a:rPr sz="950" b="1" i="0">
                <a:solidFill>
                  <a:srgbClr val="1F7A6C"/>
                </a:solidFill>
                <a:latin typeface="Helvetica Neue"/>
              </a:rPr>
              <a:t>DOWNSIDE</a:t>
            </a:r>
          </a:p>
        </p:txBody>
      </p:sp>
      <p:sp>
        <p:nvSpPr>
          <p:cNvPr id="11" name="Rectangle 10"/>
          <p:cNvSpPr/>
          <p:nvPr/>
        </p:nvSpPr>
        <p:spPr>
          <a:xfrm>
            <a:off x="822960" y="2592324"/>
            <a:ext cx="10332720" cy="15875"/>
          </a:xfrm>
          <a:prstGeom prst="rect">
            <a:avLst/>
          </a:prstGeom>
          <a:solidFill>
            <a:srgbClr val="1F7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2711196"/>
            <a:ext cx="3072384" cy="320040"/>
          </a:xfrm>
          <a:prstGeom prst="rect">
            <a:avLst/>
          </a:prstGeom>
          <a:noFill/>
        </p:spPr>
        <p:txBody>
          <a:bodyPr wrap="square" lIns="0" rIns="0" tIns="0" bIns="0">
            <a:spAutoFit/>
          </a:bodyPr>
          <a:lstStyle/>
          <a:p>
            <a:pPr algn="l">
              <a:lnSpc>
                <a:spcPct val="120000"/>
              </a:lnSpc>
              <a:spcBef>
                <a:spcPts val="0"/>
              </a:spcBef>
              <a:spcAft>
                <a:spcPts val="0"/>
              </a:spcAft>
            </a:pPr>
            <a:r>
              <a:rPr sz="1150" b="1" i="0">
                <a:solidFill>
                  <a:srgbClr val="16202E"/>
                </a:solidFill>
                <a:latin typeface="Helvetica Neue"/>
              </a:rPr>
              <a:t>3-year revenue</a:t>
            </a:r>
          </a:p>
        </p:txBody>
      </p:sp>
      <p:sp>
        <p:nvSpPr>
          <p:cNvPr id="13" name="TextBox 12"/>
          <p:cNvSpPr txBox="1"/>
          <p:nvPr/>
        </p:nvSpPr>
        <p:spPr>
          <a:xfrm>
            <a:off x="4023360" y="2711196"/>
            <a:ext cx="2249424" cy="320040"/>
          </a:xfrm>
          <a:prstGeom prst="rect">
            <a:avLst/>
          </a:prstGeom>
          <a:noFill/>
        </p:spPr>
        <p:txBody>
          <a:bodyPr wrap="square" lIns="0" rIns="0" tIns="0" bIns="0">
            <a:spAutoFit/>
          </a:bodyPr>
          <a:lstStyle/>
          <a:p>
            <a:pPr algn="l">
              <a:lnSpc>
                <a:spcPct val="120000"/>
              </a:lnSpc>
              <a:spcBef>
                <a:spcPts val="0"/>
              </a:spcBef>
              <a:spcAft>
                <a:spcPts val="0"/>
              </a:spcAft>
            </a:pPr>
            <a:r>
              <a:rPr sz="1150" b="0" i="0">
                <a:solidFill>
                  <a:srgbClr val="414D5C"/>
                </a:solidFill>
                <a:latin typeface="Helvetica Neue"/>
              </a:rPr>
              <a:t>$378,843</a:t>
            </a:r>
          </a:p>
        </p:txBody>
      </p:sp>
      <p:sp>
        <p:nvSpPr>
          <p:cNvPr id="14" name="TextBox 13"/>
          <p:cNvSpPr txBox="1"/>
          <p:nvPr/>
        </p:nvSpPr>
        <p:spPr>
          <a:xfrm>
            <a:off x="6400800" y="2711196"/>
            <a:ext cx="2249424" cy="320040"/>
          </a:xfrm>
          <a:prstGeom prst="rect">
            <a:avLst/>
          </a:prstGeom>
          <a:noFill/>
        </p:spPr>
        <p:txBody>
          <a:bodyPr wrap="square" lIns="0" rIns="0" tIns="0" bIns="0">
            <a:spAutoFit/>
          </a:bodyPr>
          <a:lstStyle/>
          <a:p>
            <a:pPr algn="l">
              <a:lnSpc>
                <a:spcPct val="120000"/>
              </a:lnSpc>
              <a:spcBef>
                <a:spcPts val="0"/>
              </a:spcBef>
              <a:spcAft>
                <a:spcPts val="0"/>
              </a:spcAft>
            </a:pPr>
            <a:r>
              <a:rPr sz="1150" b="0" i="0">
                <a:solidFill>
                  <a:srgbClr val="414D5C"/>
                </a:solidFill>
                <a:latin typeface="Helvetica Neue"/>
              </a:rPr>
              <a:t>$922,560</a:t>
            </a:r>
          </a:p>
        </p:txBody>
      </p:sp>
      <p:sp>
        <p:nvSpPr>
          <p:cNvPr id="15" name="TextBox 14"/>
          <p:cNvSpPr txBox="1"/>
          <p:nvPr/>
        </p:nvSpPr>
        <p:spPr>
          <a:xfrm>
            <a:off x="8778240" y="2711196"/>
            <a:ext cx="2249424" cy="320040"/>
          </a:xfrm>
          <a:prstGeom prst="rect">
            <a:avLst/>
          </a:prstGeom>
          <a:noFill/>
        </p:spPr>
        <p:txBody>
          <a:bodyPr wrap="square" lIns="0" rIns="0" tIns="0" bIns="0">
            <a:spAutoFit/>
          </a:bodyPr>
          <a:lstStyle/>
          <a:p>
            <a:pPr algn="l">
              <a:lnSpc>
                <a:spcPct val="120000"/>
              </a:lnSpc>
              <a:spcBef>
                <a:spcPts val="0"/>
              </a:spcBef>
              <a:spcAft>
                <a:spcPts val="0"/>
              </a:spcAft>
            </a:pPr>
            <a:r>
              <a:rPr sz="1150" b="0" i="0">
                <a:solidFill>
                  <a:srgbClr val="414D5C"/>
                </a:solidFill>
                <a:latin typeface="Helvetica Neue"/>
              </a:rPr>
              <a:t>$107,511</a:t>
            </a:r>
          </a:p>
        </p:txBody>
      </p:sp>
      <p:sp>
        <p:nvSpPr>
          <p:cNvPr id="16" name="Rectangle 15"/>
          <p:cNvSpPr/>
          <p:nvPr/>
        </p:nvSpPr>
        <p:spPr>
          <a:xfrm>
            <a:off x="822960" y="2939796"/>
            <a:ext cx="10332720" cy="9525"/>
          </a:xfrm>
          <a:prstGeom prst="rect">
            <a:avLst/>
          </a:prstGeom>
          <a:solidFill>
            <a:srgbClr val="D7D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3031236"/>
            <a:ext cx="3072384" cy="320040"/>
          </a:xfrm>
          <a:prstGeom prst="rect">
            <a:avLst/>
          </a:prstGeom>
          <a:noFill/>
        </p:spPr>
        <p:txBody>
          <a:bodyPr wrap="square" lIns="0" rIns="0" tIns="0" bIns="0">
            <a:spAutoFit/>
          </a:bodyPr>
          <a:lstStyle/>
          <a:p>
            <a:pPr algn="l">
              <a:lnSpc>
                <a:spcPct val="120000"/>
              </a:lnSpc>
              <a:spcBef>
                <a:spcPts val="0"/>
              </a:spcBef>
              <a:spcAft>
                <a:spcPts val="0"/>
              </a:spcAft>
            </a:pPr>
            <a:r>
              <a:rPr sz="1150" b="1" i="0">
                <a:solidFill>
                  <a:srgbClr val="16202E"/>
                </a:solidFill>
                <a:latin typeface="Helvetica Neue"/>
              </a:rPr>
              <a:t>Paying cities at month 36</a:t>
            </a:r>
          </a:p>
        </p:txBody>
      </p:sp>
      <p:sp>
        <p:nvSpPr>
          <p:cNvPr id="18" name="TextBox 17"/>
          <p:cNvSpPr txBox="1"/>
          <p:nvPr/>
        </p:nvSpPr>
        <p:spPr>
          <a:xfrm>
            <a:off x="4023360" y="3031236"/>
            <a:ext cx="2249424" cy="320040"/>
          </a:xfrm>
          <a:prstGeom prst="rect">
            <a:avLst/>
          </a:prstGeom>
          <a:noFill/>
        </p:spPr>
        <p:txBody>
          <a:bodyPr wrap="square" lIns="0" rIns="0" tIns="0" bIns="0">
            <a:spAutoFit/>
          </a:bodyPr>
          <a:lstStyle/>
          <a:p>
            <a:pPr algn="l">
              <a:lnSpc>
                <a:spcPct val="120000"/>
              </a:lnSpc>
              <a:spcBef>
                <a:spcPts val="0"/>
              </a:spcBef>
              <a:spcAft>
                <a:spcPts val="0"/>
              </a:spcAft>
            </a:pPr>
            <a:r>
              <a:rPr sz="1150" b="0" i="0">
                <a:solidFill>
                  <a:srgbClr val="414D5C"/>
                </a:solidFill>
                <a:latin typeface="Helvetica Neue"/>
              </a:rPr>
              <a:t>31.2</a:t>
            </a:r>
          </a:p>
        </p:txBody>
      </p:sp>
      <p:sp>
        <p:nvSpPr>
          <p:cNvPr id="19" name="TextBox 18"/>
          <p:cNvSpPr txBox="1"/>
          <p:nvPr/>
        </p:nvSpPr>
        <p:spPr>
          <a:xfrm>
            <a:off x="6400800" y="3031236"/>
            <a:ext cx="2249424" cy="320040"/>
          </a:xfrm>
          <a:prstGeom prst="rect">
            <a:avLst/>
          </a:prstGeom>
          <a:noFill/>
        </p:spPr>
        <p:txBody>
          <a:bodyPr wrap="square" lIns="0" rIns="0" tIns="0" bIns="0">
            <a:spAutoFit/>
          </a:bodyPr>
          <a:lstStyle/>
          <a:p>
            <a:pPr algn="l">
              <a:lnSpc>
                <a:spcPct val="120000"/>
              </a:lnSpc>
              <a:spcBef>
                <a:spcPts val="0"/>
              </a:spcBef>
              <a:spcAft>
                <a:spcPts val="0"/>
              </a:spcAft>
            </a:pPr>
            <a:r>
              <a:rPr sz="1150" b="0" i="0">
                <a:solidFill>
                  <a:srgbClr val="414D5C"/>
                </a:solidFill>
                <a:latin typeface="Helvetica Neue"/>
              </a:rPr>
              <a:t>71.3</a:t>
            </a:r>
          </a:p>
        </p:txBody>
      </p:sp>
      <p:sp>
        <p:nvSpPr>
          <p:cNvPr id="20" name="TextBox 19"/>
          <p:cNvSpPr txBox="1"/>
          <p:nvPr/>
        </p:nvSpPr>
        <p:spPr>
          <a:xfrm>
            <a:off x="8778240" y="3031236"/>
            <a:ext cx="2249424" cy="320040"/>
          </a:xfrm>
          <a:prstGeom prst="rect">
            <a:avLst/>
          </a:prstGeom>
          <a:noFill/>
        </p:spPr>
        <p:txBody>
          <a:bodyPr wrap="square" lIns="0" rIns="0" tIns="0" bIns="0">
            <a:spAutoFit/>
          </a:bodyPr>
          <a:lstStyle/>
          <a:p>
            <a:pPr algn="l">
              <a:lnSpc>
                <a:spcPct val="120000"/>
              </a:lnSpc>
              <a:spcBef>
                <a:spcPts val="0"/>
              </a:spcBef>
              <a:spcAft>
                <a:spcPts val="0"/>
              </a:spcAft>
            </a:pPr>
            <a:r>
              <a:rPr sz="1150" b="0" i="0">
                <a:solidFill>
                  <a:srgbClr val="414D5C"/>
                </a:solidFill>
                <a:latin typeface="Helvetica Neue"/>
              </a:rPr>
              <a:t>10.7</a:t>
            </a:r>
          </a:p>
        </p:txBody>
      </p:sp>
      <p:sp>
        <p:nvSpPr>
          <p:cNvPr id="21" name="Rectangle 20"/>
          <p:cNvSpPr/>
          <p:nvPr/>
        </p:nvSpPr>
        <p:spPr>
          <a:xfrm>
            <a:off x="822960" y="3259836"/>
            <a:ext cx="10332720" cy="9525"/>
          </a:xfrm>
          <a:prstGeom prst="rect">
            <a:avLst/>
          </a:prstGeom>
          <a:solidFill>
            <a:srgbClr val="D7D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3351276"/>
            <a:ext cx="3072384" cy="320040"/>
          </a:xfrm>
          <a:prstGeom prst="rect">
            <a:avLst/>
          </a:prstGeom>
          <a:noFill/>
        </p:spPr>
        <p:txBody>
          <a:bodyPr wrap="square" lIns="0" rIns="0" tIns="0" bIns="0">
            <a:spAutoFit/>
          </a:bodyPr>
          <a:lstStyle/>
          <a:p>
            <a:pPr algn="l">
              <a:lnSpc>
                <a:spcPct val="120000"/>
              </a:lnSpc>
              <a:spcBef>
                <a:spcPts val="0"/>
              </a:spcBef>
              <a:spcAft>
                <a:spcPts val="0"/>
              </a:spcAft>
            </a:pPr>
            <a:r>
              <a:rPr sz="1150" b="1" i="0">
                <a:solidFill>
                  <a:srgbClr val="16202E"/>
                </a:solidFill>
                <a:latin typeface="Helvetica Neue"/>
              </a:rPr>
              <a:t>Ending cash, month 36</a:t>
            </a:r>
          </a:p>
        </p:txBody>
      </p:sp>
      <p:sp>
        <p:nvSpPr>
          <p:cNvPr id="23" name="TextBox 22"/>
          <p:cNvSpPr txBox="1"/>
          <p:nvPr/>
        </p:nvSpPr>
        <p:spPr>
          <a:xfrm>
            <a:off x="4023360" y="3351276"/>
            <a:ext cx="2249424" cy="320040"/>
          </a:xfrm>
          <a:prstGeom prst="rect">
            <a:avLst/>
          </a:prstGeom>
          <a:noFill/>
        </p:spPr>
        <p:txBody>
          <a:bodyPr wrap="square" lIns="0" rIns="0" tIns="0" bIns="0">
            <a:spAutoFit/>
          </a:bodyPr>
          <a:lstStyle/>
          <a:p>
            <a:pPr algn="l">
              <a:lnSpc>
                <a:spcPct val="120000"/>
              </a:lnSpc>
              <a:spcBef>
                <a:spcPts val="0"/>
              </a:spcBef>
              <a:spcAft>
                <a:spcPts val="0"/>
              </a:spcAft>
            </a:pPr>
            <a:r>
              <a:rPr sz="1150" b="0" i="0">
                <a:solidFill>
                  <a:srgbClr val="414D5C"/>
                </a:solidFill>
                <a:latin typeface="Helvetica Neue"/>
              </a:rPr>
              <a:t>$31,600</a:t>
            </a:r>
          </a:p>
        </p:txBody>
      </p:sp>
      <p:sp>
        <p:nvSpPr>
          <p:cNvPr id="24" name="TextBox 23"/>
          <p:cNvSpPr txBox="1"/>
          <p:nvPr/>
        </p:nvSpPr>
        <p:spPr>
          <a:xfrm>
            <a:off x="6400800" y="3351276"/>
            <a:ext cx="2249424" cy="320040"/>
          </a:xfrm>
          <a:prstGeom prst="rect">
            <a:avLst/>
          </a:prstGeom>
          <a:noFill/>
        </p:spPr>
        <p:txBody>
          <a:bodyPr wrap="square" lIns="0" rIns="0" tIns="0" bIns="0">
            <a:spAutoFit/>
          </a:bodyPr>
          <a:lstStyle/>
          <a:p>
            <a:pPr algn="l">
              <a:lnSpc>
                <a:spcPct val="120000"/>
              </a:lnSpc>
              <a:spcBef>
                <a:spcPts val="0"/>
              </a:spcBef>
              <a:spcAft>
                <a:spcPts val="0"/>
              </a:spcAft>
            </a:pPr>
            <a:r>
              <a:rPr sz="1150" b="0" i="0">
                <a:solidFill>
                  <a:srgbClr val="414D5C"/>
                </a:solidFill>
                <a:latin typeface="Helvetica Neue"/>
              </a:rPr>
              <a:t>$309,645</a:t>
            </a:r>
          </a:p>
        </p:txBody>
      </p:sp>
      <p:sp>
        <p:nvSpPr>
          <p:cNvPr id="25" name="TextBox 24"/>
          <p:cNvSpPr txBox="1"/>
          <p:nvPr/>
        </p:nvSpPr>
        <p:spPr>
          <a:xfrm>
            <a:off x="8778240" y="3351276"/>
            <a:ext cx="2249424" cy="320040"/>
          </a:xfrm>
          <a:prstGeom prst="rect">
            <a:avLst/>
          </a:prstGeom>
          <a:noFill/>
        </p:spPr>
        <p:txBody>
          <a:bodyPr wrap="square" lIns="0" rIns="0" tIns="0" bIns="0">
            <a:spAutoFit/>
          </a:bodyPr>
          <a:lstStyle/>
          <a:p>
            <a:pPr algn="l">
              <a:lnSpc>
                <a:spcPct val="120000"/>
              </a:lnSpc>
              <a:spcBef>
                <a:spcPts val="0"/>
              </a:spcBef>
              <a:spcAft>
                <a:spcPts val="0"/>
              </a:spcAft>
            </a:pPr>
            <a:r>
              <a:rPr sz="1150" b="0" i="0">
                <a:solidFill>
                  <a:srgbClr val="414D5C"/>
                </a:solidFill>
                <a:latin typeface="Helvetica Neue"/>
              </a:rPr>
              <a:t>−$4,472</a:t>
            </a:r>
          </a:p>
        </p:txBody>
      </p:sp>
      <p:sp>
        <p:nvSpPr>
          <p:cNvPr id="26" name="Rectangle 25"/>
          <p:cNvSpPr/>
          <p:nvPr/>
        </p:nvSpPr>
        <p:spPr>
          <a:xfrm>
            <a:off x="822960" y="3579876"/>
            <a:ext cx="10332720" cy="9525"/>
          </a:xfrm>
          <a:prstGeom prst="rect">
            <a:avLst/>
          </a:prstGeom>
          <a:solidFill>
            <a:srgbClr val="D7D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 y="3671316"/>
            <a:ext cx="3072384" cy="320040"/>
          </a:xfrm>
          <a:prstGeom prst="rect">
            <a:avLst/>
          </a:prstGeom>
          <a:noFill/>
        </p:spPr>
        <p:txBody>
          <a:bodyPr wrap="square" lIns="0" rIns="0" tIns="0" bIns="0">
            <a:spAutoFit/>
          </a:bodyPr>
          <a:lstStyle/>
          <a:p>
            <a:pPr algn="l">
              <a:lnSpc>
                <a:spcPct val="120000"/>
              </a:lnSpc>
              <a:spcBef>
                <a:spcPts val="0"/>
              </a:spcBef>
              <a:spcAft>
                <a:spcPts val="0"/>
              </a:spcAft>
            </a:pPr>
            <a:r>
              <a:rPr sz="1150" b="1" i="0">
                <a:solidFill>
                  <a:srgbClr val="16202E"/>
                </a:solidFill>
                <a:latin typeface="Helvetica Neue"/>
              </a:rPr>
              <a:t>Capital need to break-even</a:t>
            </a:r>
          </a:p>
        </p:txBody>
      </p:sp>
      <p:sp>
        <p:nvSpPr>
          <p:cNvPr id="28" name="TextBox 27"/>
          <p:cNvSpPr txBox="1"/>
          <p:nvPr/>
        </p:nvSpPr>
        <p:spPr>
          <a:xfrm>
            <a:off x="4023360" y="3671316"/>
            <a:ext cx="2249424" cy="320040"/>
          </a:xfrm>
          <a:prstGeom prst="rect">
            <a:avLst/>
          </a:prstGeom>
          <a:noFill/>
        </p:spPr>
        <p:txBody>
          <a:bodyPr wrap="square" lIns="0" rIns="0" tIns="0" bIns="0">
            <a:spAutoFit/>
          </a:bodyPr>
          <a:lstStyle/>
          <a:p>
            <a:pPr algn="l">
              <a:lnSpc>
                <a:spcPct val="120000"/>
              </a:lnSpc>
              <a:spcBef>
                <a:spcPts val="0"/>
              </a:spcBef>
              <a:spcAft>
                <a:spcPts val="0"/>
              </a:spcAft>
            </a:pPr>
            <a:r>
              <a:rPr sz="1150" b="0" i="0">
                <a:solidFill>
                  <a:srgbClr val="414D5C"/>
                </a:solidFill>
                <a:latin typeface="Helvetica Neue"/>
              </a:rPr>
              <a:t>$29,069</a:t>
            </a:r>
          </a:p>
        </p:txBody>
      </p:sp>
      <p:sp>
        <p:nvSpPr>
          <p:cNvPr id="29" name="TextBox 28"/>
          <p:cNvSpPr txBox="1"/>
          <p:nvPr/>
        </p:nvSpPr>
        <p:spPr>
          <a:xfrm>
            <a:off x="6400800" y="3671316"/>
            <a:ext cx="2249424" cy="320040"/>
          </a:xfrm>
          <a:prstGeom prst="rect">
            <a:avLst/>
          </a:prstGeom>
          <a:noFill/>
        </p:spPr>
        <p:txBody>
          <a:bodyPr wrap="square" lIns="0" rIns="0" tIns="0" bIns="0">
            <a:spAutoFit/>
          </a:bodyPr>
          <a:lstStyle/>
          <a:p>
            <a:pPr algn="l">
              <a:lnSpc>
                <a:spcPct val="120000"/>
              </a:lnSpc>
              <a:spcBef>
                <a:spcPts val="0"/>
              </a:spcBef>
              <a:spcAft>
                <a:spcPts val="0"/>
              </a:spcAft>
            </a:pPr>
            <a:r>
              <a:rPr sz="1150" b="0" i="0">
                <a:solidFill>
                  <a:srgbClr val="414D5C"/>
                </a:solidFill>
                <a:latin typeface="Helvetica Neue"/>
              </a:rPr>
              <a:t>$32,738</a:t>
            </a:r>
          </a:p>
        </p:txBody>
      </p:sp>
      <p:sp>
        <p:nvSpPr>
          <p:cNvPr id="30" name="TextBox 29"/>
          <p:cNvSpPr txBox="1"/>
          <p:nvPr/>
        </p:nvSpPr>
        <p:spPr>
          <a:xfrm>
            <a:off x="8778240" y="3671316"/>
            <a:ext cx="2249424" cy="320040"/>
          </a:xfrm>
          <a:prstGeom prst="rect">
            <a:avLst/>
          </a:prstGeom>
          <a:noFill/>
        </p:spPr>
        <p:txBody>
          <a:bodyPr wrap="square" lIns="0" rIns="0" tIns="0" bIns="0">
            <a:spAutoFit/>
          </a:bodyPr>
          <a:lstStyle/>
          <a:p>
            <a:pPr algn="l">
              <a:lnSpc>
                <a:spcPct val="120000"/>
              </a:lnSpc>
              <a:spcBef>
                <a:spcPts val="0"/>
              </a:spcBef>
              <a:spcAft>
                <a:spcPts val="0"/>
              </a:spcAft>
            </a:pPr>
            <a:r>
              <a:rPr sz="1150" b="0" i="0">
                <a:solidFill>
                  <a:srgbClr val="414D5C"/>
                </a:solidFill>
                <a:latin typeface="Helvetica Neue"/>
              </a:rPr>
              <a:t>$31,557</a:t>
            </a:r>
          </a:p>
        </p:txBody>
      </p:sp>
      <p:sp>
        <p:nvSpPr>
          <p:cNvPr id="31" name="Rectangle 30"/>
          <p:cNvSpPr/>
          <p:nvPr/>
        </p:nvSpPr>
        <p:spPr>
          <a:xfrm>
            <a:off x="822960" y="3899916"/>
            <a:ext cx="10332720" cy="9525"/>
          </a:xfrm>
          <a:prstGeom prst="rect">
            <a:avLst/>
          </a:prstGeom>
          <a:solidFill>
            <a:srgbClr val="D7D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960" y="3991356"/>
            <a:ext cx="3072384" cy="320040"/>
          </a:xfrm>
          <a:prstGeom prst="rect">
            <a:avLst/>
          </a:prstGeom>
          <a:noFill/>
        </p:spPr>
        <p:txBody>
          <a:bodyPr wrap="square" lIns="0" rIns="0" tIns="0" bIns="0">
            <a:spAutoFit/>
          </a:bodyPr>
          <a:lstStyle/>
          <a:p>
            <a:pPr algn="l">
              <a:lnSpc>
                <a:spcPct val="120000"/>
              </a:lnSpc>
              <a:spcBef>
                <a:spcPts val="0"/>
              </a:spcBef>
              <a:spcAft>
                <a:spcPts val="0"/>
              </a:spcAft>
            </a:pPr>
            <a:r>
              <a:rPr sz="1150" b="1" i="0">
                <a:solidFill>
                  <a:srgbClr val="16202E"/>
                </a:solidFill>
                <a:latin typeface="Helvetica Neue"/>
              </a:rPr>
              <a:t>First month operating income ≥ 0</a:t>
            </a:r>
          </a:p>
        </p:txBody>
      </p:sp>
      <p:sp>
        <p:nvSpPr>
          <p:cNvPr id="33" name="TextBox 32"/>
          <p:cNvSpPr txBox="1"/>
          <p:nvPr/>
        </p:nvSpPr>
        <p:spPr>
          <a:xfrm>
            <a:off x="4023360" y="3991356"/>
            <a:ext cx="2249424" cy="320040"/>
          </a:xfrm>
          <a:prstGeom prst="rect">
            <a:avLst/>
          </a:prstGeom>
          <a:noFill/>
        </p:spPr>
        <p:txBody>
          <a:bodyPr wrap="square" lIns="0" rIns="0" tIns="0" bIns="0">
            <a:spAutoFit/>
          </a:bodyPr>
          <a:lstStyle/>
          <a:p>
            <a:pPr algn="l">
              <a:lnSpc>
                <a:spcPct val="120000"/>
              </a:lnSpc>
              <a:spcBef>
                <a:spcPts val="0"/>
              </a:spcBef>
              <a:spcAft>
                <a:spcPts val="0"/>
              </a:spcAft>
            </a:pPr>
            <a:r>
              <a:rPr sz="1150" b="0" i="0">
                <a:solidFill>
                  <a:srgbClr val="414D5C"/>
                </a:solidFill>
                <a:latin typeface="Helvetica Neue"/>
              </a:rPr>
              <a:t>7</a:t>
            </a:r>
          </a:p>
        </p:txBody>
      </p:sp>
      <p:sp>
        <p:nvSpPr>
          <p:cNvPr id="34" name="TextBox 33"/>
          <p:cNvSpPr txBox="1"/>
          <p:nvPr/>
        </p:nvSpPr>
        <p:spPr>
          <a:xfrm>
            <a:off x="6400800" y="3991356"/>
            <a:ext cx="2249424" cy="320040"/>
          </a:xfrm>
          <a:prstGeom prst="rect">
            <a:avLst/>
          </a:prstGeom>
          <a:noFill/>
        </p:spPr>
        <p:txBody>
          <a:bodyPr wrap="square" lIns="0" rIns="0" tIns="0" bIns="0">
            <a:spAutoFit/>
          </a:bodyPr>
          <a:lstStyle/>
          <a:p>
            <a:pPr algn="l">
              <a:lnSpc>
                <a:spcPct val="120000"/>
              </a:lnSpc>
              <a:spcBef>
                <a:spcPts val="0"/>
              </a:spcBef>
              <a:spcAft>
                <a:spcPts val="0"/>
              </a:spcAft>
            </a:pPr>
            <a:r>
              <a:rPr sz="1150" b="0" i="0">
                <a:solidFill>
                  <a:srgbClr val="414D5C"/>
                </a:solidFill>
                <a:latin typeface="Helvetica Neue"/>
              </a:rPr>
              <a:t>4</a:t>
            </a:r>
          </a:p>
        </p:txBody>
      </p:sp>
      <p:sp>
        <p:nvSpPr>
          <p:cNvPr id="35" name="TextBox 34"/>
          <p:cNvSpPr txBox="1"/>
          <p:nvPr/>
        </p:nvSpPr>
        <p:spPr>
          <a:xfrm>
            <a:off x="8778240" y="3991356"/>
            <a:ext cx="2249424" cy="320040"/>
          </a:xfrm>
          <a:prstGeom prst="rect">
            <a:avLst/>
          </a:prstGeom>
          <a:noFill/>
        </p:spPr>
        <p:txBody>
          <a:bodyPr wrap="square" lIns="0" rIns="0" tIns="0" bIns="0">
            <a:spAutoFit/>
          </a:bodyPr>
          <a:lstStyle/>
          <a:p>
            <a:pPr algn="l">
              <a:lnSpc>
                <a:spcPct val="120000"/>
              </a:lnSpc>
              <a:spcBef>
                <a:spcPts val="0"/>
              </a:spcBef>
              <a:spcAft>
                <a:spcPts val="0"/>
              </a:spcAft>
            </a:pPr>
            <a:r>
              <a:rPr sz="1150" b="0" i="0">
                <a:solidFill>
                  <a:srgbClr val="414D5C"/>
                </a:solidFill>
                <a:latin typeface="Helvetica Neue"/>
              </a:rPr>
              <a:t>15</a:t>
            </a:r>
          </a:p>
        </p:txBody>
      </p:sp>
      <p:sp>
        <p:nvSpPr>
          <p:cNvPr id="36" name="Rectangle 35"/>
          <p:cNvSpPr/>
          <p:nvPr/>
        </p:nvSpPr>
        <p:spPr>
          <a:xfrm>
            <a:off x="822960" y="4219956"/>
            <a:ext cx="10332720" cy="9525"/>
          </a:xfrm>
          <a:prstGeom prst="rect">
            <a:avLst/>
          </a:prstGeom>
          <a:solidFill>
            <a:srgbClr val="D7D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22960" y="4311396"/>
            <a:ext cx="3072384" cy="320040"/>
          </a:xfrm>
          <a:prstGeom prst="rect">
            <a:avLst/>
          </a:prstGeom>
          <a:noFill/>
        </p:spPr>
        <p:txBody>
          <a:bodyPr wrap="square" lIns="0" rIns="0" tIns="0" bIns="0">
            <a:spAutoFit/>
          </a:bodyPr>
          <a:lstStyle/>
          <a:p>
            <a:pPr algn="l">
              <a:lnSpc>
                <a:spcPct val="120000"/>
              </a:lnSpc>
              <a:spcBef>
                <a:spcPts val="0"/>
              </a:spcBef>
              <a:spcAft>
                <a:spcPts val="0"/>
              </a:spcAft>
            </a:pPr>
            <a:r>
              <a:rPr sz="1150" b="1" i="0">
                <a:solidFill>
                  <a:srgbClr val="16202E"/>
                </a:solidFill>
                <a:latin typeface="Helvetica Neue"/>
              </a:rPr>
              <a:t>Gross margin</a:t>
            </a:r>
          </a:p>
        </p:txBody>
      </p:sp>
      <p:sp>
        <p:nvSpPr>
          <p:cNvPr id="38" name="TextBox 37"/>
          <p:cNvSpPr txBox="1"/>
          <p:nvPr/>
        </p:nvSpPr>
        <p:spPr>
          <a:xfrm>
            <a:off x="4023360" y="4311396"/>
            <a:ext cx="2249424" cy="320040"/>
          </a:xfrm>
          <a:prstGeom prst="rect">
            <a:avLst/>
          </a:prstGeom>
          <a:noFill/>
        </p:spPr>
        <p:txBody>
          <a:bodyPr wrap="square" lIns="0" rIns="0" tIns="0" bIns="0">
            <a:spAutoFit/>
          </a:bodyPr>
          <a:lstStyle/>
          <a:p>
            <a:pPr algn="l">
              <a:lnSpc>
                <a:spcPct val="120000"/>
              </a:lnSpc>
              <a:spcBef>
                <a:spcPts val="0"/>
              </a:spcBef>
              <a:spcAft>
                <a:spcPts val="0"/>
              </a:spcAft>
            </a:pPr>
            <a:r>
              <a:rPr sz="1150" b="0" i="0">
                <a:solidFill>
                  <a:srgbClr val="414D5C"/>
                </a:solidFill>
                <a:latin typeface="Helvetica Neue"/>
              </a:rPr>
              <a:t>89.0%</a:t>
            </a:r>
          </a:p>
        </p:txBody>
      </p:sp>
      <p:sp>
        <p:nvSpPr>
          <p:cNvPr id="39" name="TextBox 38"/>
          <p:cNvSpPr txBox="1"/>
          <p:nvPr/>
        </p:nvSpPr>
        <p:spPr>
          <a:xfrm>
            <a:off x="6400800" y="4311396"/>
            <a:ext cx="2249424" cy="320040"/>
          </a:xfrm>
          <a:prstGeom prst="rect">
            <a:avLst/>
          </a:prstGeom>
          <a:noFill/>
        </p:spPr>
        <p:txBody>
          <a:bodyPr wrap="square" lIns="0" rIns="0" tIns="0" bIns="0">
            <a:spAutoFit/>
          </a:bodyPr>
          <a:lstStyle/>
          <a:p>
            <a:pPr algn="l">
              <a:lnSpc>
                <a:spcPct val="120000"/>
              </a:lnSpc>
              <a:spcBef>
                <a:spcPts val="0"/>
              </a:spcBef>
              <a:spcAft>
                <a:spcPts val="0"/>
              </a:spcAft>
            </a:pPr>
            <a:r>
              <a:rPr sz="1150" b="0" i="0">
                <a:solidFill>
                  <a:srgbClr val="414D5C"/>
                </a:solidFill>
                <a:latin typeface="Helvetica Neue"/>
              </a:rPr>
              <a:t>91.0%</a:t>
            </a:r>
          </a:p>
        </p:txBody>
      </p:sp>
      <p:sp>
        <p:nvSpPr>
          <p:cNvPr id="40" name="TextBox 39"/>
          <p:cNvSpPr txBox="1"/>
          <p:nvPr/>
        </p:nvSpPr>
        <p:spPr>
          <a:xfrm>
            <a:off x="8778240" y="4311396"/>
            <a:ext cx="2249424" cy="320040"/>
          </a:xfrm>
          <a:prstGeom prst="rect">
            <a:avLst/>
          </a:prstGeom>
          <a:noFill/>
        </p:spPr>
        <p:txBody>
          <a:bodyPr wrap="square" lIns="0" rIns="0" tIns="0" bIns="0">
            <a:spAutoFit/>
          </a:bodyPr>
          <a:lstStyle/>
          <a:p>
            <a:pPr algn="l">
              <a:lnSpc>
                <a:spcPct val="120000"/>
              </a:lnSpc>
              <a:spcBef>
                <a:spcPts val="0"/>
              </a:spcBef>
              <a:spcAft>
                <a:spcPts val="0"/>
              </a:spcAft>
            </a:pPr>
            <a:r>
              <a:rPr sz="1150" b="0" i="0">
                <a:solidFill>
                  <a:srgbClr val="414D5C"/>
                </a:solidFill>
                <a:latin typeface="Helvetica Neue"/>
              </a:rPr>
              <a:t>79.0%</a:t>
            </a:r>
          </a:p>
        </p:txBody>
      </p:sp>
      <p:sp>
        <p:nvSpPr>
          <p:cNvPr id="41" name="Rectangle 40"/>
          <p:cNvSpPr/>
          <p:nvPr/>
        </p:nvSpPr>
        <p:spPr>
          <a:xfrm>
            <a:off x="822960" y="4539996"/>
            <a:ext cx="10332720" cy="9525"/>
          </a:xfrm>
          <a:prstGeom prst="rect">
            <a:avLst/>
          </a:prstGeom>
          <a:solidFill>
            <a:srgbClr val="D7D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22960" y="4631436"/>
            <a:ext cx="3072384" cy="320040"/>
          </a:xfrm>
          <a:prstGeom prst="rect">
            <a:avLst/>
          </a:prstGeom>
          <a:noFill/>
        </p:spPr>
        <p:txBody>
          <a:bodyPr wrap="square" lIns="0" rIns="0" tIns="0" bIns="0">
            <a:spAutoFit/>
          </a:bodyPr>
          <a:lstStyle/>
          <a:p>
            <a:pPr algn="l">
              <a:lnSpc>
                <a:spcPct val="120000"/>
              </a:lnSpc>
              <a:spcBef>
                <a:spcPts val="0"/>
              </a:spcBef>
              <a:spcAft>
                <a:spcPts val="0"/>
              </a:spcAft>
            </a:pPr>
            <a:r>
              <a:rPr sz="1150" b="1" i="0">
                <a:solidFill>
                  <a:srgbClr val="16202E"/>
                </a:solidFill>
                <a:latin typeface="Helvetica Neue"/>
              </a:rPr>
              <a:t>ACV</a:t>
            </a:r>
          </a:p>
        </p:txBody>
      </p:sp>
      <p:sp>
        <p:nvSpPr>
          <p:cNvPr id="43" name="TextBox 42"/>
          <p:cNvSpPr txBox="1"/>
          <p:nvPr/>
        </p:nvSpPr>
        <p:spPr>
          <a:xfrm>
            <a:off x="4023360" y="4631436"/>
            <a:ext cx="2249424" cy="320040"/>
          </a:xfrm>
          <a:prstGeom prst="rect">
            <a:avLst/>
          </a:prstGeom>
          <a:noFill/>
        </p:spPr>
        <p:txBody>
          <a:bodyPr wrap="square" lIns="0" rIns="0" tIns="0" bIns="0">
            <a:spAutoFit/>
          </a:bodyPr>
          <a:lstStyle/>
          <a:p>
            <a:pPr algn="l">
              <a:lnSpc>
                <a:spcPct val="120000"/>
              </a:lnSpc>
              <a:spcBef>
                <a:spcPts val="0"/>
              </a:spcBef>
              <a:spcAft>
                <a:spcPts val="0"/>
              </a:spcAft>
            </a:pPr>
            <a:r>
              <a:rPr sz="1150" b="0" i="0">
                <a:solidFill>
                  <a:srgbClr val="414D5C"/>
                </a:solidFill>
                <a:latin typeface="Helvetica Neue"/>
              </a:rPr>
              <a:t>$9,600</a:t>
            </a:r>
          </a:p>
        </p:txBody>
      </p:sp>
      <p:sp>
        <p:nvSpPr>
          <p:cNvPr id="44" name="TextBox 43"/>
          <p:cNvSpPr txBox="1"/>
          <p:nvPr/>
        </p:nvSpPr>
        <p:spPr>
          <a:xfrm>
            <a:off x="6400800" y="4631436"/>
            <a:ext cx="2249424" cy="320040"/>
          </a:xfrm>
          <a:prstGeom prst="rect">
            <a:avLst/>
          </a:prstGeom>
          <a:noFill/>
        </p:spPr>
        <p:txBody>
          <a:bodyPr wrap="square" lIns="0" rIns="0" tIns="0" bIns="0">
            <a:spAutoFit/>
          </a:bodyPr>
          <a:lstStyle/>
          <a:p>
            <a:pPr algn="l">
              <a:lnSpc>
                <a:spcPct val="120000"/>
              </a:lnSpc>
              <a:spcBef>
                <a:spcPts val="0"/>
              </a:spcBef>
              <a:spcAft>
                <a:spcPts val="0"/>
              </a:spcAft>
            </a:pPr>
            <a:r>
              <a:rPr sz="1150" b="0" i="0">
                <a:solidFill>
                  <a:srgbClr val="414D5C"/>
                </a:solidFill>
                <a:latin typeface="Helvetica Neue"/>
              </a:rPr>
              <a:t>$11,000</a:t>
            </a:r>
          </a:p>
        </p:txBody>
      </p:sp>
      <p:sp>
        <p:nvSpPr>
          <p:cNvPr id="45" name="TextBox 44"/>
          <p:cNvSpPr txBox="1"/>
          <p:nvPr/>
        </p:nvSpPr>
        <p:spPr>
          <a:xfrm>
            <a:off x="8778240" y="4631436"/>
            <a:ext cx="2249424" cy="320040"/>
          </a:xfrm>
          <a:prstGeom prst="rect">
            <a:avLst/>
          </a:prstGeom>
          <a:noFill/>
        </p:spPr>
        <p:txBody>
          <a:bodyPr wrap="square" lIns="0" rIns="0" tIns="0" bIns="0">
            <a:spAutoFit/>
          </a:bodyPr>
          <a:lstStyle/>
          <a:p>
            <a:pPr algn="l">
              <a:lnSpc>
                <a:spcPct val="120000"/>
              </a:lnSpc>
              <a:spcBef>
                <a:spcPts val="0"/>
              </a:spcBef>
              <a:spcAft>
                <a:spcPts val="0"/>
              </a:spcAft>
            </a:pPr>
            <a:r>
              <a:rPr sz="1150" b="0" i="0">
                <a:solidFill>
                  <a:srgbClr val="414D5C"/>
                </a:solidFill>
                <a:latin typeface="Helvetica Neue"/>
              </a:rPr>
              <a:t>$7,200</a:t>
            </a:r>
          </a:p>
        </p:txBody>
      </p:sp>
      <p:sp>
        <p:nvSpPr>
          <p:cNvPr id="46" name="Rectangle 45"/>
          <p:cNvSpPr/>
          <p:nvPr/>
        </p:nvSpPr>
        <p:spPr>
          <a:xfrm>
            <a:off x="822960" y="4860036"/>
            <a:ext cx="10332720" cy="9525"/>
          </a:xfrm>
          <a:prstGeom prst="rect">
            <a:avLst/>
          </a:prstGeom>
          <a:solidFill>
            <a:srgbClr val="D7D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22960" y="4951476"/>
            <a:ext cx="3072384" cy="320040"/>
          </a:xfrm>
          <a:prstGeom prst="rect">
            <a:avLst/>
          </a:prstGeom>
          <a:noFill/>
        </p:spPr>
        <p:txBody>
          <a:bodyPr wrap="square" lIns="0" rIns="0" tIns="0" bIns="0">
            <a:spAutoFit/>
          </a:bodyPr>
          <a:lstStyle/>
          <a:p>
            <a:pPr algn="l">
              <a:lnSpc>
                <a:spcPct val="120000"/>
              </a:lnSpc>
              <a:spcBef>
                <a:spcPts val="0"/>
              </a:spcBef>
              <a:spcAft>
                <a:spcPts val="0"/>
              </a:spcAft>
            </a:pPr>
            <a:r>
              <a:rPr sz="1150" b="1" i="0">
                <a:solidFill>
                  <a:srgbClr val="16202E"/>
                </a:solidFill>
                <a:latin typeface="Helvetica Neue"/>
              </a:rPr>
              <a:t>CAC / payback</a:t>
            </a:r>
          </a:p>
        </p:txBody>
      </p:sp>
      <p:sp>
        <p:nvSpPr>
          <p:cNvPr id="48" name="TextBox 47"/>
          <p:cNvSpPr txBox="1"/>
          <p:nvPr/>
        </p:nvSpPr>
        <p:spPr>
          <a:xfrm>
            <a:off x="4023360" y="4951476"/>
            <a:ext cx="2249424" cy="320040"/>
          </a:xfrm>
          <a:prstGeom prst="rect">
            <a:avLst/>
          </a:prstGeom>
          <a:noFill/>
        </p:spPr>
        <p:txBody>
          <a:bodyPr wrap="square" lIns="0" rIns="0" tIns="0" bIns="0">
            <a:spAutoFit/>
          </a:bodyPr>
          <a:lstStyle/>
          <a:p>
            <a:pPr algn="l">
              <a:lnSpc>
                <a:spcPct val="120000"/>
              </a:lnSpc>
              <a:spcBef>
                <a:spcPts val="0"/>
              </a:spcBef>
              <a:spcAft>
                <a:spcPts val="0"/>
              </a:spcAft>
            </a:pPr>
            <a:r>
              <a:rPr sz="1150" b="0" i="0">
                <a:solidFill>
                  <a:srgbClr val="414D5C"/>
                </a:solidFill>
                <a:latin typeface="Helvetica Neue"/>
              </a:rPr>
              <a:t>$1,225 / 1.7 mo</a:t>
            </a:r>
          </a:p>
        </p:txBody>
      </p:sp>
      <p:sp>
        <p:nvSpPr>
          <p:cNvPr id="49" name="TextBox 48"/>
          <p:cNvSpPr txBox="1"/>
          <p:nvPr/>
        </p:nvSpPr>
        <p:spPr>
          <a:xfrm>
            <a:off x="6400800" y="4951476"/>
            <a:ext cx="2249424" cy="320040"/>
          </a:xfrm>
          <a:prstGeom prst="rect">
            <a:avLst/>
          </a:prstGeom>
          <a:noFill/>
        </p:spPr>
        <p:txBody>
          <a:bodyPr wrap="square" lIns="0" rIns="0" tIns="0" bIns="0">
            <a:spAutoFit/>
          </a:bodyPr>
          <a:lstStyle/>
          <a:p>
            <a:pPr algn="l">
              <a:lnSpc>
                <a:spcPct val="120000"/>
              </a:lnSpc>
              <a:spcBef>
                <a:spcPts val="0"/>
              </a:spcBef>
              <a:spcAft>
                <a:spcPts val="0"/>
              </a:spcAft>
            </a:pPr>
            <a:r>
              <a:rPr sz="1150" b="0" i="0">
                <a:solidFill>
                  <a:srgbClr val="414D5C"/>
                </a:solidFill>
                <a:latin typeface="Helvetica Neue"/>
              </a:rPr>
              <a:t>$592 / 0.7 mo</a:t>
            </a:r>
          </a:p>
        </p:txBody>
      </p:sp>
      <p:sp>
        <p:nvSpPr>
          <p:cNvPr id="50" name="TextBox 49"/>
          <p:cNvSpPr txBox="1"/>
          <p:nvPr/>
        </p:nvSpPr>
        <p:spPr>
          <a:xfrm>
            <a:off x="8778240" y="4951476"/>
            <a:ext cx="2249424" cy="320040"/>
          </a:xfrm>
          <a:prstGeom prst="rect">
            <a:avLst/>
          </a:prstGeom>
          <a:noFill/>
        </p:spPr>
        <p:txBody>
          <a:bodyPr wrap="square" lIns="0" rIns="0" tIns="0" bIns="0">
            <a:spAutoFit/>
          </a:bodyPr>
          <a:lstStyle/>
          <a:p>
            <a:pPr algn="l">
              <a:lnSpc>
                <a:spcPct val="120000"/>
              </a:lnSpc>
              <a:spcBef>
                <a:spcPts val="0"/>
              </a:spcBef>
              <a:spcAft>
                <a:spcPts val="0"/>
              </a:spcAft>
            </a:pPr>
            <a:r>
              <a:rPr sz="1150" b="0" i="0">
                <a:solidFill>
                  <a:srgbClr val="414D5C"/>
                </a:solidFill>
                <a:latin typeface="Helvetica Neue"/>
              </a:rPr>
              <a:t>$3,009 / 6.3 mo</a:t>
            </a:r>
          </a:p>
        </p:txBody>
      </p:sp>
      <p:sp>
        <p:nvSpPr>
          <p:cNvPr id="51" name="Rectangle 50"/>
          <p:cNvSpPr/>
          <p:nvPr/>
        </p:nvSpPr>
        <p:spPr>
          <a:xfrm>
            <a:off x="822960" y="5180076"/>
            <a:ext cx="10332720" cy="9525"/>
          </a:xfrm>
          <a:prstGeom prst="rect">
            <a:avLst/>
          </a:prstGeom>
          <a:solidFill>
            <a:srgbClr val="D7D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22960" y="5271516"/>
            <a:ext cx="3072384" cy="320040"/>
          </a:xfrm>
          <a:prstGeom prst="rect">
            <a:avLst/>
          </a:prstGeom>
          <a:noFill/>
        </p:spPr>
        <p:txBody>
          <a:bodyPr wrap="square" lIns="0" rIns="0" tIns="0" bIns="0">
            <a:spAutoFit/>
          </a:bodyPr>
          <a:lstStyle/>
          <a:p>
            <a:pPr algn="l">
              <a:lnSpc>
                <a:spcPct val="120000"/>
              </a:lnSpc>
              <a:spcBef>
                <a:spcPts val="0"/>
              </a:spcBef>
              <a:spcAft>
                <a:spcPts val="0"/>
              </a:spcAft>
            </a:pPr>
            <a:r>
              <a:rPr sz="1150" b="1" i="0">
                <a:solidFill>
                  <a:srgbClr val="16202E"/>
                </a:solidFill>
                <a:latin typeface="Helvetica Neue"/>
              </a:rPr>
              <a:t>Net revenue retention</a:t>
            </a:r>
          </a:p>
        </p:txBody>
      </p:sp>
      <p:sp>
        <p:nvSpPr>
          <p:cNvPr id="53" name="TextBox 52"/>
          <p:cNvSpPr txBox="1"/>
          <p:nvPr/>
        </p:nvSpPr>
        <p:spPr>
          <a:xfrm>
            <a:off x="4023360" y="5271516"/>
            <a:ext cx="2249424" cy="320040"/>
          </a:xfrm>
          <a:prstGeom prst="rect">
            <a:avLst/>
          </a:prstGeom>
          <a:noFill/>
        </p:spPr>
        <p:txBody>
          <a:bodyPr wrap="square" lIns="0" rIns="0" tIns="0" bIns="0">
            <a:spAutoFit/>
          </a:bodyPr>
          <a:lstStyle/>
          <a:p>
            <a:pPr algn="l">
              <a:lnSpc>
                <a:spcPct val="120000"/>
              </a:lnSpc>
              <a:spcBef>
                <a:spcPts val="0"/>
              </a:spcBef>
              <a:spcAft>
                <a:spcPts val="0"/>
              </a:spcAft>
            </a:pPr>
            <a:r>
              <a:rPr sz="1150" b="0" i="0">
                <a:solidFill>
                  <a:srgbClr val="414D5C"/>
                </a:solidFill>
                <a:latin typeface="Helvetica Neue"/>
              </a:rPr>
              <a:t>98.0%</a:t>
            </a:r>
          </a:p>
        </p:txBody>
      </p:sp>
      <p:sp>
        <p:nvSpPr>
          <p:cNvPr id="54" name="TextBox 53"/>
          <p:cNvSpPr txBox="1"/>
          <p:nvPr/>
        </p:nvSpPr>
        <p:spPr>
          <a:xfrm>
            <a:off x="6400800" y="5271516"/>
            <a:ext cx="2249424" cy="320040"/>
          </a:xfrm>
          <a:prstGeom prst="rect">
            <a:avLst/>
          </a:prstGeom>
          <a:noFill/>
        </p:spPr>
        <p:txBody>
          <a:bodyPr wrap="square" lIns="0" rIns="0" tIns="0" bIns="0">
            <a:spAutoFit/>
          </a:bodyPr>
          <a:lstStyle/>
          <a:p>
            <a:pPr algn="l">
              <a:lnSpc>
                <a:spcPct val="120000"/>
              </a:lnSpc>
              <a:spcBef>
                <a:spcPts val="0"/>
              </a:spcBef>
              <a:spcAft>
                <a:spcPts val="0"/>
              </a:spcAft>
            </a:pPr>
            <a:r>
              <a:rPr sz="1150" b="0" i="0">
                <a:solidFill>
                  <a:srgbClr val="414D5C"/>
                </a:solidFill>
                <a:latin typeface="Helvetica Neue"/>
              </a:rPr>
              <a:t>103.0%</a:t>
            </a:r>
          </a:p>
        </p:txBody>
      </p:sp>
      <p:sp>
        <p:nvSpPr>
          <p:cNvPr id="55" name="TextBox 54"/>
          <p:cNvSpPr txBox="1"/>
          <p:nvPr/>
        </p:nvSpPr>
        <p:spPr>
          <a:xfrm>
            <a:off x="8778240" y="5271516"/>
            <a:ext cx="2249424" cy="320040"/>
          </a:xfrm>
          <a:prstGeom prst="rect">
            <a:avLst/>
          </a:prstGeom>
          <a:noFill/>
        </p:spPr>
        <p:txBody>
          <a:bodyPr wrap="square" lIns="0" rIns="0" tIns="0" bIns="0">
            <a:spAutoFit/>
          </a:bodyPr>
          <a:lstStyle/>
          <a:p>
            <a:pPr algn="l">
              <a:lnSpc>
                <a:spcPct val="120000"/>
              </a:lnSpc>
              <a:spcBef>
                <a:spcPts val="0"/>
              </a:spcBef>
              <a:spcAft>
                <a:spcPts val="0"/>
              </a:spcAft>
            </a:pPr>
            <a:r>
              <a:rPr sz="1150" b="0" i="0">
                <a:solidFill>
                  <a:srgbClr val="414D5C"/>
                </a:solidFill>
                <a:latin typeface="Helvetica Neue"/>
              </a:rPr>
              <a:t>88.0%</a:t>
            </a:r>
          </a:p>
        </p:txBody>
      </p:sp>
      <p:sp>
        <p:nvSpPr>
          <p:cNvPr id="56" name="Rectangle 55"/>
          <p:cNvSpPr/>
          <p:nvPr/>
        </p:nvSpPr>
        <p:spPr>
          <a:xfrm>
            <a:off x="822960" y="5500116"/>
            <a:ext cx="10332720" cy="9525"/>
          </a:xfrm>
          <a:prstGeom prst="rect">
            <a:avLst/>
          </a:prstGeom>
          <a:solidFill>
            <a:srgbClr val="D7D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22960" y="5591556"/>
            <a:ext cx="3072384" cy="320040"/>
          </a:xfrm>
          <a:prstGeom prst="rect">
            <a:avLst/>
          </a:prstGeom>
          <a:noFill/>
        </p:spPr>
        <p:txBody>
          <a:bodyPr wrap="square" lIns="0" rIns="0" tIns="0" bIns="0">
            <a:spAutoFit/>
          </a:bodyPr>
          <a:lstStyle/>
          <a:p>
            <a:pPr algn="l">
              <a:lnSpc>
                <a:spcPct val="120000"/>
              </a:lnSpc>
              <a:spcBef>
                <a:spcPts val="0"/>
              </a:spcBef>
              <a:spcAft>
                <a:spcPts val="0"/>
              </a:spcAft>
            </a:pPr>
            <a:r>
              <a:rPr sz="1150" b="1" i="0">
                <a:solidFill>
                  <a:srgbClr val="16202E"/>
                </a:solidFill>
                <a:latin typeface="Helvetica Neue"/>
              </a:rPr>
              <a:t>What it assumes</a:t>
            </a:r>
          </a:p>
        </p:txBody>
      </p:sp>
      <p:sp>
        <p:nvSpPr>
          <p:cNvPr id="58" name="TextBox 57"/>
          <p:cNvSpPr txBox="1"/>
          <p:nvPr/>
        </p:nvSpPr>
        <p:spPr>
          <a:xfrm>
            <a:off x="4023360" y="5591556"/>
            <a:ext cx="2249424" cy="320040"/>
          </a:xfrm>
          <a:prstGeom prst="rect">
            <a:avLst/>
          </a:prstGeom>
          <a:noFill/>
        </p:spPr>
        <p:txBody>
          <a:bodyPr wrap="square" lIns="0" rIns="0" tIns="0" bIns="0">
            <a:spAutoFit/>
          </a:bodyPr>
          <a:lstStyle/>
          <a:p>
            <a:pPr algn="l">
              <a:lnSpc>
                <a:spcPct val="120000"/>
              </a:lnSpc>
              <a:spcBef>
                <a:spcPts val="0"/>
              </a:spcBef>
              <a:spcAft>
                <a:spcPts val="0"/>
              </a:spcAft>
            </a:pPr>
            <a:r>
              <a:rPr sz="1150" b="0" i="0">
                <a:solidFill>
                  <a:srgbClr val="414D5C"/>
                </a:solidFill>
                <a:latin typeface="Helvetica Neue"/>
              </a:rPr>
              <a:t>0.35 cities/mo +5%/mo; contractor m13, engineer m28</a:t>
            </a:r>
          </a:p>
        </p:txBody>
      </p:sp>
      <p:sp>
        <p:nvSpPr>
          <p:cNvPr id="59" name="TextBox 58"/>
          <p:cNvSpPr txBox="1"/>
          <p:nvPr/>
        </p:nvSpPr>
        <p:spPr>
          <a:xfrm>
            <a:off x="6400800" y="5591556"/>
            <a:ext cx="2249424" cy="320040"/>
          </a:xfrm>
          <a:prstGeom prst="rect">
            <a:avLst/>
          </a:prstGeom>
          <a:noFill/>
        </p:spPr>
        <p:txBody>
          <a:bodyPr wrap="square" lIns="0" rIns="0" tIns="0" bIns="0">
            <a:spAutoFit/>
          </a:bodyPr>
          <a:lstStyle/>
          <a:p>
            <a:pPr algn="l">
              <a:lnSpc>
                <a:spcPct val="120000"/>
              </a:lnSpc>
              <a:spcBef>
                <a:spcPts val="0"/>
              </a:spcBef>
              <a:spcAft>
                <a:spcPts val="0"/>
              </a:spcAft>
            </a:pPr>
            <a:r>
              <a:rPr sz="1150" b="0" i="0">
                <a:solidFill>
                  <a:srgbClr val="414D5C"/>
                </a:solidFill>
                <a:latin typeface="Helvetica Neue"/>
              </a:rPr>
              <a:t>0.5 cities/mo +7%/mo; Core-heavy mix; hires pulled forward</a:t>
            </a:r>
          </a:p>
        </p:txBody>
      </p:sp>
      <p:sp>
        <p:nvSpPr>
          <p:cNvPr id="60" name="TextBox 59"/>
          <p:cNvSpPr txBox="1"/>
          <p:nvPr/>
        </p:nvSpPr>
        <p:spPr>
          <a:xfrm>
            <a:off x="8778240" y="5591556"/>
            <a:ext cx="2249424" cy="320040"/>
          </a:xfrm>
          <a:prstGeom prst="rect">
            <a:avLst/>
          </a:prstGeom>
          <a:noFill/>
        </p:spPr>
        <p:txBody>
          <a:bodyPr wrap="square" lIns="0" rIns="0" tIns="0" bIns="0">
            <a:spAutoFit/>
          </a:bodyPr>
          <a:lstStyle/>
          <a:p>
            <a:pPr algn="l">
              <a:lnSpc>
                <a:spcPct val="120000"/>
              </a:lnSpc>
              <a:spcBef>
                <a:spcPts val="0"/>
              </a:spcBef>
              <a:spcAft>
                <a:spcPts val="0"/>
              </a:spcAft>
            </a:pPr>
            <a:r>
              <a:rPr sz="1150" b="0" i="0">
                <a:solidFill>
                  <a:srgbClr val="414D5C"/>
                </a:solidFill>
                <a:latin typeface="Helvetica Neue"/>
              </a:rPr>
              <a:t>0.2 cities/mo; discounting to $7.2k; 1.2%/mo churn; never hires</a:t>
            </a:r>
          </a:p>
        </p:txBody>
      </p:sp>
      <p:sp>
        <p:nvSpPr>
          <p:cNvPr id="61" name="TextBox 60"/>
          <p:cNvSpPr txBox="1"/>
          <p:nvPr/>
        </p:nvSpPr>
        <p:spPr>
          <a:xfrm>
            <a:off x="822960" y="6053328"/>
            <a:ext cx="10332720" cy="274320"/>
          </a:xfrm>
          <a:prstGeom prst="rect">
            <a:avLst/>
          </a:prstGeom>
          <a:noFill/>
        </p:spPr>
        <p:txBody>
          <a:bodyPr wrap="square" lIns="0" rIns="0" tIns="0" bIns="0">
            <a:spAutoFit/>
          </a:bodyPr>
          <a:lstStyle/>
          <a:p>
            <a:pPr algn="l">
              <a:lnSpc>
                <a:spcPct val="125000"/>
              </a:lnSpc>
              <a:spcBef>
                <a:spcPts val="0"/>
              </a:spcBef>
              <a:spcAft>
                <a:spcPts val="0"/>
              </a:spcAft>
            </a:pPr>
            <a:r>
              <a:rPr sz="900" b="0" i="0">
                <a:solidFill>
                  <a:srgbClr val="8A939E"/>
                </a:solidFill>
                <a:latin typeface="Helvetica Neue"/>
              </a:rPr>
              <a:t>Source:  product/finance/strata/MODEL.md, engine v1 (30 Aug 2026). Estimates for planning; not investment advice.</a:t>
            </a:r>
          </a:p>
        </p:txBody>
      </p:sp>
      <p:sp>
        <p:nvSpPr>
          <p:cNvPr id="62" name="TextBox 61"/>
          <p:cNvSpPr txBox="1"/>
          <p:nvPr/>
        </p:nvSpPr>
        <p:spPr>
          <a:xfrm>
            <a:off x="822960" y="6419088"/>
            <a:ext cx="8778240" cy="274320"/>
          </a:xfrm>
          <a:prstGeom prst="rect">
            <a:avLst/>
          </a:prstGeom>
          <a:noFill/>
        </p:spPr>
        <p:txBody>
          <a:bodyPr wrap="square" lIns="0" rIns="0" tIns="0" bIns="0">
            <a:spAutoFit/>
          </a:bodyPr>
          <a:lstStyle/>
          <a:p>
            <a:pPr algn="l">
              <a:spcBef>
                <a:spcPts val="0"/>
              </a:spcBef>
              <a:spcAft>
                <a:spcPts val="0"/>
              </a:spcAft>
            </a:pPr>
            <a:r>
              <a:rPr sz="850" b="0" i="0">
                <a:solidFill>
                  <a:srgbClr val="8A939E"/>
                </a:solidFill>
                <a:latin typeface="Helvetica Neue"/>
              </a:rPr>
              <a:t>Strata Civic Solutions  ·  Pitch deck v1, 1 September 2026  ·  Draft for joseleos  ·  Confidential</a:t>
            </a:r>
          </a:p>
        </p:txBody>
      </p:sp>
      <p:sp>
        <p:nvSpPr>
          <p:cNvPr id="63" name="TextBox 62"/>
          <p:cNvSpPr txBox="1"/>
          <p:nvPr/>
        </p:nvSpPr>
        <p:spPr>
          <a:xfrm>
            <a:off x="10454335" y="6419088"/>
            <a:ext cx="914400" cy="274320"/>
          </a:xfrm>
          <a:prstGeom prst="rect">
            <a:avLst/>
          </a:prstGeom>
          <a:noFill/>
        </p:spPr>
        <p:txBody>
          <a:bodyPr wrap="square" lIns="0" rIns="0" tIns="0" bIns="0">
            <a:spAutoFit/>
          </a:bodyPr>
          <a:lstStyle/>
          <a:p>
            <a:pPr algn="r">
              <a:spcBef>
                <a:spcPts val="0"/>
              </a:spcBef>
              <a:spcAft>
                <a:spcPts val="0"/>
              </a:spcAft>
            </a:pPr>
            <a:r>
              <a:rPr sz="850" b="0" i="0">
                <a:solidFill>
                  <a:srgbClr val="8A939E"/>
                </a:solidFill>
                <a:latin typeface="Helvetica Neue"/>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10545775" cy="274320"/>
          </a:xfrm>
          <a:prstGeom prst="rect">
            <a:avLst/>
          </a:prstGeom>
          <a:noFill/>
        </p:spPr>
        <p:txBody>
          <a:bodyPr wrap="square" lIns="0" rIns="0" tIns="0" bIns="0">
            <a:spAutoFit/>
          </a:bodyPr>
          <a:lstStyle/>
          <a:p>
            <a:pPr algn="l">
              <a:spcBef>
                <a:spcPts val="0"/>
              </a:spcBef>
              <a:spcAft>
                <a:spcPts val="0"/>
              </a:spcAft>
            </a:pPr>
            <a:r>
              <a:rPr sz="1050" b="1" i="0">
                <a:solidFill>
                  <a:srgbClr val="1F7A6C"/>
                </a:solidFill>
                <a:latin typeface="Helvetica Neue"/>
              </a:rPr>
              <a:t>APPENDIX 2</a:t>
            </a:r>
          </a:p>
        </p:txBody>
      </p:sp>
      <p:sp>
        <p:nvSpPr>
          <p:cNvPr id="4" name="TextBox 3"/>
          <p:cNvSpPr txBox="1"/>
          <p:nvPr/>
        </p:nvSpPr>
        <p:spPr>
          <a:xfrm>
            <a:off x="822960" y="914400"/>
            <a:ext cx="10545775" cy="475488"/>
          </a:xfrm>
          <a:prstGeom prst="rect">
            <a:avLst/>
          </a:prstGeom>
          <a:noFill/>
        </p:spPr>
        <p:txBody>
          <a:bodyPr wrap="square" lIns="0" rIns="0" tIns="0" bIns="0">
            <a:spAutoFit/>
          </a:bodyPr>
          <a:lstStyle/>
          <a:p>
            <a:pPr algn="l">
              <a:lnSpc>
                <a:spcPct val="106000"/>
              </a:lnSpc>
              <a:spcBef>
                <a:spcPts val="0"/>
              </a:spcBef>
              <a:spcAft>
                <a:spcPts val="0"/>
              </a:spcAft>
            </a:pPr>
            <a:r>
              <a:rPr sz="3000" b="1" i="0">
                <a:solidFill>
                  <a:srgbClr val="16202E"/>
                </a:solidFill>
                <a:latin typeface="Helvetica Neue"/>
              </a:rPr>
              <a:t>How a Texas city actually buys this.</a:t>
            </a:r>
          </a:p>
        </p:txBody>
      </p:sp>
      <p:sp>
        <p:nvSpPr>
          <p:cNvPr id="5" name="TextBox 4"/>
          <p:cNvSpPr txBox="1"/>
          <p:nvPr/>
        </p:nvSpPr>
        <p:spPr>
          <a:xfrm>
            <a:off x="822960" y="1481328"/>
            <a:ext cx="9509760" cy="548640"/>
          </a:xfrm>
          <a:prstGeom prst="rect">
            <a:avLst/>
          </a:prstGeom>
          <a:noFill/>
        </p:spPr>
        <p:txBody>
          <a:bodyPr wrap="square" lIns="0" rIns="0" tIns="0" bIns="0">
            <a:spAutoFit/>
          </a:bodyPr>
          <a:lstStyle/>
          <a:p>
            <a:pPr algn="l">
              <a:lnSpc>
                <a:spcPct val="132000"/>
              </a:lnSpc>
              <a:spcBef>
                <a:spcPts val="0"/>
              </a:spcBef>
              <a:spcAft>
                <a:spcPts val="0"/>
              </a:spcAft>
            </a:pPr>
            <a:r>
              <a:rPr sz="1450" b="0" i="0">
                <a:solidFill>
                  <a:srgbClr val="414D5C"/>
                </a:solidFill>
                <a:latin typeface="Helvetica Neue"/>
              </a:rPr>
              <a:t>The mechanics that shaped the pricing, the calendar and the cost model.</a:t>
            </a:r>
          </a:p>
        </p:txBody>
      </p:sp>
      <p:sp>
        <p:nvSpPr>
          <p:cNvPr id="6" name="Rectangle 5"/>
          <p:cNvSpPr/>
          <p:nvPr/>
        </p:nvSpPr>
        <p:spPr>
          <a:xfrm>
            <a:off x="822960" y="1933956"/>
            <a:ext cx="10545775" cy="12700"/>
          </a:xfrm>
          <a:prstGeom prst="rect">
            <a:avLst/>
          </a:prstGeom>
          <a:solidFill>
            <a:srgbClr val="D7D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318004"/>
            <a:ext cx="4937760" cy="365760"/>
          </a:xfrm>
          <a:prstGeom prst="rect">
            <a:avLst/>
          </a:prstGeom>
          <a:noFill/>
        </p:spPr>
        <p:txBody>
          <a:bodyPr wrap="square" lIns="0" rIns="0" tIns="0" bIns="0">
            <a:spAutoFit/>
          </a:bodyPr>
          <a:lstStyle/>
          <a:p>
            <a:pPr algn="l">
              <a:lnSpc>
                <a:spcPct val="125000"/>
              </a:lnSpc>
              <a:spcBef>
                <a:spcPts val="0"/>
              </a:spcBef>
            </a:pPr>
            <a:r>
              <a:rPr sz="1300" b="1">
                <a:solidFill>
                  <a:srgbClr val="16202E"/>
                </a:solidFill>
                <a:latin typeface="Helvetica Neue"/>
              </a:rPr>
              <a:t>Competitive bidding above $50,000. </a:t>
            </a:r>
            <a:r>
              <a:rPr sz="1300">
                <a:solidFill>
                  <a:srgbClr val="414D5C"/>
                </a:solidFill>
                <a:latin typeface="Helvetica Neue"/>
              </a:rPr>
              <a:t>Tex. Loc. Gov't Code §252.021. Below it the city manager can usually sign; many charters set lower internal thresholds, so we verify per city.</a:t>
            </a:r>
          </a:p>
          <a:p>
            <a:pPr>
              <a:lnSpc>
                <a:spcPct val="125000"/>
              </a:lnSpc>
              <a:spcBef>
                <a:spcPts val="1300"/>
              </a:spcBef>
            </a:pPr>
            <a:r>
              <a:rPr sz="1300" b="1">
                <a:solidFill>
                  <a:srgbClr val="16202E"/>
                </a:solidFill>
                <a:latin typeface="Helvetica Neue"/>
              </a:rPr>
              <a:t>$3k–$50k needs two HUB quotes where practicable. </a:t>
            </a:r>
            <a:r>
              <a:rPr sz="1300">
                <a:solidFill>
                  <a:srgbClr val="414D5C"/>
                </a:solidFill>
                <a:latin typeface="Helvetica Neue"/>
              </a:rPr>
              <a:t>§252.0215 — a form, not a season.</a:t>
            </a:r>
          </a:p>
          <a:p>
            <a:pPr>
              <a:lnSpc>
                <a:spcPct val="125000"/>
              </a:lnSpc>
              <a:spcBef>
                <a:spcPts val="1300"/>
              </a:spcBef>
            </a:pPr>
            <a:r>
              <a:rPr sz="1300" b="1">
                <a:solidFill>
                  <a:srgbClr val="16202E"/>
                </a:solidFill>
                <a:latin typeface="Helvetica Neue"/>
              </a:rPr>
              <a:t>Cooperative purchasing is the shortcut for larger cities. </a:t>
            </a:r>
            <a:r>
              <a:rPr sz="1300">
                <a:solidFill>
                  <a:srgbClr val="414D5C"/>
                </a:solidFill>
                <a:latin typeface="Helvetica Neue"/>
              </a:rPr>
              <a:t>BuyBoard, TIPS, DIR — later-stage, not the beachhead motion.</a:t>
            </a:r>
          </a:p>
          <a:p>
            <a:pPr>
              <a:lnSpc>
                <a:spcPct val="125000"/>
              </a:lnSpc>
              <a:spcBef>
                <a:spcPts val="1300"/>
              </a:spcBef>
            </a:pPr>
            <a:r>
              <a:rPr sz="1300" b="1">
                <a:solidFill>
                  <a:srgbClr val="16202E"/>
                </a:solidFill>
                <a:latin typeface="Helvetica Neue"/>
              </a:rPr>
              <a:t>TX-RAMP binds state agencies, not cities. </a:t>
            </a:r>
            <a:r>
              <a:rPr sz="1300">
                <a:solidFill>
                  <a:srgbClr val="414D5C"/>
                </a:solidFill>
                <a:latin typeface="Helvetica Neue"/>
              </a:rPr>
              <a:t>Tex. Gov't Code §2054.0593 — but cities borrow the questionnaire.</a:t>
            </a:r>
          </a:p>
        </p:txBody>
      </p:sp>
      <p:sp>
        <p:nvSpPr>
          <p:cNvPr id="8" name="TextBox 7"/>
          <p:cNvSpPr txBox="1"/>
          <p:nvPr/>
        </p:nvSpPr>
        <p:spPr>
          <a:xfrm>
            <a:off x="6172200" y="2318004"/>
            <a:ext cx="4937760" cy="365760"/>
          </a:xfrm>
          <a:prstGeom prst="rect">
            <a:avLst/>
          </a:prstGeom>
          <a:noFill/>
        </p:spPr>
        <p:txBody>
          <a:bodyPr wrap="square" lIns="0" rIns="0" tIns="0" bIns="0">
            <a:spAutoFit/>
          </a:bodyPr>
          <a:lstStyle/>
          <a:p>
            <a:pPr algn="l">
              <a:lnSpc>
                <a:spcPct val="125000"/>
              </a:lnSpc>
              <a:spcBef>
                <a:spcPts val="0"/>
              </a:spcBef>
            </a:pPr>
            <a:r>
              <a:rPr sz="1300" b="1">
                <a:solidFill>
                  <a:srgbClr val="16202E"/>
                </a:solidFill>
                <a:latin typeface="Helvetica Neue"/>
              </a:rPr>
              <a:t>Everything is a public record. </a:t>
            </a:r>
            <a:r>
              <a:rPr sz="1300">
                <a:solidFill>
                  <a:srgbClr val="414D5C"/>
                </a:solidFill>
                <a:latin typeface="Helvetica Neue"/>
              </a:rPr>
              <a:t>Public Information Act, Tex. Gov't Code ch. 552 — contracts and data handling are disclosable. We hold documents the city already published, so there is little that was not public to begin with.</a:t>
            </a:r>
          </a:p>
          <a:p>
            <a:pPr>
              <a:lnSpc>
                <a:spcPct val="125000"/>
              </a:lnSpc>
              <a:spcBef>
                <a:spcPts val="1300"/>
              </a:spcBef>
            </a:pPr>
            <a:r>
              <a:rPr sz="1300" b="1">
                <a:solidFill>
                  <a:srgbClr val="16202E"/>
                </a:solidFill>
                <a:latin typeface="Helvetica Neue"/>
              </a:rPr>
              <a:t>$1M GL + cyber certificate before data access. </a:t>
            </a:r>
            <a:r>
              <a:rPr sz="1300">
                <a:solidFill>
                  <a:srgbClr val="414D5C"/>
                </a:solidFill>
                <a:latin typeface="Helvetica Neue"/>
              </a:rPr>
              <a:t>A routine precondition — an early G&amp;A line in the model, not a later one.</a:t>
            </a:r>
          </a:p>
          <a:p>
            <a:pPr>
              <a:lnSpc>
                <a:spcPct val="125000"/>
              </a:lnSpc>
              <a:spcBef>
                <a:spcPts val="1300"/>
              </a:spcBef>
            </a:pPr>
            <a:r>
              <a:rPr sz="1300" b="1">
                <a:solidFill>
                  <a:srgbClr val="16202E"/>
                </a:solidFill>
                <a:latin typeface="Helvetica Neue"/>
              </a:rPr>
              <a:t>Buying and renewal cluster Aug–Sep. </a:t>
            </a:r>
            <a:r>
              <a:rPr sz="1300">
                <a:solidFill>
                  <a:srgbClr val="414D5C"/>
                </a:solidFill>
                <a:latin typeface="Helvetica Neue"/>
              </a:rPr>
              <a:t>Texas city fiscal years mostly begin Oct 1 (Loc. Gov't Code ch. 102).</a:t>
            </a:r>
          </a:p>
          <a:p>
            <a:pPr>
              <a:lnSpc>
                <a:spcPct val="125000"/>
              </a:lnSpc>
              <a:spcBef>
                <a:spcPts val="1300"/>
              </a:spcBef>
            </a:pPr>
            <a:r>
              <a:rPr sz="1300" b="1">
                <a:solidFill>
                  <a:srgbClr val="16202E"/>
                </a:solidFill>
                <a:latin typeface="Helvetica Neue"/>
              </a:rPr>
              <a:t>Channels: TML, TCMA, ELGL. </a:t>
            </a:r>
            <a:r>
              <a:rPr sz="1300">
                <a:solidFill>
                  <a:srgbClr val="414D5C"/>
                </a:solidFill>
                <a:latin typeface="Helvetica Neue"/>
              </a:rPr>
              <a:t>TML annual conference 11–13 Nov 2026, San Antonio. Advisor-led warm intros are the highest-ROI channel at zero budget.</a:t>
            </a:r>
          </a:p>
        </p:txBody>
      </p:sp>
      <p:sp>
        <p:nvSpPr>
          <p:cNvPr id="9" name="TextBox 8"/>
          <p:cNvSpPr txBox="1"/>
          <p:nvPr/>
        </p:nvSpPr>
        <p:spPr>
          <a:xfrm>
            <a:off x="822960" y="6053328"/>
            <a:ext cx="10332720" cy="274320"/>
          </a:xfrm>
          <a:prstGeom prst="rect">
            <a:avLst/>
          </a:prstGeom>
          <a:noFill/>
        </p:spPr>
        <p:txBody>
          <a:bodyPr wrap="square" lIns="0" rIns="0" tIns="0" bIns="0">
            <a:spAutoFit/>
          </a:bodyPr>
          <a:lstStyle/>
          <a:p>
            <a:pPr algn="l">
              <a:lnSpc>
                <a:spcPct val="125000"/>
              </a:lnSpc>
              <a:spcBef>
                <a:spcPts val="0"/>
              </a:spcBef>
              <a:spcAft>
                <a:spcPts val="0"/>
              </a:spcAft>
            </a:pPr>
            <a:r>
              <a:rPr sz="900" b="0" i="0">
                <a:solidFill>
                  <a:srgbClr val="8A939E"/>
                </a:solidFill>
                <a:latin typeface="Helvetica Neue"/>
              </a:rPr>
              <a:t>Source:  research/spaces/GOVTECH_MUNICIPAL.md — statutes cited inline.</a:t>
            </a:r>
          </a:p>
        </p:txBody>
      </p:sp>
      <p:sp>
        <p:nvSpPr>
          <p:cNvPr id="10" name="TextBox 9"/>
          <p:cNvSpPr txBox="1"/>
          <p:nvPr/>
        </p:nvSpPr>
        <p:spPr>
          <a:xfrm>
            <a:off x="822960" y="6419088"/>
            <a:ext cx="8778240" cy="274320"/>
          </a:xfrm>
          <a:prstGeom prst="rect">
            <a:avLst/>
          </a:prstGeom>
          <a:noFill/>
        </p:spPr>
        <p:txBody>
          <a:bodyPr wrap="square" lIns="0" rIns="0" tIns="0" bIns="0">
            <a:spAutoFit/>
          </a:bodyPr>
          <a:lstStyle/>
          <a:p>
            <a:pPr algn="l">
              <a:spcBef>
                <a:spcPts val="0"/>
              </a:spcBef>
              <a:spcAft>
                <a:spcPts val="0"/>
              </a:spcAft>
            </a:pPr>
            <a:r>
              <a:rPr sz="850" b="0" i="0">
                <a:solidFill>
                  <a:srgbClr val="8A939E"/>
                </a:solidFill>
                <a:latin typeface="Helvetica Neue"/>
              </a:rPr>
              <a:t>Strata Civic Solutions  ·  Pitch deck v1, 1 September 2026  ·  Draft for joseleos  ·  Confidential</a:t>
            </a:r>
          </a:p>
        </p:txBody>
      </p:sp>
      <p:sp>
        <p:nvSpPr>
          <p:cNvPr id="11" name="TextBox 10"/>
          <p:cNvSpPr txBox="1"/>
          <p:nvPr/>
        </p:nvSpPr>
        <p:spPr>
          <a:xfrm>
            <a:off x="10454335" y="6419088"/>
            <a:ext cx="914400" cy="274320"/>
          </a:xfrm>
          <a:prstGeom prst="rect">
            <a:avLst/>
          </a:prstGeom>
          <a:noFill/>
        </p:spPr>
        <p:txBody>
          <a:bodyPr wrap="square" lIns="0" rIns="0" tIns="0" bIns="0">
            <a:spAutoFit/>
          </a:bodyPr>
          <a:lstStyle/>
          <a:p>
            <a:pPr algn="r">
              <a:spcBef>
                <a:spcPts val="0"/>
              </a:spcBef>
              <a:spcAft>
                <a:spcPts val="0"/>
              </a:spcAft>
            </a:pPr>
            <a:r>
              <a:rPr sz="850" b="0" i="0">
                <a:solidFill>
                  <a:srgbClr val="8A939E"/>
                </a:solidFill>
                <a:latin typeface="Helvetica Neue"/>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10545775" cy="274320"/>
          </a:xfrm>
          <a:prstGeom prst="rect">
            <a:avLst/>
          </a:prstGeom>
          <a:noFill/>
        </p:spPr>
        <p:txBody>
          <a:bodyPr wrap="square" lIns="0" rIns="0" tIns="0" bIns="0">
            <a:spAutoFit/>
          </a:bodyPr>
          <a:lstStyle/>
          <a:p>
            <a:pPr algn="l">
              <a:spcBef>
                <a:spcPts val="0"/>
              </a:spcBef>
              <a:spcAft>
                <a:spcPts val="0"/>
              </a:spcAft>
            </a:pPr>
            <a:r>
              <a:rPr sz="1050" b="1" i="0">
                <a:solidFill>
                  <a:srgbClr val="1F7A6C"/>
                </a:solidFill>
                <a:latin typeface="Helvetica Neue"/>
              </a:rPr>
              <a:t>INTERNAL — PULL BEFORE ANY EXTERNAL MEETING</a:t>
            </a:r>
          </a:p>
        </p:txBody>
      </p:sp>
      <p:sp>
        <p:nvSpPr>
          <p:cNvPr id="4" name="TextBox 3"/>
          <p:cNvSpPr txBox="1"/>
          <p:nvPr/>
        </p:nvSpPr>
        <p:spPr>
          <a:xfrm>
            <a:off x="822960" y="914400"/>
            <a:ext cx="10545775" cy="475488"/>
          </a:xfrm>
          <a:prstGeom prst="rect">
            <a:avLst/>
          </a:prstGeom>
          <a:noFill/>
        </p:spPr>
        <p:txBody>
          <a:bodyPr wrap="square" lIns="0" rIns="0" tIns="0" bIns="0">
            <a:spAutoFit/>
          </a:bodyPr>
          <a:lstStyle/>
          <a:p>
            <a:pPr algn="l">
              <a:lnSpc>
                <a:spcPct val="106000"/>
              </a:lnSpc>
              <a:spcBef>
                <a:spcPts val="0"/>
              </a:spcBef>
              <a:spcAft>
                <a:spcPts val="0"/>
              </a:spcAft>
            </a:pPr>
            <a:r>
              <a:rPr sz="3000" b="1" i="0">
                <a:solidFill>
                  <a:srgbClr val="16202E"/>
                </a:solidFill>
                <a:latin typeface="Helvetica Neue"/>
              </a:rPr>
              <a:t>Six things this deck does not know.</a:t>
            </a:r>
          </a:p>
        </p:txBody>
      </p:sp>
      <p:sp>
        <p:nvSpPr>
          <p:cNvPr id="5" name="TextBox 4"/>
          <p:cNvSpPr txBox="1"/>
          <p:nvPr/>
        </p:nvSpPr>
        <p:spPr>
          <a:xfrm>
            <a:off x="822960" y="1481328"/>
            <a:ext cx="9509760" cy="548640"/>
          </a:xfrm>
          <a:prstGeom prst="rect">
            <a:avLst/>
          </a:prstGeom>
          <a:noFill/>
        </p:spPr>
        <p:txBody>
          <a:bodyPr wrap="square" lIns="0" rIns="0" tIns="0" bIns="0">
            <a:spAutoFit/>
          </a:bodyPr>
          <a:lstStyle/>
          <a:p>
            <a:pPr algn="l">
              <a:lnSpc>
                <a:spcPct val="132000"/>
              </a:lnSpc>
              <a:spcBef>
                <a:spcPts val="0"/>
              </a:spcBef>
              <a:spcAft>
                <a:spcPts val="0"/>
              </a:spcAft>
            </a:pPr>
            <a:r>
              <a:rPr sz="1450" b="0" i="0">
                <a:solidFill>
                  <a:srgbClr val="414D5C"/>
                </a:solidFill>
                <a:latin typeface="Helvetica Neue"/>
              </a:rPr>
              <a:t>The pitch-deck skill forbids inventing a metric. Each item below is a hole we left visible rather than filled.</a:t>
            </a:r>
          </a:p>
        </p:txBody>
      </p:sp>
      <p:sp>
        <p:nvSpPr>
          <p:cNvPr id="6" name="Rectangle 5"/>
          <p:cNvSpPr/>
          <p:nvPr/>
        </p:nvSpPr>
        <p:spPr>
          <a:xfrm>
            <a:off x="822960" y="2148840"/>
            <a:ext cx="10545775" cy="12700"/>
          </a:xfrm>
          <a:prstGeom prst="rect">
            <a:avLst/>
          </a:prstGeom>
          <a:solidFill>
            <a:srgbClr val="D7D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532888"/>
            <a:ext cx="329184" cy="219456"/>
          </a:xfrm>
          <a:prstGeom prst="rect">
            <a:avLst/>
          </a:prstGeom>
          <a:noFill/>
        </p:spPr>
        <p:txBody>
          <a:bodyPr wrap="square" lIns="0" rIns="0" tIns="0" bIns="0">
            <a:spAutoFit/>
          </a:bodyPr>
          <a:lstStyle/>
          <a:p>
            <a:pPr algn="l">
              <a:spcBef>
                <a:spcPts val="0"/>
              </a:spcBef>
              <a:spcAft>
                <a:spcPts val="0"/>
              </a:spcAft>
            </a:pPr>
            <a:r>
              <a:rPr sz="950" b="1" i="0">
                <a:solidFill>
                  <a:srgbClr val="1F7A6C"/>
                </a:solidFill>
                <a:latin typeface="Helvetica Neue"/>
              </a:rPr>
              <a:t/>
            </a:r>
          </a:p>
        </p:txBody>
      </p:sp>
      <p:sp>
        <p:nvSpPr>
          <p:cNvPr id="8" name="TextBox 7"/>
          <p:cNvSpPr txBox="1"/>
          <p:nvPr/>
        </p:nvSpPr>
        <p:spPr>
          <a:xfrm>
            <a:off x="1280160" y="2532888"/>
            <a:ext cx="1975104" cy="219456"/>
          </a:xfrm>
          <a:prstGeom prst="rect">
            <a:avLst/>
          </a:prstGeom>
          <a:noFill/>
        </p:spPr>
        <p:txBody>
          <a:bodyPr wrap="square" lIns="0" rIns="0" tIns="0" bIns="0">
            <a:spAutoFit/>
          </a:bodyPr>
          <a:lstStyle/>
          <a:p>
            <a:pPr algn="l">
              <a:spcBef>
                <a:spcPts val="0"/>
              </a:spcBef>
              <a:spcAft>
                <a:spcPts val="0"/>
              </a:spcAft>
            </a:pPr>
            <a:r>
              <a:rPr sz="950" b="1" i="0">
                <a:solidFill>
                  <a:srgbClr val="1F7A6C"/>
                </a:solidFill>
                <a:latin typeface="Helvetica Neue"/>
              </a:rPr>
              <a:t>ITEM</a:t>
            </a:r>
          </a:p>
        </p:txBody>
      </p:sp>
      <p:sp>
        <p:nvSpPr>
          <p:cNvPr id="9" name="TextBox 8"/>
          <p:cNvSpPr txBox="1"/>
          <p:nvPr/>
        </p:nvSpPr>
        <p:spPr>
          <a:xfrm>
            <a:off x="3383280" y="2532888"/>
            <a:ext cx="6135624" cy="219456"/>
          </a:xfrm>
          <a:prstGeom prst="rect">
            <a:avLst/>
          </a:prstGeom>
          <a:noFill/>
        </p:spPr>
        <p:txBody>
          <a:bodyPr wrap="square" lIns="0" rIns="0" tIns="0" bIns="0">
            <a:spAutoFit/>
          </a:bodyPr>
          <a:lstStyle/>
          <a:p>
            <a:pPr algn="l">
              <a:spcBef>
                <a:spcPts val="0"/>
              </a:spcBef>
              <a:spcAft>
                <a:spcPts val="0"/>
              </a:spcAft>
            </a:pPr>
            <a:r>
              <a:rPr sz="950" b="1" i="0">
                <a:solidFill>
                  <a:srgbClr val="1F7A6C"/>
                </a:solidFill>
                <a:latin typeface="Helvetica Neue"/>
              </a:rPr>
              <a:t>WHY IT MATTERS</a:t>
            </a:r>
          </a:p>
        </p:txBody>
      </p:sp>
      <p:sp>
        <p:nvSpPr>
          <p:cNvPr id="10" name="TextBox 9"/>
          <p:cNvSpPr txBox="1"/>
          <p:nvPr/>
        </p:nvSpPr>
        <p:spPr>
          <a:xfrm>
            <a:off x="9646920" y="2532888"/>
            <a:ext cx="1380744" cy="219456"/>
          </a:xfrm>
          <a:prstGeom prst="rect">
            <a:avLst/>
          </a:prstGeom>
          <a:noFill/>
        </p:spPr>
        <p:txBody>
          <a:bodyPr wrap="square" lIns="0" rIns="0" tIns="0" bIns="0">
            <a:spAutoFit/>
          </a:bodyPr>
          <a:lstStyle/>
          <a:p>
            <a:pPr algn="l">
              <a:spcBef>
                <a:spcPts val="0"/>
              </a:spcBef>
              <a:spcAft>
                <a:spcPts val="0"/>
              </a:spcAft>
            </a:pPr>
            <a:r>
              <a:rPr sz="950" b="1" i="0">
                <a:solidFill>
                  <a:srgbClr val="1F7A6C"/>
                </a:solidFill>
                <a:latin typeface="Helvetica Neue"/>
              </a:rPr>
              <a:t>OWNER</a:t>
            </a:r>
          </a:p>
        </p:txBody>
      </p:sp>
      <p:sp>
        <p:nvSpPr>
          <p:cNvPr id="11" name="Rectangle 10"/>
          <p:cNvSpPr/>
          <p:nvPr/>
        </p:nvSpPr>
        <p:spPr>
          <a:xfrm>
            <a:off x="822960" y="2807208"/>
            <a:ext cx="10332719" cy="15875"/>
          </a:xfrm>
          <a:prstGeom prst="rect">
            <a:avLst/>
          </a:prstGeom>
          <a:solidFill>
            <a:srgbClr val="1F7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2926080"/>
            <a:ext cx="329184" cy="365760"/>
          </a:xfrm>
          <a:prstGeom prst="rect">
            <a:avLst/>
          </a:prstGeom>
          <a:noFill/>
        </p:spPr>
        <p:txBody>
          <a:bodyPr wrap="square" lIns="0" rIns="0" tIns="0" bIns="0">
            <a:spAutoFit/>
          </a:bodyPr>
          <a:lstStyle/>
          <a:p>
            <a:pPr algn="l">
              <a:lnSpc>
                <a:spcPct val="120000"/>
              </a:lnSpc>
              <a:spcBef>
                <a:spcPts val="0"/>
              </a:spcBef>
              <a:spcAft>
                <a:spcPts val="0"/>
              </a:spcAft>
            </a:pPr>
            <a:r>
              <a:rPr sz="1150" b="1" i="0">
                <a:solidFill>
                  <a:srgbClr val="16202E"/>
                </a:solidFill>
                <a:latin typeface="Helvetica Neue"/>
              </a:rPr>
              <a:t>1</a:t>
            </a:r>
          </a:p>
        </p:txBody>
      </p:sp>
      <p:sp>
        <p:nvSpPr>
          <p:cNvPr id="13" name="TextBox 12"/>
          <p:cNvSpPr txBox="1"/>
          <p:nvPr/>
        </p:nvSpPr>
        <p:spPr>
          <a:xfrm>
            <a:off x="1280160" y="2926080"/>
            <a:ext cx="1975104" cy="365760"/>
          </a:xfrm>
          <a:prstGeom prst="rect">
            <a:avLst/>
          </a:prstGeom>
          <a:noFill/>
        </p:spPr>
        <p:txBody>
          <a:bodyPr wrap="square" lIns="0" rIns="0" tIns="0" bIns="0">
            <a:spAutoFit/>
          </a:bodyPr>
          <a:lstStyle/>
          <a:p>
            <a:pPr algn="l">
              <a:lnSpc>
                <a:spcPct val="120000"/>
              </a:lnSpc>
              <a:spcBef>
                <a:spcPts val="0"/>
              </a:spcBef>
              <a:spcAft>
                <a:spcPts val="0"/>
              </a:spcAft>
            </a:pPr>
            <a:r>
              <a:rPr sz="1150" b="0" i="0">
                <a:solidFill>
                  <a:srgbClr val="414D5C"/>
                </a:solidFill>
                <a:latin typeface="Helvetica Neue"/>
              </a:rPr>
              <a:t>Founder story</a:t>
            </a:r>
          </a:p>
        </p:txBody>
      </p:sp>
      <p:sp>
        <p:nvSpPr>
          <p:cNvPr id="14" name="TextBox 13"/>
          <p:cNvSpPr txBox="1"/>
          <p:nvPr/>
        </p:nvSpPr>
        <p:spPr>
          <a:xfrm>
            <a:off x="3383280" y="2926080"/>
            <a:ext cx="6135624" cy="365760"/>
          </a:xfrm>
          <a:prstGeom prst="rect">
            <a:avLst/>
          </a:prstGeom>
          <a:noFill/>
        </p:spPr>
        <p:txBody>
          <a:bodyPr wrap="square" lIns="0" rIns="0" tIns="0" bIns="0">
            <a:spAutoFit/>
          </a:bodyPr>
          <a:lstStyle/>
          <a:p>
            <a:pPr algn="l">
              <a:lnSpc>
                <a:spcPct val="120000"/>
              </a:lnSpc>
              <a:spcBef>
                <a:spcPts val="0"/>
              </a:spcBef>
              <a:spcAft>
                <a:spcPts val="0"/>
              </a:spcAft>
            </a:pPr>
            <a:r>
              <a:rPr sz="1150" b="0" i="0">
                <a:solidFill>
                  <a:srgbClr val="414D5C"/>
                </a:solidFill>
                <a:latin typeface="Helvetica Neue"/>
              </a:rPr>
              <a:t>Holly's own account of why municipal records. The team slide is complete but flat without it.</a:t>
            </a:r>
          </a:p>
        </p:txBody>
      </p:sp>
      <p:sp>
        <p:nvSpPr>
          <p:cNvPr id="15" name="TextBox 14"/>
          <p:cNvSpPr txBox="1"/>
          <p:nvPr/>
        </p:nvSpPr>
        <p:spPr>
          <a:xfrm>
            <a:off x="9646920" y="2926080"/>
            <a:ext cx="1380744" cy="365760"/>
          </a:xfrm>
          <a:prstGeom prst="rect">
            <a:avLst/>
          </a:prstGeom>
          <a:noFill/>
        </p:spPr>
        <p:txBody>
          <a:bodyPr wrap="square" lIns="0" rIns="0" tIns="0" bIns="0">
            <a:spAutoFit/>
          </a:bodyPr>
          <a:lstStyle/>
          <a:p>
            <a:pPr algn="l">
              <a:lnSpc>
                <a:spcPct val="120000"/>
              </a:lnSpc>
              <a:spcBef>
                <a:spcPts val="0"/>
              </a:spcBef>
              <a:spcAft>
                <a:spcPts val="0"/>
              </a:spcAft>
            </a:pPr>
            <a:r>
              <a:rPr sz="1150" b="0" i="0">
                <a:solidFill>
                  <a:srgbClr val="414D5C"/>
                </a:solidFill>
                <a:latin typeface="Helvetica Neue"/>
              </a:rPr>
              <a:t>joseleos</a:t>
            </a:r>
          </a:p>
        </p:txBody>
      </p:sp>
      <p:sp>
        <p:nvSpPr>
          <p:cNvPr id="16" name="Rectangle 15"/>
          <p:cNvSpPr/>
          <p:nvPr/>
        </p:nvSpPr>
        <p:spPr>
          <a:xfrm>
            <a:off x="822960" y="3336925"/>
            <a:ext cx="10332719" cy="9525"/>
          </a:xfrm>
          <a:prstGeom prst="rect">
            <a:avLst/>
          </a:prstGeom>
          <a:solidFill>
            <a:srgbClr val="D7D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3428365"/>
            <a:ext cx="329184" cy="365760"/>
          </a:xfrm>
          <a:prstGeom prst="rect">
            <a:avLst/>
          </a:prstGeom>
          <a:noFill/>
        </p:spPr>
        <p:txBody>
          <a:bodyPr wrap="square" lIns="0" rIns="0" tIns="0" bIns="0">
            <a:spAutoFit/>
          </a:bodyPr>
          <a:lstStyle/>
          <a:p>
            <a:pPr algn="l">
              <a:lnSpc>
                <a:spcPct val="120000"/>
              </a:lnSpc>
              <a:spcBef>
                <a:spcPts val="0"/>
              </a:spcBef>
              <a:spcAft>
                <a:spcPts val="0"/>
              </a:spcAft>
            </a:pPr>
            <a:r>
              <a:rPr sz="1150" b="1" i="0">
                <a:solidFill>
                  <a:srgbClr val="16202E"/>
                </a:solidFill>
                <a:latin typeface="Helvetica Neue"/>
              </a:rPr>
              <a:t>2</a:t>
            </a:r>
          </a:p>
        </p:txBody>
      </p:sp>
      <p:sp>
        <p:nvSpPr>
          <p:cNvPr id="18" name="TextBox 17"/>
          <p:cNvSpPr txBox="1"/>
          <p:nvPr/>
        </p:nvSpPr>
        <p:spPr>
          <a:xfrm>
            <a:off x="1280160" y="3428365"/>
            <a:ext cx="1975104" cy="365760"/>
          </a:xfrm>
          <a:prstGeom prst="rect">
            <a:avLst/>
          </a:prstGeom>
          <a:noFill/>
        </p:spPr>
        <p:txBody>
          <a:bodyPr wrap="square" lIns="0" rIns="0" tIns="0" bIns="0">
            <a:spAutoFit/>
          </a:bodyPr>
          <a:lstStyle/>
          <a:p>
            <a:pPr algn="l">
              <a:lnSpc>
                <a:spcPct val="120000"/>
              </a:lnSpc>
              <a:spcBef>
                <a:spcPts val="0"/>
              </a:spcBef>
              <a:spcAft>
                <a:spcPts val="0"/>
              </a:spcAft>
            </a:pPr>
            <a:r>
              <a:rPr sz="1150" b="0" i="0">
                <a:solidFill>
                  <a:srgbClr val="414D5C"/>
                </a:solidFill>
                <a:latin typeface="Helvetica Neue"/>
              </a:rPr>
              <a:t>CTO bio</a:t>
            </a:r>
          </a:p>
        </p:txBody>
      </p:sp>
      <p:sp>
        <p:nvSpPr>
          <p:cNvPr id="19" name="TextBox 18"/>
          <p:cNvSpPr txBox="1"/>
          <p:nvPr/>
        </p:nvSpPr>
        <p:spPr>
          <a:xfrm>
            <a:off x="3383280" y="3428365"/>
            <a:ext cx="6135624" cy="365760"/>
          </a:xfrm>
          <a:prstGeom prst="rect">
            <a:avLst/>
          </a:prstGeom>
          <a:noFill/>
        </p:spPr>
        <p:txBody>
          <a:bodyPr wrap="square" lIns="0" rIns="0" tIns="0" bIns="0">
            <a:spAutoFit/>
          </a:bodyPr>
          <a:lstStyle/>
          <a:p>
            <a:pPr algn="l">
              <a:lnSpc>
                <a:spcPct val="120000"/>
              </a:lnSpc>
              <a:spcBef>
                <a:spcPts val="0"/>
              </a:spcBef>
              <a:spcAft>
                <a:spcPts val="0"/>
              </a:spcAft>
            </a:pPr>
            <a:r>
              <a:rPr sz="1150" b="0" i="0">
                <a:solidFill>
                  <a:srgbClr val="414D5C"/>
                </a:solidFill>
                <a:latin typeface="Helvetica Neue"/>
              </a:rPr>
              <a:t>Helena Carre has no published bio. Researcher flagged it as a website trust gap; on this deck it is a live objection.</a:t>
            </a:r>
          </a:p>
        </p:txBody>
      </p:sp>
      <p:sp>
        <p:nvSpPr>
          <p:cNvPr id="20" name="TextBox 19"/>
          <p:cNvSpPr txBox="1"/>
          <p:nvPr/>
        </p:nvSpPr>
        <p:spPr>
          <a:xfrm>
            <a:off x="9646920" y="3428365"/>
            <a:ext cx="1380744" cy="365760"/>
          </a:xfrm>
          <a:prstGeom prst="rect">
            <a:avLst/>
          </a:prstGeom>
          <a:noFill/>
        </p:spPr>
        <p:txBody>
          <a:bodyPr wrap="square" lIns="0" rIns="0" tIns="0" bIns="0">
            <a:spAutoFit/>
          </a:bodyPr>
          <a:lstStyle/>
          <a:p>
            <a:pPr algn="l">
              <a:lnSpc>
                <a:spcPct val="120000"/>
              </a:lnSpc>
              <a:spcBef>
                <a:spcPts val="0"/>
              </a:spcBef>
              <a:spcAft>
                <a:spcPts val="0"/>
              </a:spcAft>
            </a:pPr>
            <a:r>
              <a:rPr sz="1150" b="0" i="0">
                <a:solidFill>
                  <a:srgbClr val="414D5C"/>
                </a:solidFill>
                <a:latin typeface="Helvetica Neue"/>
              </a:rPr>
              <a:t>joseleos</a:t>
            </a:r>
          </a:p>
        </p:txBody>
      </p:sp>
      <p:sp>
        <p:nvSpPr>
          <p:cNvPr id="21" name="Rectangle 20"/>
          <p:cNvSpPr/>
          <p:nvPr/>
        </p:nvSpPr>
        <p:spPr>
          <a:xfrm>
            <a:off x="822960" y="3839210"/>
            <a:ext cx="10332719" cy="9525"/>
          </a:xfrm>
          <a:prstGeom prst="rect">
            <a:avLst/>
          </a:prstGeom>
          <a:solidFill>
            <a:srgbClr val="D7D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3930650"/>
            <a:ext cx="329184" cy="365760"/>
          </a:xfrm>
          <a:prstGeom prst="rect">
            <a:avLst/>
          </a:prstGeom>
          <a:noFill/>
        </p:spPr>
        <p:txBody>
          <a:bodyPr wrap="square" lIns="0" rIns="0" tIns="0" bIns="0">
            <a:spAutoFit/>
          </a:bodyPr>
          <a:lstStyle/>
          <a:p>
            <a:pPr algn="l">
              <a:lnSpc>
                <a:spcPct val="120000"/>
              </a:lnSpc>
              <a:spcBef>
                <a:spcPts val="0"/>
              </a:spcBef>
              <a:spcAft>
                <a:spcPts val="0"/>
              </a:spcAft>
            </a:pPr>
            <a:r>
              <a:rPr sz="1150" b="1" i="0">
                <a:solidFill>
                  <a:srgbClr val="16202E"/>
                </a:solidFill>
                <a:latin typeface="Helvetica Neue"/>
              </a:rPr>
              <a:t>3</a:t>
            </a:r>
          </a:p>
        </p:txBody>
      </p:sp>
      <p:sp>
        <p:nvSpPr>
          <p:cNvPr id="23" name="TextBox 22"/>
          <p:cNvSpPr txBox="1"/>
          <p:nvPr/>
        </p:nvSpPr>
        <p:spPr>
          <a:xfrm>
            <a:off x="1280160" y="3930650"/>
            <a:ext cx="1975104" cy="365760"/>
          </a:xfrm>
          <a:prstGeom prst="rect">
            <a:avLst/>
          </a:prstGeom>
          <a:noFill/>
        </p:spPr>
        <p:txBody>
          <a:bodyPr wrap="square" lIns="0" rIns="0" tIns="0" bIns="0">
            <a:spAutoFit/>
          </a:bodyPr>
          <a:lstStyle/>
          <a:p>
            <a:pPr algn="l">
              <a:lnSpc>
                <a:spcPct val="120000"/>
              </a:lnSpc>
              <a:spcBef>
                <a:spcPts val="0"/>
              </a:spcBef>
              <a:spcAft>
                <a:spcPts val="0"/>
              </a:spcAft>
            </a:pPr>
            <a:r>
              <a:rPr sz="1150" b="0" i="0">
                <a:solidFill>
                  <a:srgbClr val="414D5C"/>
                </a:solidFill>
                <a:latin typeface="Helvetica Neue"/>
              </a:rPr>
              <a:t>Traction specifics</a:t>
            </a:r>
          </a:p>
        </p:txBody>
      </p:sp>
      <p:sp>
        <p:nvSpPr>
          <p:cNvPr id="24" name="TextBox 23"/>
          <p:cNvSpPr txBox="1"/>
          <p:nvPr/>
        </p:nvSpPr>
        <p:spPr>
          <a:xfrm>
            <a:off x="3383280" y="3930650"/>
            <a:ext cx="6135624" cy="365760"/>
          </a:xfrm>
          <a:prstGeom prst="rect">
            <a:avLst/>
          </a:prstGeom>
          <a:noFill/>
        </p:spPr>
        <p:txBody>
          <a:bodyPr wrap="square" lIns="0" rIns="0" tIns="0" bIns="0">
            <a:spAutoFit/>
          </a:bodyPr>
          <a:lstStyle/>
          <a:p>
            <a:pPr algn="l">
              <a:lnSpc>
                <a:spcPct val="120000"/>
              </a:lnSpc>
              <a:spcBef>
                <a:spcPts val="0"/>
              </a:spcBef>
              <a:spcAft>
                <a:spcPts val="0"/>
              </a:spcAft>
            </a:pPr>
            <a:r>
              <a:rPr sz="1150" b="0" i="0">
                <a:solidFill>
                  <a:srgbClr val="414D5C"/>
                </a:solidFill>
                <a:latin typeface="Helvetica Neue"/>
              </a:rPr>
              <a:t>Schertz usage, verbal commitments, LOIs, pilots in flight. Slide 10 says "not disclosed" because nothing is verified.</a:t>
            </a:r>
          </a:p>
        </p:txBody>
      </p:sp>
      <p:sp>
        <p:nvSpPr>
          <p:cNvPr id="25" name="TextBox 24"/>
          <p:cNvSpPr txBox="1"/>
          <p:nvPr/>
        </p:nvSpPr>
        <p:spPr>
          <a:xfrm>
            <a:off x="9646920" y="3930650"/>
            <a:ext cx="1380744" cy="365760"/>
          </a:xfrm>
          <a:prstGeom prst="rect">
            <a:avLst/>
          </a:prstGeom>
          <a:noFill/>
        </p:spPr>
        <p:txBody>
          <a:bodyPr wrap="square" lIns="0" rIns="0" tIns="0" bIns="0">
            <a:spAutoFit/>
          </a:bodyPr>
          <a:lstStyle/>
          <a:p>
            <a:pPr algn="l">
              <a:lnSpc>
                <a:spcPct val="120000"/>
              </a:lnSpc>
              <a:spcBef>
                <a:spcPts val="0"/>
              </a:spcBef>
              <a:spcAft>
                <a:spcPts val="0"/>
              </a:spcAft>
            </a:pPr>
            <a:r>
              <a:rPr sz="1150" b="0" i="0">
                <a:solidFill>
                  <a:srgbClr val="414D5C"/>
                </a:solidFill>
                <a:latin typeface="Helvetica Neue"/>
              </a:rPr>
              <a:t>joseleos</a:t>
            </a:r>
          </a:p>
        </p:txBody>
      </p:sp>
      <p:sp>
        <p:nvSpPr>
          <p:cNvPr id="26" name="Rectangle 25"/>
          <p:cNvSpPr/>
          <p:nvPr/>
        </p:nvSpPr>
        <p:spPr>
          <a:xfrm>
            <a:off x="822960" y="4341495"/>
            <a:ext cx="10332719" cy="9525"/>
          </a:xfrm>
          <a:prstGeom prst="rect">
            <a:avLst/>
          </a:prstGeom>
          <a:solidFill>
            <a:srgbClr val="D7D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 y="4432935"/>
            <a:ext cx="329184" cy="365760"/>
          </a:xfrm>
          <a:prstGeom prst="rect">
            <a:avLst/>
          </a:prstGeom>
          <a:noFill/>
        </p:spPr>
        <p:txBody>
          <a:bodyPr wrap="square" lIns="0" rIns="0" tIns="0" bIns="0">
            <a:spAutoFit/>
          </a:bodyPr>
          <a:lstStyle/>
          <a:p>
            <a:pPr algn="l">
              <a:lnSpc>
                <a:spcPct val="120000"/>
              </a:lnSpc>
              <a:spcBef>
                <a:spcPts val="0"/>
              </a:spcBef>
              <a:spcAft>
                <a:spcPts val="0"/>
              </a:spcAft>
            </a:pPr>
            <a:r>
              <a:rPr sz="1150" b="1" i="0">
                <a:solidFill>
                  <a:srgbClr val="16202E"/>
                </a:solidFill>
                <a:latin typeface="Helvetica Neue"/>
              </a:rPr>
              <a:t>4</a:t>
            </a:r>
          </a:p>
        </p:txBody>
      </p:sp>
      <p:sp>
        <p:nvSpPr>
          <p:cNvPr id="28" name="TextBox 27"/>
          <p:cNvSpPr txBox="1"/>
          <p:nvPr/>
        </p:nvSpPr>
        <p:spPr>
          <a:xfrm>
            <a:off x="1280160" y="4432935"/>
            <a:ext cx="1975104" cy="365760"/>
          </a:xfrm>
          <a:prstGeom prst="rect">
            <a:avLst/>
          </a:prstGeom>
          <a:noFill/>
        </p:spPr>
        <p:txBody>
          <a:bodyPr wrap="square" lIns="0" rIns="0" tIns="0" bIns="0">
            <a:spAutoFit/>
          </a:bodyPr>
          <a:lstStyle/>
          <a:p>
            <a:pPr algn="l">
              <a:lnSpc>
                <a:spcPct val="120000"/>
              </a:lnSpc>
              <a:spcBef>
                <a:spcPts val="0"/>
              </a:spcBef>
              <a:spcAft>
                <a:spcPts val="0"/>
              </a:spcAft>
            </a:pPr>
            <a:r>
              <a:rPr sz="1150" b="0" i="0">
                <a:solidFill>
                  <a:srgbClr val="414D5C"/>
                </a:solidFill>
                <a:latin typeface="Helvetica Neue"/>
              </a:rPr>
              <a:t>The ask</a:t>
            </a:r>
          </a:p>
        </p:txBody>
      </p:sp>
      <p:sp>
        <p:nvSpPr>
          <p:cNvPr id="29" name="TextBox 28"/>
          <p:cNvSpPr txBox="1"/>
          <p:nvPr/>
        </p:nvSpPr>
        <p:spPr>
          <a:xfrm>
            <a:off x="3383280" y="4432935"/>
            <a:ext cx="6135624" cy="365760"/>
          </a:xfrm>
          <a:prstGeom prst="rect">
            <a:avLst/>
          </a:prstGeom>
          <a:noFill/>
        </p:spPr>
        <p:txBody>
          <a:bodyPr wrap="square" lIns="0" rIns="0" tIns="0" bIns="0">
            <a:spAutoFit/>
          </a:bodyPr>
          <a:lstStyle/>
          <a:p>
            <a:pPr algn="l">
              <a:lnSpc>
                <a:spcPct val="120000"/>
              </a:lnSpc>
              <a:spcBef>
                <a:spcPts val="0"/>
              </a:spcBef>
              <a:spcAft>
                <a:spcPts val="0"/>
              </a:spcAft>
            </a:pPr>
            <a:r>
              <a:rPr sz="1150" b="0" i="0">
                <a:solidFill>
                  <a:srgbClr val="414D5C"/>
                </a:solidFill>
                <a:latin typeface="Helvetica Neue"/>
              </a:rPr>
              <a:t>$40k is the only figure the accepted model supports. An institutional round needs a financed model re-run before slide 16 is true.</a:t>
            </a:r>
          </a:p>
        </p:txBody>
      </p:sp>
      <p:sp>
        <p:nvSpPr>
          <p:cNvPr id="30" name="TextBox 29"/>
          <p:cNvSpPr txBox="1"/>
          <p:nvPr/>
        </p:nvSpPr>
        <p:spPr>
          <a:xfrm>
            <a:off x="9646920" y="4432935"/>
            <a:ext cx="1380744" cy="365760"/>
          </a:xfrm>
          <a:prstGeom prst="rect">
            <a:avLst/>
          </a:prstGeom>
          <a:noFill/>
        </p:spPr>
        <p:txBody>
          <a:bodyPr wrap="square" lIns="0" rIns="0" tIns="0" bIns="0">
            <a:spAutoFit/>
          </a:bodyPr>
          <a:lstStyle/>
          <a:p>
            <a:pPr algn="l">
              <a:lnSpc>
                <a:spcPct val="120000"/>
              </a:lnSpc>
              <a:spcBef>
                <a:spcPts val="0"/>
              </a:spcBef>
              <a:spcAft>
                <a:spcPts val="0"/>
              </a:spcAft>
            </a:pPr>
            <a:r>
              <a:rPr sz="1150" b="0" i="0">
                <a:solidFill>
                  <a:srgbClr val="414D5C"/>
                </a:solidFill>
                <a:latin typeface="Helvetica Neue"/>
              </a:rPr>
              <a:t>joseleos</a:t>
            </a:r>
          </a:p>
        </p:txBody>
      </p:sp>
      <p:sp>
        <p:nvSpPr>
          <p:cNvPr id="31" name="Rectangle 30"/>
          <p:cNvSpPr/>
          <p:nvPr/>
        </p:nvSpPr>
        <p:spPr>
          <a:xfrm>
            <a:off x="822960" y="4843780"/>
            <a:ext cx="10332719" cy="9525"/>
          </a:xfrm>
          <a:prstGeom prst="rect">
            <a:avLst/>
          </a:prstGeom>
          <a:solidFill>
            <a:srgbClr val="D7D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960" y="4935220"/>
            <a:ext cx="329184" cy="365760"/>
          </a:xfrm>
          <a:prstGeom prst="rect">
            <a:avLst/>
          </a:prstGeom>
          <a:noFill/>
        </p:spPr>
        <p:txBody>
          <a:bodyPr wrap="square" lIns="0" rIns="0" tIns="0" bIns="0">
            <a:spAutoFit/>
          </a:bodyPr>
          <a:lstStyle/>
          <a:p>
            <a:pPr algn="l">
              <a:lnSpc>
                <a:spcPct val="120000"/>
              </a:lnSpc>
              <a:spcBef>
                <a:spcPts val="0"/>
              </a:spcBef>
              <a:spcAft>
                <a:spcPts val="0"/>
              </a:spcAft>
            </a:pPr>
            <a:r>
              <a:rPr sz="1150" b="1" i="0">
                <a:solidFill>
                  <a:srgbClr val="16202E"/>
                </a:solidFill>
                <a:latin typeface="Helvetica Neue"/>
              </a:rPr>
              <a:t>5</a:t>
            </a:r>
          </a:p>
        </p:txBody>
      </p:sp>
      <p:sp>
        <p:nvSpPr>
          <p:cNvPr id="33" name="TextBox 32"/>
          <p:cNvSpPr txBox="1"/>
          <p:nvPr/>
        </p:nvSpPr>
        <p:spPr>
          <a:xfrm>
            <a:off x="1280160" y="4935220"/>
            <a:ext cx="1975104" cy="365760"/>
          </a:xfrm>
          <a:prstGeom prst="rect">
            <a:avLst/>
          </a:prstGeom>
          <a:noFill/>
        </p:spPr>
        <p:txBody>
          <a:bodyPr wrap="square" lIns="0" rIns="0" tIns="0" bIns="0">
            <a:spAutoFit/>
          </a:bodyPr>
          <a:lstStyle/>
          <a:p>
            <a:pPr algn="l">
              <a:lnSpc>
                <a:spcPct val="120000"/>
              </a:lnSpc>
              <a:spcBef>
                <a:spcPts val="0"/>
              </a:spcBef>
              <a:spcAft>
                <a:spcPts val="0"/>
              </a:spcAft>
            </a:pPr>
            <a:r>
              <a:rPr sz="1150" b="0" i="0">
                <a:solidFill>
                  <a:srgbClr val="414D5C"/>
                </a:solidFill>
                <a:latin typeface="Helvetica Neue"/>
              </a:rPr>
              <a:t>Pricing contradiction</a:t>
            </a:r>
          </a:p>
        </p:txBody>
      </p:sp>
      <p:sp>
        <p:nvSpPr>
          <p:cNvPr id="34" name="TextBox 33"/>
          <p:cNvSpPr txBox="1"/>
          <p:nvPr/>
        </p:nvSpPr>
        <p:spPr>
          <a:xfrm>
            <a:off x="3383280" y="4935220"/>
            <a:ext cx="6135624" cy="365760"/>
          </a:xfrm>
          <a:prstGeom prst="rect">
            <a:avLst/>
          </a:prstGeom>
          <a:noFill/>
        </p:spPr>
        <p:txBody>
          <a:bodyPr wrap="square" lIns="0" rIns="0" tIns="0" bIns="0">
            <a:spAutoFit/>
          </a:bodyPr>
          <a:lstStyle/>
          <a:p>
            <a:pPr algn="l">
              <a:lnSpc>
                <a:spcPct val="120000"/>
              </a:lnSpc>
              <a:spcBef>
                <a:spcPts val="0"/>
              </a:spcBef>
              <a:spcAft>
                <a:spcPts val="0"/>
              </a:spcAft>
            </a:pPr>
            <a:r>
              <a:rPr sz="1150" b="0" i="0">
                <a:solidFill>
                  <a:srgbClr val="414D5C"/>
                </a:solidFill>
                <a:latin typeface="Helvetica Neue"/>
              </a:rPr>
              <a:t>The model prices Core at $9,600; the June/July meeting notes floated ~$50k/yr and a ~$20k 60-day pilot. Both cannot be true — and $50k breaks the no-bid design.</a:t>
            </a:r>
          </a:p>
        </p:txBody>
      </p:sp>
      <p:sp>
        <p:nvSpPr>
          <p:cNvPr id="35" name="TextBox 34"/>
          <p:cNvSpPr txBox="1"/>
          <p:nvPr/>
        </p:nvSpPr>
        <p:spPr>
          <a:xfrm>
            <a:off x="9646920" y="4935220"/>
            <a:ext cx="1380744" cy="365760"/>
          </a:xfrm>
          <a:prstGeom prst="rect">
            <a:avLst/>
          </a:prstGeom>
          <a:noFill/>
        </p:spPr>
        <p:txBody>
          <a:bodyPr wrap="square" lIns="0" rIns="0" tIns="0" bIns="0">
            <a:spAutoFit/>
          </a:bodyPr>
          <a:lstStyle/>
          <a:p>
            <a:pPr algn="l">
              <a:lnSpc>
                <a:spcPct val="120000"/>
              </a:lnSpc>
              <a:spcBef>
                <a:spcPts val="0"/>
              </a:spcBef>
              <a:spcAft>
                <a:spcPts val="0"/>
              </a:spcAft>
            </a:pPr>
            <a:r>
              <a:rPr sz="1150" b="0" i="0">
                <a:solidFill>
                  <a:srgbClr val="414D5C"/>
                </a:solidFill>
                <a:latin typeface="Helvetica Neue"/>
              </a:rPr>
              <a:t>joseleos + HermesX</a:t>
            </a:r>
          </a:p>
        </p:txBody>
      </p:sp>
      <p:sp>
        <p:nvSpPr>
          <p:cNvPr id="36" name="Rectangle 35"/>
          <p:cNvSpPr/>
          <p:nvPr/>
        </p:nvSpPr>
        <p:spPr>
          <a:xfrm>
            <a:off x="822960" y="5346065"/>
            <a:ext cx="10332719" cy="9525"/>
          </a:xfrm>
          <a:prstGeom prst="rect">
            <a:avLst/>
          </a:prstGeom>
          <a:solidFill>
            <a:srgbClr val="D7D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22960" y="5437505"/>
            <a:ext cx="329184" cy="365760"/>
          </a:xfrm>
          <a:prstGeom prst="rect">
            <a:avLst/>
          </a:prstGeom>
          <a:noFill/>
        </p:spPr>
        <p:txBody>
          <a:bodyPr wrap="square" lIns="0" rIns="0" tIns="0" bIns="0">
            <a:spAutoFit/>
          </a:bodyPr>
          <a:lstStyle/>
          <a:p>
            <a:pPr algn="l">
              <a:lnSpc>
                <a:spcPct val="120000"/>
              </a:lnSpc>
              <a:spcBef>
                <a:spcPts val="0"/>
              </a:spcBef>
              <a:spcAft>
                <a:spcPts val="0"/>
              </a:spcAft>
            </a:pPr>
            <a:r>
              <a:rPr sz="1150" b="1" i="0">
                <a:solidFill>
                  <a:srgbClr val="16202E"/>
                </a:solidFill>
                <a:latin typeface="Helvetica Neue"/>
              </a:rPr>
              <a:t>6</a:t>
            </a:r>
          </a:p>
        </p:txBody>
      </p:sp>
      <p:sp>
        <p:nvSpPr>
          <p:cNvPr id="38" name="TextBox 37"/>
          <p:cNvSpPr txBox="1"/>
          <p:nvPr/>
        </p:nvSpPr>
        <p:spPr>
          <a:xfrm>
            <a:off x="1280160" y="5437505"/>
            <a:ext cx="1975104" cy="365760"/>
          </a:xfrm>
          <a:prstGeom prst="rect">
            <a:avLst/>
          </a:prstGeom>
          <a:noFill/>
        </p:spPr>
        <p:txBody>
          <a:bodyPr wrap="square" lIns="0" rIns="0" tIns="0" bIns="0">
            <a:spAutoFit/>
          </a:bodyPr>
          <a:lstStyle/>
          <a:p>
            <a:pPr algn="l">
              <a:lnSpc>
                <a:spcPct val="120000"/>
              </a:lnSpc>
              <a:spcBef>
                <a:spcPts val="0"/>
              </a:spcBef>
              <a:spcAft>
                <a:spcPts val="0"/>
              </a:spcAft>
            </a:pPr>
            <a:r>
              <a:rPr sz="1150" b="0" i="0">
                <a:solidFill>
                  <a:srgbClr val="414D5C"/>
                </a:solidFill>
                <a:latin typeface="Helvetica Neue"/>
              </a:rPr>
              <a:t>Missing GTM source</a:t>
            </a:r>
          </a:p>
        </p:txBody>
      </p:sp>
      <p:sp>
        <p:nvSpPr>
          <p:cNvPr id="39" name="TextBox 38"/>
          <p:cNvSpPr txBox="1"/>
          <p:nvPr/>
        </p:nvSpPr>
        <p:spPr>
          <a:xfrm>
            <a:off x="3383280" y="5437505"/>
            <a:ext cx="6135624" cy="365760"/>
          </a:xfrm>
          <a:prstGeom prst="rect">
            <a:avLst/>
          </a:prstGeom>
          <a:noFill/>
        </p:spPr>
        <p:txBody>
          <a:bodyPr wrap="square" lIns="0" rIns="0" tIns="0" bIns="0">
            <a:spAutoFit/>
          </a:bodyPr>
          <a:lstStyle/>
          <a:p>
            <a:pPr algn="l">
              <a:lnSpc>
                <a:spcPct val="120000"/>
              </a:lnSpc>
              <a:spcBef>
                <a:spcPts val="0"/>
              </a:spcBef>
              <a:spcAft>
                <a:spcPts val="0"/>
              </a:spcAft>
            </a:pPr>
            <a:r>
              <a:rPr sz="1150" b="0" i="0">
                <a:solidFill>
                  <a:srgbClr val="414D5C"/>
                </a:solidFill>
                <a:latin typeface="Helvetica Neue"/>
              </a:rPr>
              <a:t>Strata_GTM_Strategy.docx and Strata_Market_Research.docx are cited by the brief but are not on disk. Positioning here was rebuilt from the space profile and the BMC.</a:t>
            </a:r>
          </a:p>
        </p:txBody>
      </p:sp>
      <p:sp>
        <p:nvSpPr>
          <p:cNvPr id="40" name="TextBox 39"/>
          <p:cNvSpPr txBox="1"/>
          <p:nvPr/>
        </p:nvSpPr>
        <p:spPr>
          <a:xfrm>
            <a:off x="9646920" y="5437505"/>
            <a:ext cx="1380744" cy="365760"/>
          </a:xfrm>
          <a:prstGeom prst="rect">
            <a:avLst/>
          </a:prstGeom>
          <a:noFill/>
        </p:spPr>
        <p:txBody>
          <a:bodyPr wrap="square" lIns="0" rIns="0" tIns="0" bIns="0">
            <a:spAutoFit/>
          </a:bodyPr>
          <a:lstStyle/>
          <a:p>
            <a:pPr algn="l">
              <a:lnSpc>
                <a:spcPct val="120000"/>
              </a:lnSpc>
              <a:spcBef>
                <a:spcPts val="0"/>
              </a:spcBef>
              <a:spcAft>
                <a:spcPts val="0"/>
              </a:spcAft>
            </a:pPr>
            <a:r>
              <a:rPr sz="1150" b="0" i="0">
                <a:solidFill>
                  <a:srgbClr val="414D5C"/>
                </a:solidFill>
                <a:latin typeface="Helvetica Neue"/>
              </a:rPr>
              <a:t>HermesX</a:t>
            </a:r>
          </a:p>
        </p:txBody>
      </p:sp>
      <p:sp>
        <p:nvSpPr>
          <p:cNvPr id="41" name="TextBox 40"/>
          <p:cNvSpPr txBox="1"/>
          <p:nvPr/>
        </p:nvSpPr>
        <p:spPr>
          <a:xfrm>
            <a:off x="822960" y="6053328"/>
            <a:ext cx="10332720" cy="274320"/>
          </a:xfrm>
          <a:prstGeom prst="rect">
            <a:avLst/>
          </a:prstGeom>
          <a:noFill/>
        </p:spPr>
        <p:txBody>
          <a:bodyPr wrap="square" lIns="0" rIns="0" tIns="0" bIns="0">
            <a:spAutoFit/>
          </a:bodyPr>
          <a:lstStyle/>
          <a:p>
            <a:pPr algn="l">
              <a:lnSpc>
                <a:spcPct val="125000"/>
              </a:lnSpc>
              <a:spcBef>
                <a:spcPts val="0"/>
              </a:spcBef>
              <a:spcAft>
                <a:spcPts val="0"/>
              </a:spcAft>
            </a:pPr>
            <a:r>
              <a:rPr sz="900" b="0" i="0">
                <a:solidFill>
                  <a:srgbClr val="8A939E"/>
                </a:solidFill>
                <a:latin typeface="Helvetica Neue"/>
              </a:rPr>
              <a:t>Source:  pitch/strata/foundation.md §Gate 1; pitch/strata/objections.md Q16–Q18.</a:t>
            </a:r>
          </a:p>
        </p:txBody>
      </p:sp>
      <p:sp>
        <p:nvSpPr>
          <p:cNvPr id="42" name="TextBox 41"/>
          <p:cNvSpPr txBox="1"/>
          <p:nvPr/>
        </p:nvSpPr>
        <p:spPr>
          <a:xfrm>
            <a:off x="822960" y="6419088"/>
            <a:ext cx="8778240" cy="274320"/>
          </a:xfrm>
          <a:prstGeom prst="rect">
            <a:avLst/>
          </a:prstGeom>
          <a:noFill/>
        </p:spPr>
        <p:txBody>
          <a:bodyPr wrap="square" lIns="0" rIns="0" tIns="0" bIns="0">
            <a:spAutoFit/>
          </a:bodyPr>
          <a:lstStyle/>
          <a:p>
            <a:pPr algn="l">
              <a:spcBef>
                <a:spcPts val="0"/>
              </a:spcBef>
              <a:spcAft>
                <a:spcPts val="0"/>
              </a:spcAft>
            </a:pPr>
            <a:r>
              <a:rPr sz="850" b="0" i="0">
                <a:solidFill>
                  <a:srgbClr val="8A939E"/>
                </a:solidFill>
                <a:latin typeface="Helvetica Neue"/>
              </a:rPr>
              <a:t>Strata Civic Solutions  ·  Pitch deck v1, 1 September 2026  ·  Draft for joseleos  ·  Confidential</a:t>
            </a:r>
          </a:p>
        </p:txBody>
      </p:sp>
      <p:sp>
        <p:nvSpPr>
          <p:cNvPr id="43" name="TextBox 42"/>
          <p:cNvSpPr txBox="1"/>
          <p:nvPr/>
        </p:nvSpPr>
        <p:spPr>
          <a:xfrm>
            <a:off x="10454335" y="6419088"/>
            <a:ext cx="914400" cy="274320"/>
          </a:xfrm>
          <a:prstGeom prst="rect">
            <a:avLst/>
          </a:prstGeom>
          <a:noFill/>
        </p:spPr>
        <p:txBody>
          <a:bodyPr wrap="square" lIns="0" rIns="0" tIns="0" bIns="0">
            <a:spAutoFit/>
          </a:bodyPr>
          <a:lstStyle/>
          <a:p>
            <a:pPr algn="r">
              <a:spcBef>
                <a:spcPts val="0"/>
              </a:spcBef>
              <a:spcAft>
                <a:spcPts val="0"/>
              </a:spcAft>
            </a:pPr>
            <a:r>
              <a:rPr sz="850" b="0" i="0">
                <a:solidFill>
                  <a:srgbClr val="8A939E"/>
                </a:solidFill>
                <a:latin typeface="Helvetica Neue"/>
              </a:rPr>
              <a:t>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